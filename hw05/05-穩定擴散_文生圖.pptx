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2" r:id="rId5"/>
    <p:sldMasterId id="2147483656" r:id="rId6"/>
    <p:sldMasterId id="2147483664" r:id="rId7"/>
    <p:sldMasterId id="214748366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Lst>
  <p:sldSz cy="6858000" cx="12192000"/>
  <p:notesSz cx="6858000" cy="9144000"/>
  <p:embeddedFontLst>
    <p:embeddedFont>
      <p:font typeface="Mulish ExtraLight"/>
      <p:regular r:id="rId96"/>
      <p:bold r:id="rId97"/>
      <p:italic r:id="rId98"/>
      <p:boldItalic r:id="rId99"/>
    </p:embeddedFont>
    <p:embeddedFont>
      <p:font typeface="Mulish"/>
      <p:regular r:id="rId100"/>
      <p:bold r:id="rId101"/>
      <p:italic r:id="rId102"/>
      <p:boldItalic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9">
          <p15:clr>
            <a:srgbClr val="A4A3A4"/>
          </p15:clr>
        </p15:guide>
        <p15:guide id="2" pos="597">
          <p15:clr>
            <a:srgbClr val="A4A3A4"/>
          </p15:clr>
        </p15:guide>
        <p15:guide id="3" pos="6947">
          <p15:clr>
            <a:srgbClr val="A4A3A4"/>
          </p15:clr>
        </p15:guide>
        <p15:guide id="4" orient="horz" pos="3589">
          <p15:clr>
            <a:srgbClr val="A4A3A4"/>
          </p15:clr>
        </p15:guide>
      </p15:sldGuideLst>
    </p:ext>
    <p:ext uri="GoogleSlidesCustomDataVersion2">
      <go:slidesCustomData xmlns:go="http://customooxmlschemas.google.com/" r:id="rId104" roundtripDataSignature="AMtx7mhyRmp81dJ1dfm0VK8peFZmH9O/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9" orient="horz"/>
        <p:guide pos="597"/>
        <p:guide pos="6947"/>
        <p:guide pos="358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04" Type="http://customschemas.google.com/relationships/presentationmetadata" Target="metadata"/><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3" Type="http://schemas.openxmlformats.org/officeDocument/2006/relationships/font" Target="fonts/Mulish-boldItalic.fntdata"/><Relationship Id="rId102" Type="http://schemas.openxmlformats.org/officeDocument/2006/relationships/font" Target="fonts/Mulish-italic.fntdata"/><Relationship Id="rId101" Type="http://schemas.openxmlformats.org/officeDocument/2006/relationships/font" Target="fonts/Mulish-bold.fntdata"/><Relationship Id="rId100" Type="http://schemas.openxmlformats.org/officeDocument/2006/relationships/font" Target="fonts/Mulish-regular.fntdata"/><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font" Target="fonts/MulishExtraLight-bold.fntdata"/><Relationship Id="rId96" Type="http://schemas.openxmlformats.org/officeDocument/2006/relationships/font" Target="fonts/MulishExtraLight-regular.fntdata"/><Relationship Id="rId11" Type="http://schemas.openxmlformats.org/officeDocument/2006/relationships/slide" Target="slides/slide2.xml"/><Relationship Id="rId99" Type="http://schemas.openxmlformats.org/officeDocument/2006/relationships/font" Target="fonts/MulishExtraLight-boldItalic.fntdata"/><Relationship Id="rId10" Type="http://schemas.openxmlformats.org/officeDocument/2006/relationships/slide" Target="slides/slide1.xml"/><Relationship Id="rId98" Type="http://schemas.openxmlformats.org/officeDocument/2006/relationships/font" Target="fonts/MulishExtraLight-italic.fntdata"/><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46be6435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zh-TW" sz="1300">
                <a:solidFill>
                  <a:srgbClr val="404040"/>
                </a:solidFill>
                <a:highlight>
                  <a:srgbClr val="FAFAFA"/>
                </a:highlight>
                <a:latin typeface="Arial"/>
                <a:ea typeface="Arial"/>
                <a:cs typeface="Arial"/>
                <a:sym typeface="Arial"/>
              </a:rPr>
              <a:t>CLIP 由圖像編碼器和文字編碼器組成，經過訓練可以將圖像及其文字描述編碼為彼此相似的向量。因此，CLIP 的文字編碼器計算的提示的文字表示可能包含提示中所述的圖像的資訊。</a:t>
            </a:r>
            <a:endParaRPr/>
          </a:p>
        </p:txBody>
      </p:sp>
      <p:sp>
        <p:nvSpPr>
          <p:cNvPr id="157" name="Google Shape;157;g3346be643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888b6f85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165" name="Google Shape;165;g33888b6f85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888b6f85a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179" name="Google Shape;179;g33888b6f85a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888b6f8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190" name="Google Shape;190;g33888b6f85a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888b6f85a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02" name="Google Shape;202;g33888b6f85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3888b6f8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12" name="Google Shape;212;g33888b6f85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888b6f85a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22" name="Google Shape;222;g33888b6f85a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3888b6f85a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32" name="Google Shape;232;g33888b6f85a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888b6f85a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42" name="Google Shape;242;g33888b6f85a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877c0d6fd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g33877c0d6f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8b883c0f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38b883c0f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8a17e2327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292" name="Google Shape;292;g338a17e232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38a17e2327_1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01" name="Google Shape;301;g338a17e2327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38b883c0f1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13" name="Google Shape;313;g338b883c0f1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38b883c0f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22" name="Google Shape;322;g338b883c0f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38b883c0f1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32" name="Google Shape;332;g338b883c0f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38ba2e48a2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42" name="Google Shape;342;g338ba2e48a2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38ba2e48a2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52" name="Google Shape;352;g338ba2e48a2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38ba2e48a2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63" name="Google Shape;363;g338ba2e48a2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38ba2e48a2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72" name="Google Shape;372;g338ba2e48a2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38ba2e48a2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385" name="Google Shape;385;g338ba2e48a2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38ba2e48a2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01" name="Google Shape;401;g338ba2e48a2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38ba2e48a2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12" name="Google Shape;412;g338ba2e48a2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38ba2e48a2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22" name="Google Shape;422;g338ba2e48a2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38ba2e48a2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31" name="Google Shape;431;g338ba2e48a2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38ba2e48a2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41" name="Google Shape;441;g338ba2e48a2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38b883c0f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338b883c0f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38ba2e48a2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58" name="Google Shape;458;g338ba2e48a2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38ba2e48a2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67" name="Google Shape;467;g338ba2e48a2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38ba2e48a2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77" name="Google Shape;477;g338ba2e48a2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4e2249758d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88" name="Google Shape;488;g34e2249758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4e2249758d_2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497" name="Google Shape;497;g34e2249758d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4042884e2b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06" name="Google Shape;506;g34042884e2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4042884e2b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15" name="Google Shape;515;g34042884e2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4042884e2b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25" name="Google Shape;525;g34042884e2b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4042884e2b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34" name="Google Shape;534;g34042884e2b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4042884e2b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45" name="Google Shape;545;g34042884e2b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4042884e2b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55" name="Google Shape;555;g34042884e2b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042884e2b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64" name="Google Shape;564;g34042884e2b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4042884e2b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73" name="Google Shape;573;g34042884e2b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4042884e2b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83" name="Google Shape;583;g34042884e2b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4042884e2b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592" name="Google Shape;592;g34042884e2b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4042884e2b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601" name="Google Shape;601;g34042884e2b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b2431183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eb2431183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e40051db1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618" name="Google Shape;618;g3e40051db1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40051db1f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t/>
            </a:r>
            <a:endParaRPr/>
          </a:p>
        </p:txBody>
      </p:sp>
      <p:sp>
        <p:nvSpPr>
          <p:cNvPr id="627" name="Google Shape;627;g3e40051db1f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e40051db1f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1344 * 768</a:t>
            </a:r>
            <a:endParaRPr/>
          </a:p>
          <a:p>
            <a:pPr indent="0" lvl="0" marL="0" rtl="0" algn="l">
              <a:spcBef>
                <a:spcPts val="0"/>
              </a:spcBef>
              <a:spcAft>
                <a:spcPts val="0"/>
              </a:spcAft>
              <a:buSzPts val="1400"/>
              <a:buNone/>
            </a:pPr>
            <a:r>
              <a:rPr lang="zh-TW"/>
              <a:t>positive : masterpiece, best quality, high score, great score, absurdres, illustration, pointy ears, 1girl, solo, frieren, sousou no frieren, long hair, 1boy, flower, head wreath, smile, petals, earrings, jewelry, shirt, elf, blue flower, outdoors, green eyes, upper body, long sleeves, striped shirt, striped, sky, solo focus, closed mouth, white hair, falling petals, glowing,</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lowres, bad anatomy, bad hands, text, error, missing finger, extra digits, fewer digits, cropped, worst quality, low quality, low score, bad score, average score, signature, watermark, username, blurry,</a:t>
            </a:r>
            <a:endParaRPr/>
          </a:p>
        </p:txBody>
      </p:sp>
      <p:sp>
        <p:nvSpPr>
          <p:cNvPr id="636" name="Google Shape;636;g3e40051db1f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e40051db1f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1344 * 768</a:t>
            </a:r>
            <a:endParaRPr/>
          </a:p>
          <a:p>
            <a:pPr indent="0" lvl="0" marL="0" rtl="0" algn="l">
              <a:spcBef>
                <a:spcPts val="0"/>
              </a:spcBef>
              <a:spcAft>
                <a:spcPts val="0"/>
              </a:spcAft>
              <a:buSzPts val="1400"/>
              <a:buNone/>
            </a:pPr>
            <a:r>
              <a:rPr lang="zh-TW"/>
              <a:t>positive : masterpiece, best quality, high score, great score, absurdres, illustration, pointy ears, 1girl, solo, frieren, sousou no frieren, long hair, 1boy, flower, head wreath, smile, petals, earrings, jewelry, shirt, elf, blue flower, outdoors, green eyes, upper body, long sleeves, striped shirt, striped, sky, solo focus, closed mouth, white hair, falling petals, glowing,</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lowres, bad anatomy, bad hands, text, error, missing finger, extra digits, fewer digits, cropped, worst quality, low quality, low score, bad score, average score, signature, watermark, username, blurry,</a:t>
            </a:r>
            <a:endParaRPr/>
          </a:p>
        </p:txBody>
      </p:sp>
      <p:sp>
        <p:nvSpPr>
          <p:cNvPr id="645" name="Google Shape;645;g3e40051db1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e40051db1f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1344 * 768</a:t>
            </a:r>
            <a:endParaRPr/>
          </a:p>
          <a:p>
            <a:pPr indent="0" lvl="0" marL="0" rtl="0" algn="l">
              <a:spcBef>
                <a:spcPts val="0"/>
              </a:spcBef>
              <a:spcAft>
                <a:spcPts val="0"/>
              </a:spcAft>
              <a:buSzPts val="1400"/>
              <a:buNone/>
            </a:pPr>
            <a:r>
              <a:rPr lang="zh-TW"/>
              <a:t>positive : </a:t>
            </a:r>
            <a:r>
              <a:rPr lang="zh-TW"/>
              <a:t>1girl,sweater,white background,</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a:t>
            </a:r>
            <a:r>
              <a:rPr lang="zh-TW"/>
              <a:t>(worst quality:2),(low quality:2),(normal quality:2),lowres,watermark,</a:t>
            </a:r>
            <a:endParaRPr/>
          </a:p>
        </p:txBody>
      </p:sp>
      <p:sp>
        <p:nvSpPr>
          <p:cNvPr id="654" name="Google Shape;654;g3e40051db1f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4e2249758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1344 * 768</a:t>
            </a:r>
            <a:endParaRPr/>
          </a:p>
          <a:p>
            <a:pPr indent="0" lvl="0" marL="0" rtl="0" algn="l">
              <a:spcBef>
                <a:spcPts val="0"/>
              </a:spcBef>
              <a:spcAft>
                <a:spcPts val="0"/>
              </a:spcAft>
              <a:buSzPts val="1400"/>
              <a:buNone/>
            </a:pPr>
            <a:r>
              <a:rPr lang="zh-TW"/>
              <a:t>positive : </a:t>
            </a:r>
            <a:r>
              <a:rPr lang="zh-TW"/>
              <a:t>masterpiece, best quality, high score, great score, absurdres, illustration, pointy ears, 1girl, solo, frieren, sousou no frieren, long hair, 1boy, flower, head wreath, smile, petals, earrings, jewelry, shirt, elf, blue flower, outdoors, green eyes, upper body, long sleeves, striped shirt, striped, sky, solo focus, closed mouth, white hair, falling petals, glowing,</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lowres, bad anatomy, bad hands, text, error, missing finger, extra digits, fewer digits, cropped, worst quality, low quality, low score, bad score, average score, signature, watermark, username, blurry,</a:t>
            </a:r>
            <a:endParaRPr/>
          </a:p>
        </p:txBody>
      </p:sp>
      <p:sp>
        <p:nvSpPr>
          <p:cNvPr id="663" name="Google Shape;663;g34e2249758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4e2249758d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832 * 1216</a:t>
            </a:r>
            <a:endParaRPr/>
          </a:p>
          <a:p>
            <a:pPr indent="0" lvl="0" marL="0" rtl="0" algn="l">
              <a:spcBef>
                <a:spcPts val="0"/>
              </a:spcBef>
              <a:spcAft>
                <a:spcPts val="0"/>
              </a:spcAft>
              <a:buSzPts val="1400"/>
              <a:buNone/>
            </a:pPr>
            <a:r>
              <a:rPr lang="zh-TW"/>
              <a:t>positive : masterpiece, best quality, high score, great score, absurdres, pointy ears, 1girl, frieren, sousou no frieren, long hair, 1boy, flower, head wreath, smile, petals, earrings, jewelry, shirt, elf, blue flower, looking at another, outdoors, green eyes, upper body, long sleeves, striped shirt, striped, sky, solo focus, closed mouth, white hair, falling petals, &lt;lora:mix-a4-v2:1&gt;,</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lowres, bad anatomy, bad hands, text, error, missing finger, extra digits, fewer digits, cropped, worst quality, low quality, low score, bad score, average score, signature, watermark, username, blurry,</a:t>
            </a:r>
            <a:endParaRPr/>
          </a:p>
        </p:txBody>
      </p:sp>
      <p:sp>
        <p:nvSpPr>
          <p:cNvPr id="672" name="Google Shape;672;g34e2249758d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4e2249758d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1024 * 1280</a:t>
            </a:r>
            <a:endParaRPr/>
          </a:p>
          <a:p>
            <a:pPr indent="0" lvl="0" marL="0" rtl="0" algn="l">
              <a:spcBef>
                <a:spcPts val="0"/>
              </a:spcBef>
              <a:spcAft>
                <a:spcPts val="0"/>
              </a:spcAft>
              <a:buSzPts val="1400"/>
              <a:buNone/>
            </a:pPr>
            <a:r>
              <a:rPr lang="zh-TW"/>
              <a:t>positive : </a:t>
            </a:r>
            <a:r>
              <a:rPr lang="zh-TW"/>
              <a:t>masterpiece,best quality,1boy, 1girl, frieren, himmel \(sousou no frieren\), outdoors, upper body, eye contact, light blue hair, cape, capelet, earrings, dappled sunlight, day, hand on another&amp;#039;s head, kesyeru, sousou no frieren, twitter username, watermark, &lt;lora:mix-a4-v2:1&gt;,</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a:t>
            </a:r>
            <a:r>
              <a:rPr lang="zh-TW"/>
              <a:t>nsfw,lowres,bad anatomy,bad hands,text,error,missing fingers,extra digit,fewer digits,cropped,worst quality,low quality,normal quality,jpeg artifacts,signature,watermark,username,blurry,artist name,</a:t>
            </a:r>
            <a:endParaRPr/>
          </a:p>
        </p:txBody>
      </p:sp>
      <p:sp>
        <p:nvSpPr>
          <p:cNvPr id="681" name="Google Shape;681;g34e2249758d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4e2249758d_1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zh-TW"/>
              <a:t>832 * 1216</a:t>
            </a:r>
            <a:endParaRPr/>
          </a:p>
          <a:p>
            <a:pPr indent="0" lvl="0" marL="0" rtl="0" algn="l">
              <a:spcBef>
                <a:spcPts val="0"/>
              </a:spcBef>
              <a:spcAft>
                <a:spcPts val="0"/>
              </a:spcAft>
              <a:buSzPts val="1400"/>
              <a:buNone/>
            </a:pPr>
            <a:r>
              <a:rPr lang="zh-TW"/>
              <a:t>positive : </a:t>
            </a:r>
            <a:r>
              <a:rPr lang="zh-TW"/>
              <a:t>r17329_illu, xxx667_illu, very awa, anime screencap, masterpiece, best quality, Good quality, frieren \(Sousou no Frieren\), high score, great score, absurdres, pointy ears, 1girl, frieren, sousou no frieren, long hair, 1boy, flower, head wreath, smile, petals, earrings, jewelry, shirt, elf, blue flower, looking at another, outdoors, green eyes, upper body, long sleeves, striped, sky, solo focus, closed mouth, white hair, falling petals, &lt;lora:r17329_illu-000015:0.45&gt;, &lt;lora:XXX477-000016:0.5&gt;,</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a:t>
            </a:r>
            <a:r>
              <a:rPr lang="zh-TW"/>
              <a:t>lowres, bad anatomy, bad hands, text, error, missing finger, extra digits, fewer digits, cropped, worst quality, low quality, low score, bad score, average score, signature, watermark, username, blurry,</a:t>
            </a:r>
            <a:endParaRPr/>
          </a:p>
        </p:txBody>
      </p:sp>
      <p:sp>
        <p:nvSpPr>
          <p:cNvPr id="690" name="Google Shape;690;g34e2249758d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4e2249758d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1024 * 1280</a:t>
            </a:r>
            <a:endParaRPr/>
          </a:p>
          <a:p>
            <a:pPr indent="0" lvl="0" marL="0" rtl="0" algn="l">
              <a:spcBef>
                <a:spcPts val="0"/>
              </a:spcBef>
              <a:spcAft>
                <a:spcPts val="0"/>
              </a:spcAft>
              <a:buSzPts val="1400"/>
              <a:buNone/>
            </a:pPr>
            <a:r>
              <a:rPr lang="zh-TW"/>
              <a:t>positive : </a:t>
            </a:r>
            <a:r>
              <a:rPr lang="zh-TW"/>
              <a:t>r17329_illu, xxx667_illu, very awa, anime screencap, masterpiece,best quality,1boy, 1girl, frieren, himmel \(sousou no frieren\), outdoors, upper body, eye contact, light blue hair, cape, capelet, earrings, dappled sunlight, day, hand on another&amp;#039;s head, kesyeru, sousou no frieren, &lt;lora:r17329_illu-000015:0.45&gt;, &lt;lora:XXX477-000016:0.5&gt;,</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negative : nsfw,lowres,bad anatomy,bad hands,text,error,missing fingers,extra digit,fewer digits,cropped,worst quality,low quality,normal quality,jpeg artifacts,signature,watermark,username,blurry,artist name,</a:t>
            </a:r>
            <a:endParaRPr/>
          </a:p>
        </p:txBody>
      </p:sp>
      <p:sp>
        <p:nvSpPr>
          <p:cNvPr id="701" name="Google Shape;701;g34e2249758d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ea92f76692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a:t>
            </a:r>
            <a:r>
              <a:rPr lang="zh-TW"/>
              <a:t>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20" name="Google Shape;720;g3ea92f76692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eab76226d2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29" name="Google Shape;729;g3eab76226d2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eab76226d2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39" name="Google Shape;739;g3eab76226d2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eab76226d2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52" name="Google Shape;752;g3eab76226d2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eab76226d2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61" name="Google Shape;761;g3eab76226d2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eab76226d2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a:t>NVIDIA驅動需要更新到版本580以上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72" name="Google Shape;772;g3eab76226d2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aab6a97c8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81" name="Google Shape;781;g3eaab6a97c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eaab6a97c8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768 * 960   5s</a:t>
            </a:r>
            <a:endParaRPr/>
          </a:p>
          <a:p>
            <a:pPr indent="0" lvl="0" marL="0" rtl="0" algn="l">
              <a:spcBef>
                <a:spcPts val="0"/>
              </a:spcBef>
              <a:spcAft>
                <a:spcPts val="0"/>
              </a:spcAft>
              <a:buSzPts val="1400"/>
              <a:buNone/>
            </a:pPr>
            <a:r>
              <a:rPr lang="zh-TW"/>
              <a:t>Sousou no Frieren, an illustration-style, Frieren and Himmel. Frieren gradually leans into Himmel's arms, light filters through the leaves, and the two lean on each other.</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100"/>
              <a:buFont typeface="Arial"/>
              <a:buNone/>
            </a:pPr>
            <a:r>
              <a:rPr lang="zh-TW"/>
              <a:t>Sousou no Frieren，插畫風格，弗里倫和希梅爾。弗里倫漸漸依偎進希梅爾的懷抱，陽光透過樹葉灑下，兩人互相依偎著。</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1400"/>
              <a:buNone/>
            </a:pPr>
            <a:r>
              <a:t/>
            </a:r>
            <a:endParaRPr/>
          </a:p>
        </p:txBody>
      </p:sp>
      <p:sp>
        <p:nvSpPr>
          <p:cNvPr id="797" name="Google Shape;797;g3eaab6a97c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a92f76692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896 * 448</a:t>
            </a:r>
            <a:endParaRPr/>
          </a:p>
          <a:p>
            <a:pPr indent="0" lvl="0" marL="0" rtl="0" algn="l">
              <a:spcBef>
                <a:spcPts val="0"/>
              </a:spcBef>
              <a:spcAft>
                <a:spcPts val="0"/>
              </a:spcAft>
              <a:buClr>
                <a:schemeClr val="dk1"/>
              </a:buClr>
              <a:buSzPts val="1100"/>
              <a:buFont typeface="Arial"/>
              <a:buNone/>
            </a:pPr>
            <a:r>
              <a:rPr lang="zh-TW"/>
              <a:t>Sousou no Frieren, cosplay, Frieren and Himmel. Frieren and Himmel pose for a photo, glancing at each other before smiling at the camera.</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Sousou no Frieren，cosplay，Frieren and Himmel。Frieren與Himmel合照，兩人彼此互望一眼後又看相鏡頭露出微笑。</a:t>
            </a:r>
            <a:endParaRPr/>
          </a:p>
        </p:txBody>
      </p:sp>
      <p:sp>
        <p:nvSpPr>
          <p:cNvPr id="806" name="Google Shape;806;g3ea92f76692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ea92f76692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896 * 448</a:t>
            </a:r>
            <a:endParaRPr/>
          </a:p>
          <a:p>
            <a:pPr indent="0" lvl="0" marL="0" rtl="0" algn="l">
              <a:spcBef>
                <a:spcPts val="0"/>
              </a:spcBef>
              <a:spcAft>
                <a:spcPts val="0"/>
              </a:spcAft>
              <a:buSzPts val="1100"/>
              <a:buNone/>
            </a:pPr>
            <a:r>
              <a:rPr lang="zh-TW"/>
              <a:t>Sousou no Frieren, cosplay, Frieren and Himmel. Frieren poses for a photo with his companions, the red-haired warrior makes a funny face, elf Frieren smiles, the purple-haired magician makes his cheeks pout, and the dwarf and the old man laugh heartily.</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Sousou no Frieren，cosplay，Frieren and Himmel。Frieren與夥伴們合照，紅色頭髮的戰士扮鬼臉，elf Frieren微笑，紫色頭髮的魔法使臉頰嘟起，矮人與大叔開懷大笑。</a:t>
            </a:r>
            <a:endParaRPr/>
          </a:p>
        </p:txBody>
      </p:sp>
      <p:sp>
        <p:nvSpPr>
          <p:cNvPr id="815" name="Google Shape;815;g3ea92f76692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ea92f76692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704 * 384</a:t>
            </a:r>
            <a:endParaRPr/>
          </a:p>
          <a:p>
            <a:pPr indent="0" lvl="0" marL="0" rtl="0" algn="l">
              <a:spcBef>
                <a:spcPts val="0"/>
              </a:spcBef>
              <a:spcAft>
                <a:spcPts val="0"/>
              </a:spcAft>
              <a:buClr>
                <a:schemeClr val="dk1"/>
              </a:buClr>
              <a:buSzPts val="1100"/>
              <a:buFont typeface="Arial"/>
              <a:buNone/>
            </a:pPr>
            <a:r>
              <a:rPr lang="zh-TW"/>
              <a:t>A woman sits by the water, with a rushing waterfall behind her. The water ripples gently, and a breeze blows through her hair. She looks at the camera and waves one hand out.</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400"/>
              <a:buNone/>
            </a:pPr>
            <a:r>
              <a:rPr lang="zh-TW"/>
              <a:t>一個女人坐在水邊，背後是湍流的瀑布，水波蕩漾，微風吹過女人的頭髮帶起飄逸，女人看向鏡頭，伸出一隻手揮舞</a:t>
            </a:r>
            <a:endParaRPr/>
          </a:p>
        </p:txBody>
      </p:sp>
      <p:sp>
        <p:nvSpPr>
          <p:cNvPr id="824" name="Google Shape;824;g3ea92f76692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ea92f76692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384 * 320</a:t>
            </a:r>
            <a:endParaRPr/>
          </a:p>
          <a:p>
            <a:pPr indent="0" lvl="0" marL="0" rtl="0" algn="l">
              <a:spcBef>
                <a:spcPts val="0"/>
              </a:spcBef>
              <a:spcAft>
                <a:spcPts val="0"/>
              </a:spcAft>
              <a:buSzPts val="1100"/>
              <a:buNone/>
            </a:pPr>
            <a:r>
              <a:rPr lang="zh-TW"/>
              <a:t>The four people took a group photo in front of the snow-capped mountain, each striking a different pose.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400"/>
              <a:buNone/>
            </a:pPr>
            <a:r>
              <a:rPr lang="zh-TW"/>
              <a:t>四個人在雪山前合照，各自比出不同的pose</a:t>
            </a:r>
            <a:endParaRPr/>
          </a:p>
        </p:txBody>
      </p:sp>
      <p:sp>
        <p:nvSpPr>
          <p:cNvPr id="834" name="Google Shape;834;g3ea92f76692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ea92f76692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640 * 1152</a:t>
            </a:r>
            <a:endParaRPr/>
          </a:p>
          <a:p>
            <a:pPr indent="0" lvl="0" marL="0" rtl="0" algn="l">
              <a:spcBef>
                <a:spcPts val="0"/>
              </a:spcBef>
              <a:spcAft>
                <a:spcPts val="0"/>
              </a:spcAft>
              <a:buSzPts val="1400"/>
              <a:buNone/>
            </a:pPr>
            <a:r>
              <a:rPr lang="zh-TW"/>
              <a:t>Reze, a character from the anime Chainsaw Man, is a cute anime girl with purple hair, dancing freely and making adorable expressions.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400"/>
              <a:buNone/>
            </a:pPr>
            <a:r>
              <a:rPr lang="zh-TW"/>
              <a:t>Anime Chainsaw man 角色 Reze，紫色頭髮個可愛動漫女孩，正在自由的跳舞並擺出可愛的表情。</a:t>
            </a:r>
            <a:endParaRPr/>
          </a:p>
        </p:txBody>
      </p:sp>
      <p:sp>
        <p:nvSpPr>
          <p:cNvPr id="844" name="Google Shape;844;g3ea92f76692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ea92f76692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640 * 1088</a:t>
            </a:r>
            <a:endParaRPr/>
          </a:p>
          <a:p>
            <a:pPr indent="0" lvl="0" marL="0" rtl="0" algn="l">
              <a:spcBef>
                <a:spcPts val="0"/>
              </a:spcBef>
              <a:spcAft>
                <a:spcPts val="0"/>
              </a:spcAft>
              <a:buSzPts val="1400"/>
              <a:buNone/>
            </a:pPr>
            <a:r>
              <a:rPr lang="zh-TW"/>
              <a:t>Against a solid-color background, a cute anime girl with short purple hair, wearing a white shirt, black shorts, and black stockings, with a choker around her neck, is dancing freely and making adorable expressions.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400"/>
              <a:buNone/>
            </a:pPr>
            <a:r>
              <a:rPr lang="zh-TW"/>
              <a:t>純色背景，紫色中短頭髮的可愛動漫女孩，川著白色襯衫黑色短褲黑色絲襪，脖子上有頸圈，正在自由的跳舞並擺出可愛的表情。</a:t>
            </a:r>
            <a:endParaRPr/>
          </a:p>
        </p:txBody>
      </p:sp>
      <p:sp>
        <p:nvSpPr>
          <p:cNvPr id="854" name="Google Shape;854;g3ea92f76692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ea92f76692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1024 * 576</a:t>
            </a:r>
            <a:endParaRPr/>
          </a:p>
          <a:p>
            <a:pPr indent="0" lvl="0" marL="0" rtl="0" algn="l">
              <a:spcBef>
                <a:spcPts val="0"/>
              </a:spcBef>
              <a:spcAft>
                <a:spcPts val="0"/>
              </a:spcAft>
              <a:buClr>
                <a:schemeClr val="dk1"/>
              </a:buClr>
              <a:buSzPts val="1100"/>
              <a:buFont typeface="Arial"/>
              <a:buNone/>
            </a:pPr>
            <a:r>
              <a:rPr lang="zh-TW"/>
              <a:t>A rhinoceros is running on the grass. It turns its head towards the camera and then runs towards the camera.</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一隻在草地上的犀牛，牠正在奔跑，這時他轉頭朝向鏡頭，然後朝鏡頭方向奔跑過來</a:t>
            </a:r>
            <a:endParaRPr/>
          </a:p>
        </p:txBody>
      </p:sp>
      <p:sp>
        <p:nvSpPr>
          <p:cNvPr id="864" name="Google Shape;864;g3ea92f76692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ea92f76692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512 * 768</a:t>
            </a:r>
            <a:endParaRPr/>
          </a:p>
          <a:p>
            <a:pPr indent="0" lvl="0" marL="0" rtl="0" algn="l">
              <a:spcBef>
                <a:spcPts val="0"/>
              </a:spcBef>
              <a:spcAft>
                <a:spcPts val="0"/>
              </a:spcAft>
              <a:buSzPts val="1100"/>
              <a:buNone/>
            </a:pPr>
            <a:r>
              <a:rPr lang="zh-TW"/>
              <a:t>A Sigma man wearing glasses, a cowboy hat, a black leather jacket, and black leather pants knelt down, stroked the child's head, handed the child an ice cream, and smiled.</a:t>
            </a:r>
            <a:endParaRPr/>
          </a:p>
          <a:p>
            <a:pPr indent="0" lvl="0" marL="0" rtl="0" algn="l">
              <a:spcBef>
                <a:spcPts val="0"/>
              </a:spcBef>
              <a:spcAft>
                <a:spcPts val="0"/>
              </a:spcAft>
              <a:buSzPts val="1400"/>
              <a:buNone/>
            </a:pPr>
            <a:r>
              <a:t/>
            </a:r>
            <a:endParaRPr/>
          </a:p>
          <a:p>
            <a:pPr indent="0" lvl="0" marL="0" rtl="0" algn="l">
              <a:spcBef>
                <a:spcPts val="0"/>
              </a:spcBef>
              <a:spcAft>
                <a:spcPts val="0"/>
              </a:spcAft>
              <a:buSzPts val="1400"/>
              <a:buNone/>
            </a:pPr>
            <a:r>
              <a:rPr lang="zh-TW"/>
              <a:t>一位戴著眼鏡與牛仔帽，穿著黑色皮衣黑色皮褲的西格瑪男人，蹲下身子撫摸小孩的頭，並將手中的冰淇淋遞給小孩，並展露出微笑</a:t>
            </a:r>
            <a:endParaRPr/>
          </a:p>
        </p:txBody>
      </p:sp>
      <p:sp>
        <p:nvSpPr>
          <p:cNvPr id="874" name="Google Shape;874;g3ea92f76692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ea92f76692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512 * 896</a:t>
            </a:r>
            <a:endParaRPr/>
          </a:p>
          <a:p>
            <a:pPr indent="0" lvl="0" marL="0" rtl="0" algn="l">
              <a:spcBef>
                <a:spcPts val="0"/>
              </a:spcBef>
              <a:spcAft>
                <a:spcPts val="0"/>
              </a:spcAft>
              <a:buClr>
                <a:schemeClr val="dk1"/>
              </a:buClr>
              <a:buSzPts val="1100"/>
              <a:buFont typeface="Arial"/>
              <a:buNone/>
            </a:pPr>
            <a:r>
              <a:rPr lang="zh-TW"/>
              <a:t>A Sigma man wearing glasses, a cowboy hat, a black leather jacket, and black leather pants is in an underground parking lot, facing the camera. Through changes in footwork and hand gestures, he displays his confident and unrestrained dance moves.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400"/>
              <a:buNone/>
            </a:pPr>
            <a:r>
              <a:rPr lang="zh-TW"/>
              <a:t>一位戴著眼鏡與牛仔帽，穿著黑色皮衣黑色皮褲的西格瑪男人，身處於地下停車場中，正對著鏡頭，透過腳步變換與手部擺動，展現他那自信、奔放不羈的舞姿</a:t>
            </a:r>
            <a:endParaRPr/>
          </a:p>
        </p:txBody>
      </p:sp>
      <p:sp>
        <p:nvSpPr>
          <p:cNvPr id="884" name="Google Shape;884;g3ea92f76692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eaab6a97c8_2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38100" rtl="0" algn="l">
              <a:lnSpc>
                <a:spcPct val="128571"/>
              </a:lnSpc>
              <a:spcBef>
                <a:spcPts val="0"/>
              </a:spcBef>
              <a:spcAft>
                <a:spcPts val="0"/>
              </a:spcAft>
              <a:buClr>
                <a:schemeClr val="dk1"/>
              </a:buClr>
              <a:buSzPts val="1100"/>
              <a:buFont typeface="Arial"/>
              <a:buNone/>
            </a:pPr>
            <a:r>
              <a:rPr lang="zh-TW" sz="2100">
                <a:solidFill>
                  <a:srgbClr val="E8EAED"/>
                </a:solidFill>
                <a:highlight>
                  <a:srgbClr val="303134"/>
                </a:highlight>
                <a:latin typeface="Arial"/>
                <a:ea typeface="Arial"/>
                <a:cs typeface="Arial"/>
                <a:sym typeface="Arial"/>
              </a:rPr>
              <a:t>US President Trump pointed his finger at the camera, then lowered it, and then raised and lowered his other hand as well.</a:t>
            </a:r>
            <a:endParaRPr sz="2100">
              <a:solidFill>
                <a:srgbClr val="E8EAED"/>
              </a:solidFill>
              <a:highlight>
                <a:srgbClr val="303134"/>
              </a:highlight>
              <a:latin typeface="Arial"/>
              <a:ea typeface="Arial"/>
              <a:cs typeface="Arial"/>
              <a:sym typeface="Arial"/>
            </a:endParaRPr>
          </a:p>
          <a:p>
            <a:pPr indent="0" lvl="0" marL="0" rtl="0" algn="l">
              <a:spcBef>
                <a:spcPts val="0"/>
              </a:spcBef>
              <a:spcAft>
                <a:spcPts val="0"/>
              </a:spcAft>
              <a:buSzPts val="1400"/>
              <a:buNone/>
            </a:pPr>
            <a:r>
              <a:t/>
            </a:r>
            <a:endParaRPr/>
          </a:p>
        </p:txBody>
      </p:sp>
      <p:sp>
        <p:nvSpPr>
          <p:cNvPr id="894" name="Google Shape;894;g3eaab6a97c8_2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eab76226d2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38100" rtl="0" algn="l">
              <a:lnSpc>
                <a:spcPct val="128571"/>
              </a:lnSpc>
              <a:spcBef>
                <a:spcPts val="0"/>
              </a:spcBef>
              <a:spcAft>
                <a:spcPts val="0"/>
              </a:spcAft>
              <a:buClr>
                <a:schemeClr val="dk1"/>
              </a:buClr>
              <a:buSzPts val="1100"/>
              <a:buFont typeface="Arial"/>
              <a:buNone/>
            </a:pPr>
            <a:r>
              <a:t/>
            </a:r>
            <a:endParaRPr sz="2100">
              <a:solidFill>
                <a:srgbClr val="E8EAED"/>
              </a:solidFill>
              <a:highlight>
                <a:srgbClr val="303134"/>
              </a:highlight>
              <a:latin typeface="Arial"/>
              <a:ea typeface="Arial"/>
              <a:cs typeface="Arial"/>
              <a:sym typeface="Arial"/>
            </a:endParaRPr>
          </a:p>
          <a:p>
            <a:pPr indent="0" lvl="0" marL="0" rtl="0" algn="l">
              <a:spcBef>
                <a:spcPts val="0"/>
              </a:spcBef>
              <a:spcAft>
                <a:spcPts val="0"/>
              </a:spcAft>
              <a:buSzPts val="1400"/>
              <a:buNone/>
            </a:pPr>
            <a:r>
              <a:t/>
            </a:r>
            <a:endParaRPr/>
          </a:p>
        </p:txBody>
      </p:sp>
      <p:sp>
        <p:nvSpPr>
          <p:cNvPr id="903" name="Google Shape;903;g3eab76226d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eab76226d2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Sousou no Frieren, an illustration-style song, Frieren and Himmel. Frieren gradually leans into Himmel's arms, light filters through the leaves, and the two lean on each other.</a:t>
            </a:r>
            <a:endParaRPr/>
          </a:p>
        </p:txBody>
      </p:sp>
      <p:sp>
        <p:nvSpPr>
          <p:cNvPr id="911" name="Google Shape;911;g3eab76226d2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eab76226d2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A cute Samoyed dog walking along the edge of a lush green rice field, cheerfully and happily running towards the camera.</a:t>
            </a:r>
            <a:endParaRPr/>
          </a:p>
        </p:txBody>
      </p:sp>
      <p:sp>
        <p:nvSpPr>
          <p:cNvPr id="919" name="Google Shape;919;g3eab76226d2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ab76226d2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zh-TW"/>
              <a:t>she is taylor swift, performing on the stadium singing "love story" and dancing,change her clothes to bikini</a:t>
            </a:r>
            <a:endParaRPr/>
          </a:p>
        </p:txBody>
      </p:sp>
      <p:sp>
        <p:nvSpPr>
          <p:cNvPr id="928" name="Google Shape;928;g3eab76226d2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ea92f7669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7" name="Google Shape;937;g3ea92f7669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346be64357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346be64357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40051db1f_4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e40051db1f_4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3e40051db1f_4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TW"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首頁_中英標題">
  <p:cSld name="首頁_中英標題">
    <p:spTree>
      <p:nvGrpSpPr>
        <p:cNvPr id="10" name="Shape 10"/>
        <p:cNvGrpSpPr/>
        <p:nvPr/>
      </p:nvGrpSpPr>
      <p:grpSpPr>
        <a:xfrm>
          <a:off x="0" y="0"/>
          <a:ext cx="0" cy="0"/>
          <a:chOff x="0" y="0"/>
          <a:chExt cx="0" cy="0"/>
        </a:xfrm>
      </p:grpSpPr>
      <p:sp>
        <p:nvSpPr>
          <p:cNvPr id="11" name="Google Shape;11;p12"/>
          <p:cNvSpPr txBox="1"/>
          <p:nvPr>
            <p:ph type="ctrTitle"/>
          </p:nvPr>
        </p:nvSpPr>
        <p:spPr>
          <a:xfrm>
            <a:off x="967109" y="2274495"/>
            <a:ext cx="10191320" cy="5741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2"/>
          <p:cNvSpPr txBox="1"/>
          <p:nvPr>
            <p:ph idx="1" type="body"/>
          </p:nvPr>
        </p:nvSpPr>
        <p:spPr>
          <a:xfrm>
            <a:off x="967109" y="3007096"/>
            <a:ext cx="10191320" cy="11538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3200"/>
              <a:buFont typeface="Arial"/>
              <a:buNone/>
              <a:defRPr b="1" i="0" sz="32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2" type="body"/>
          </p:nvPr>
        </p:nvSpPr>
        <p:spPr>
          <a:xfrm>
            <a:off x="967108" y="4572000"/>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1"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3" type="body"/>
          </p:nvPr>
        </p:nvSpPr>
        <p:spPr>
          <a:xfrm>
            <a:off x="967108" y="5025006"/>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0"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首頁_中文標題">
  <p:cSld name="首頁_中文標題">
    <p:spTree>
      <p:nvGrpSpPr>
        <p:cNvPr id="15" name="Shape 15"/>
        <p:cNvGrpSpPr/>
        <p:nvPr/>
      </p:nvGrpSpPr>
      <p:grpSpPr>
        <a:xfrm>
          <a:off x="0" y="0"/>
          <a:ext cx="0" cy="0"/>
          <a:chOff x="0" y="0"/>
          <a:chExt cx="0" cy="0"/>
        </a:xfrm>
      </p:grpSpPr>
      <p:sp>
        <p:nvSpPr>
          <p:cNvPr id="16" name="Google Shape;16;p17"/>
          <p:cNvSpPr txBox="1"/>
          <p:nvPr>
            <p:ph type="ctrTitle"/>
          </p:nvPr>
        </p:nvSpPr>
        <p:spPr>
          <a:xfrm>
            <a:off x="967109" y="2141506"/>
            <a:ext cx="6356480" cy="1886444"/>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60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17"/>
          <p:cNvSpPr txBox="1"/>
          <p:nvPr>
            <p:ph idx="1" type="body"/>
          </p:nvPr>
        </p:nvSpPr>
        <p:spPr>
          <a:xfrm>
            <a:off x="967108" y="4572000"/>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1"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 name="Google Shape;18;p17"/>
          <p:cNvSpPr txBox="1"/>
          <p:nvPr>
            <p:ph idx="2" type="body"/>
          </p:nvPr>
        </p:nvSpPr>
        <p:spPr>
          <a:xfrm>
            <a:off x="967108" y="5025006"/>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0"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首頁_英文標題">
  <p:cSld name="首頁_英文標題">
    <p:spTree>
      <p:nvGrpSpPr>
        <p:cNvPr id="19" name="Shape 19"/>
        <p:cNvGrpSpPr/>
        <p:nvPr/>
      </p:nvGrpSpPr>
      <p:grpSpPr>
        <a:xfrm>
          <a:off x="0" y="0"/>
          <a:ext cx="0" cy="0"/>
          <a:chOff x="0" y="0"/>
          <a:chExt cx="0" cy="0"/>
        </a:xfrm>
      </p:grpSpPr>
      <p:sp>
        <p:nvSpPr>
          <p:cNvPr id="20" name="Google Shape;20;p18"/>
          <p:cNvSpPr txBox="1"/>
          <p:nvPr>
            <p:ph idx="1" type="body"/>
          </p:nvPr>
        </p:nvSpPr>
        <p:spPr>
          <a:xfrm>
            <a:off x="967109" y="2162200"/>
            <a:ext cx="6356480" cy="18581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000"/>
              </a:spcBef>
              <a:spcAft>
                <a:spcPts val="0"/>
              </a:spcAft>
              <a:buClr>
                <a:schemeClr val="lt1"/>
              </a:buClr>
              <a:buSzPts val="4000"/>
              <a:buFont typeface="Arial"/>
              <a:buNone/>
              <a:defRPr b="1" i="0" sz="40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 name="Google Shape;21;p18"/>
          <p:cNvSpPr txBox="1"/>
          <p:nvPr>
            <p:ph idx="2" type="body"/>
          </p:nvPr>
        </p:nvSpPr>
        <p:spPr>
          <a:xfrm>
            <a:off x="967108" y="4572000"/>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1"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18"/>
          <p:cNvSpPr txBox="1"/>
          <p:nvPr>
            <p:ph idx="3" type="body"/>
          </p:nvPr>
        </p:nvSpPr>
        <p:spPr>
          <a:xfrm>
            <a:off x="967108" y="5025006"/>
            <a:ext cx="6650095" cy="3857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200"/>
              <a:buFont typeface="Arial"/>
              <a:buNone/>
              <a:defRPr b="0" i="0" sz="2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1_中英標題">
  <p:cSld name="章節1_中英標題">
    <p:spTree>
      <p:nvGrpSpPr>
        <p:cNvPr id="26" name="Shape 26"/>
        <p:cNvGrpSpPr/>
        <p:nvPr/>
      </p:nvGrpSpPr>
      <p:grpSpPr>
        <a:xfrm>
          <a:off x="0" y="0"/>
          <a:ext cx="0" cy="0"/>
          <a:chOff x="0" y="0"/>
          <a:chExt cx="0" cy="0"/>
        </a:xfrm>
      </p:grpSpPr>
      <p:sp>
        <p:nvSpPr>
          <p:cNvPr id="27" name="Google Shape;27;p14"/>
          <p:cNvSpPr txBox="1"/>
          <p:nvPr>
            <p:ph type="ctrTitle"/>
          </p:nvPr>
        </p:nvSpPr>
        <p:spPr>
          <a:xfrm>
            <a:off x="967109" y="2419102"/>
            <a:ext cx="10191320"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14"/>
          <p:cNvSpPr txBox="1"/>
          <p:nvPr>
            <p:ph idx="1" type="body"/>
          </p:nvPr>
        </p:nvSpPr>
        <p:spPr>
          <a:xfrm>
            <a:off x="967109" y="3124542"/>
            <a:ext cx="10191320" cy="18920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3200"/>
              <a:buFont typeface="Arial"/>
              <a:buNone/>
              <a:defRPr b="1" i="0" sz="32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4"/>
          <p:cNvSpPr txBox="1"/>
          <p:nvPr>
            <p:ph idx="2" type="body"/>
          </p:nvPr>
        </p:nvSpPr>
        <p:spPr>
          <a:xfrm>
            <a:off x="1842554" y="6207371"/>
            <a:ext cx="9762763"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14"/>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1_中文標題">
  <p:cSld name="章節1_中文標題">
    <p:spTree>
      <p:nvGrpSpPr>
        <p:cNvPr id="31" name="Shape 31"/>
        <p:cNvGrpSpPr/>
        <p:nvPr/>
      </p:nvGrpSpPr>
      <p:grpSpPr>
        <a:xfrm>
          <a:off x="0" y="0"/>
          <a:ext cx="0" cy="0"/>
          <a:chOff x="0" y="0"/>
          <a:chExt cx="0" cy="0"/>
        </a:xfrm>
      </p:grpSpPr>
      <p:sp>
        <p:nvSpPr>
          <p:cNvPr id="32" name="Google Shape;32;p19"/>
          <p:cNvSpPr txBox="1"/>
          <p:nvPr>
            <p:ph idx="1" type="body"/>
          </p:nvPr>
        </p:nvSpPr>
        <p:spPr>
          <a:xfrm>
            <a:off x="1842554" y="6207371"/>
            <a:ext cx="9762763"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19"/>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34" name="Google Shape;34;p19"/>
          <p:cNvSpPr txBox="1"/>
          <p:nvPr>
            <p:ph type="ctrTitle"/>
          </p:nvPr>
        </p:nvSpPr>
        <p:spPr>
          <a:xfrm>
            <a:off x="966788" y="2241418"/>
            <a:ext cx="6356480" cy="2926200"/>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60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1_英文標題">
  <p:cSld name="章節1_英文標題">
    <p:spTree>
      <p:nvGrpSpPr>
        <p:cNvPr id="35" name="Shape 35"/>
        <p:cNvGrpSpPr/>
        <p:nvPr/>
      </p:nvGrpSpPr>
      <p:grpSpPr>
        <a:xfrm>
          <a:off x="0" y="0"/>
          <a:ext cx="0" cy="0"/>
          <a:chOff x="0" y="0"/>
          <a:chExt cx="0" cy="0"/>
        </a:xfrm>
      </p:grpSpPr>
      <p:sp>
        <p:nvSpPr>
          <p:cNvPr id="36" name="Google Shape;36;p20"/>
          <p:cNvSpPr txBox="1"/>
          <p:nvPr>
            <p:ph idx="1" type="body"/>
          </p:nvPr>
        </p:nvSpPr>
        <p:spPr>
          <a:xfrm>
            <a:off x="1842554" y="6207371"/>
            <a:ext cx="9762763"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20"/>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38" name="Google Shape;38;p20"/>
          <p:cNvSpPr txBox="1"/>
          <p:nvPr>
            <p:ph idx="2" type="body"/>
          </p:nvPr>
        </p:nvSpPr>
        <p:spPr>
          <a:xfrm>
            <a:off x="967109" y="2246089"/>
            <a:ext cx="6356480" cy="253563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000"/>
              </a:spcBef>
              <a:spcAft>
                <a:spcPts val="0"/>
              </a:spcAft>
              <a:buClr>
                <a:schemeClr val="lt1"/>
              </a:buClr>
              <a:buSzPts val="4000"/>
              <a:buFont typeface="Arial"/>
              <a:buNone/>
              <a:defRPr b="1" i="0" sz="40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中文標題＋文字">
  <p:cSld name="內容頁_中文標題＋文字">
    <p:spTree>
      <p:nvGrpSpPr>
        <p:cNvPr id="40" name="Shape 40"/>
        <p:cNvGrpSpPr/>
        <p:nvPr/>
      </p:nvGrpSpPr>
      <p:grpSpPr>
        <a:xfrm>
          <a:off x="0" y="0"/>
          <a:ext cx="0" cy="0"/>
          <a:chOff x="0" y="0"/>
          <a:chExt cx="0" cy="0"/>
        </a:xfrm>
      </p:grpSpPr>
      <p:sp>
        <p:nvSpPr>
          <p:cNvPr id="41" name="Google Shape;41;p21"/>
          <p:cNvSpPr txBox="1"/>
          <p:nvPr>
            <p:ph type="ctrTitle"/>
          </p:nvPr>
        </p:nvSpPr>
        <p:spPr>
          <a:xfrm>
            <a:off x="953359" y="824935"/>
            <a:ext cx="8747531"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accent2"/>
              </a:buClr>
              <a:buSzPts val="4300"/>
              <a:buFont typeface="Microsoft JhengHei"/>
              <a:buNone/>
              <a:defRPr b="1" i="0" sz="4300" u="none" cap="none" strike="noStrike">
                <a:solidFill>
                  <a:schemeClr val="accent2"/>
                </a:solidFill>
                <a:latin typeface="Microsoft JhengHei"/>
                <a:ea typeface="Microsoft JhengHei"/>
                <a:cs typeface="Microsoft JhengHei"/>
                <a:sym typeface="Microsoft Jheng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21"/>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21"/>
          <p:cNvSpPr txBox="1"/>
          <p:nvPr>
            <p:ph idx="2" type="body"/>
          </p:nvPr>
        </p:nvSpPr>
        <p:spPr>
          <a:xfrm>
            <a:off x="954088" y="1618596"/>
            <a:ext cx="10102795" cy="408912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30000"/>
              </a:lnSpc>
              <a:spcBef>
                <a:spcPts val="1400"/>
              </a:spcBef>
              <a:spcAft>
                <a:spcPts val="0"/>
              </a:spcAft>
              <a:buClr>
                <a:schemeClr val="dk1"/>
              </a:buClr>
              <a:buSzPts val="2700"/>
              <a:buFont typeface="Arial"/>
              <a:buNone/>
              <a:defRPr b="0" i="0" sz="2700" u="none" cap="none" strike="noStrike">
                <a:solidFill>
                  <a:schemeClr val="dk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21"/>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滿版圖片">
  <p:cSld name="內容頁_滿版圖片">
    <p:spTree>
      <p:nvGrpSpPr>
        <p:cNvPr id="45" name="Shape 45"/>
        <p:cNvGrpSpPr/>
        <p:nvPr/>
      </p:nvGrpSpPr>
      <p:grpSpPr>
        <a:xfrm>
          <a:off x="0" y="0"/>
          <a:ext cx="0" cy="0"/>
          <a:chOff x="0" y="0"/>
          <a:chExt cx="0" cy="0"/>
        </a:xfrm>
      </p:grpSpPr>
      <p:sp>
        <p:nvSpPr>
          <p:cNvPr id="46" name="Google Shape;46;p23"/>
          <p:cNvSpPr/>
          <p:nvPr>
            <p:ph idx="2" type="pic"/>
          </p:nvPr>
        </p:nvSpPr>
        <p:spPr>
          <a:xfrm>
            <a:off x="0" y="0"/>
            <a:ext cx="12003519" cy="6858000"/>
          </a:xfrm>
          <a:prstGeom prst="rect">
            <a:avLst/>
          </a:prstGeom>
          <a:noFill/>
          <a:ln>
            <a:noFill/>
          </a:ln>
        </p:spPr>
      </p:sp>
      <p:sp>
        <p:nvSpPr>
          <p:cNvPr id="47" name="Google Shape;47;p23"/>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英文標題＋文字">
  <p:cSld name="內容頁_英文標題＋文字">
    <p:spTree>
      <p:nvGrpSpPr>
        <p:cNvPr id="48" name="Shape 48"/>
        <p:cNvGrpSpPr/>
        <p:nvPr/>
      </p:nvGrpSpPr>
      <p:grpSpPr>
        <a:xfrm>
          <a:off x="0" y="0"/>
          <a:ext cx="0" cy="0"/>
          <a:chOff x="0" y="0"/>
          <a:chExt cx="0" cy="0"/>
        </a:xfrm>
      </p:grpSpPr>
      <p:sp>
        <p:nvSpPr>
          <p:cNvPr id="49" name="Google Shape;49;p22"/>
          <p:cNvSpPr txBox="1"/>
          <p:nvPr>
            <p:ph type="ctrTitle"/>
          </p:nvPr>
        </p:nvSpPr>
        <p:spPr>
          <a:xfrm>
            <a:off x="953359" y="728685"/>
            <a:ext cx="8830033"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accent2"/>
              </a:buClr>
              <a:buSzPts val="3400"/>
              <a:buFont typeface="Mulish"/>
              <a:buNone/>
              <a:defRPr b="1" i="0" sz="3400" u="none" cap="none" strike="noStrike">
                <a:solidFill>
                  <a:schemeClr val="accent2"/>
                </a:solidFill>
                <a:latin typeface="Mulish"/>
                <a:ea typeface="Mulish"/>
                <a:cs typeface="Mulish"/>
                <a:sym typeface="Mulish"/>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22"/>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22"/>
          <p:cNvSpPr txBox="1"/>
          <p:nvPr>
            <p:ph idx="2" type="body"/>
          </p:nvPr>
        </p:nvSpPr>
        <p:spPr>
          <a:xfrm>
            <a:off x="954088" y="1578855"/>
            <a:ext cx="10102795" cy="4132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1500"/>
              </a:spcBef>
              <a:spcAft>
                <a:spcPts val="0"/>
              </a:spcAft>
              <a:buClr>
                <a:schemeClr val="dk1"/>
              </a:buClr>
              <a:buSzPts val="2600"/>
              <a:buFont typeface="Arial"/>
              <a:buNone/>
              <a:defRPr b="0" i="0" sz="2600" u="none" cap="none" strike="noStrike">
                <a:solidFill>
                  <a:schemeClr val="dk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ulish"/>
                <a:ea typeface="Mulish"/>
                <a:cs typeface="Mulish"/>
                <a:sym typeface="Mulish"/>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ulish"/>
                <a:ea typeface="Mulish"/>
                <a:cs typeface="Mulish"/>
                <a:sym typeface="Mulish"/>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ulish"/>
                <a:ea typeface="Mulish"/>
                <a:cs typeface="Mulish"/>
                <a:sym typeface="Mulish"/>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ulish"/>
                <a:ea typeface="Mulish"/>
                <a:cs typeface="Mulish"/>
                <a:sym typeface="Mulish"/>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2"/>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滿版圖片＋中文標題">
  <p:cSld name="內容頁_滿版圖片＋中文標題">
    <p:spTree>
      <p:nvGrpSpPr>
        <p:cNvPr id="53" name="Shape 53"/>
        <p:cNvGrpSpPr/>
        <p:nvPr/>
      </p:nvGrpSpPr>
      <p:grpSpPr>
        <a:xfrm>
          <a:off x="0" y="0"/>
          <a:ext cx="0" cy="0"/>
          <a:chOff x="0" y="0"/>
          <a:chExt cx="0" cy="0"/>
        </a:xfrm>
      </p:grpSpPr>
      <p:sp>
        <p:nvSpPr>
          <p:cNvPr id="54" name="Google Shape;54;p24"/>
          <p:cNvSpPr/>
          <p:nvPr>
            <p:ph idx="2" type="pic"/>
          </p:nvPr>
        </p:nvSpPr>
        <p:spPr>
          <a:xfrm>
            <a:off x="0" y="1189317"/>
            <a:ext cx="12002400" cy="5668682"/>
          </a:xfrm>
          <a:prstGeom prst="rect">
            <a:avLst/>
          </a:prstGeom>
          <a:noFill/>
          <a:ln>
            <a:noFill/>
          </a:ln>
        </p:spPr>
      </p:sp>
      <p:sp>
        <p:nvSpPr>
          <p:cNvPr id="55" name="Google Shape;55;p24"/>
          <p:cNvSpPr/>
          <p:nvPr/>
        </p:nvSpPr>
        <p:spPr>
          <a:xfrm>
            <a:off x="1" y="0"/>
            <a:ext cx="11997202" cy="1189317"/>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 name="Google Shape;56;p24"/>
          <p:cNvSpPr txBox="1"/>
          <p:nvPr>
            <p:ph type="ctrTitle"/>
          </p:nvPr>
        </p:nvSpPr>
        <p:spPr>
          <a:xfrm>
            <a:off x="953359" y="359005"/>
            <a:ext cx="10455376"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3600"/>
              <a:buFont typeface="Microsoft JhengHei"/>
              <a:buNone/>
              <a:defRPr b="1" i="0" sz="36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24"/>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內容頁_滿版圖片＋英文標題">
  <p:cSld name="1_內容頁_滿版圖片＋英文標題">
    <p:spTree>
      <p:nvGrpSpPr>
        <p:cNvPr id="58" name="Shape 58"/>
        <p:cNvGrpSpPr/>
        <p:nvPr/>
      </p:nvGrpSpPr>
      <p:grpSpPr>
        <a:xfrm>
          <a:off x="0" y="0"/>
          <a:ext cx="0" cy="0"/>
          <a:chOff x="0" y="0"/>
          <a:chExt cx="0" cy="0"/>
        </a:xfrm>
      </p:grpSpPr>
      <p:sp>
        <p:nvSpPr>
          <p:cNvPr id="59" name="Google Shape;59;p25"/>
          <p:cNvSpPr/>
          <p:nvPr>
            <p:ph idx="2" type="pic"/>
          </p:nvPr>
        </p:nvSpPr>
        <p:spPr>
          <a:xfrm>
            <a:off x="0" y="1189317"/>
            <a:ext cx="12002400" cy="5668682"/>
          </a:xfrm>
          <a:prstGeom prst="rect">
            <a:avLst/>
          </a:prstGeom>
          <a:noFill/>
          <a:ln>
            <a:noFill/>
          </a:ln>
        </p:spPr>
      </p:sp>
      <p:sp>
        <p:nvSpPr>
          <p:cNvPr id="60" name="Google Shape;60;p25"/>
          <p:cNvSpPr/>
          <p:nvPr/>
        </p:nvSpPr>
        <p:spPr>
          <a:xfrm>
            <a:off x="1" y="0"/>
            <a:ext cx="11997202" cy="1189317"/>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25"/>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62" name="Google Shape;62;p25"/>
          <p:cNvSpPr txBox="1"/>
          <p:nvPr>
            <p:ph type="ctrTitle"/>
          </p:nvPr>
        </p:nvSpPr>
        <p:spPr>
          <a:xfrm>
            <a:off x="953359" y="360637"/>
            <a:ext cx="8830033"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3400"/>
              <a:buFont typeface="Mulish"/>
              <a:buNone/>
              <a:defRPr b="1" i="0" sz="3400" u="none" cap="none" strike="noStrike">
                <a:solidFill>
                  <a:schemeClr val="lt1"/>
                </a:solidFill>
                <a:latin typeface="Mulish"/>
                <a:ea typeface="Mulish"/>
                <a:cs typeface="Mulish"/>
                <a:sym typeface="Mulish"/>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僅英文標題">
  <p:cSld name="內容頁_僅英文標題">
    <p:spTree>
      <p:nvGrpSpPr>
        <p:cNvPr id="63" name="Shape 63"/>
        <p:cNvGrpSpPr/>
        <p:nvPr/>
      </p:nvGrpSpPr>
      <p:grpSpPr>
        <a:xfrm>
          <a:off x="0" y="0"/>
          <a:ext cx="0" cy="0"/>
          <a:chOff x="0" y="0"/>
          <a:chExt cx="0" cy="0"/>
        </a:xfrm>
      </p:grpSpPr>
      <p:sp>
        <p:nvSpPr>
          <p:cNvPr id="64" name="Google Shape;64;p26"/>
          <p:cNvSpPr txBox="1"/>
          <p:nvPr>
            <p:ph type="ctrTitle"/>
          </p:nvPr>
        </p:nvSpPr>
        <p:spPr>
          <a:xfrm>
            <a:off x="953359" y="728685"/>
            <a:ext cx="8830033"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accent2"/>
              </a:buClr>
              <a:buSzPts val="3400"/>
              <a:buFont typeface="Mulish"/>
              <a:buNone/>
              <a:defRPr b="1" i="0" sz="3400" u="none" cap="none" strike="noStrike">
                <a:solidFill>
                  <a:schemeClr val="accent2"/>
                </a:solidFill>
                <a:latin typeface="Mulish"/>
                <a:ea typeface="Mulish"/>
                <a:cs typeface="Mulish"/>
                <a:sym typeface="Mulish"/>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26"/>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26"/>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空白頁">
  <p:cSld name="內容頁_空白頁">
    <p:spTree>
      <p:nvGrpSpPr>
        <p:cNvPr id="67" name="Shape 67"/>
        <p:cNvGrpSpPr/>
        <p:nvPr/>
      </p:nvGrpSpPr>
      <p:grpSpPr>
        <a:xfrm>
          <a:off x="0" y="0"/>
          <a:ext cx="0" cy="0"/>
          <a:chOff x="0" y="0"/>
          <a:chExt cx="0" cy="0"/>
        </a:xfrm>
      </p:grpSpPr>
      <p:sp>
        <p:nvSpPr>
          <p:cNvPr id="68" name="Google Shape;68;p27"/>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27"/>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N_中文標題">
  <p:cSld name="章節N_中文標題">
    <p:spTree>
      <p:nvGrpSpPr>
        <p:cNvPr id="71" name="Shape 71"/>
        <p:cNvGrpSpPr/>
        <p:nvPr/>
      </p:nvGrpSpPr>
      <p:grpSpPr>
        <a:xfrm>
          <a:off x="0" y="0"/>
          <a:ext cx="0" cy="0"/>
          <a:chOff x="0" y="0"/>
          <a:chExt cx="0" cy="0"/>
        </a:xfrm>
      </p:grpSpPr>
      <p:sp>
        <p:nvSpPr>
          <p:cNvPr id="72" name="Google Shape;72;p67"/>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1pPr>
            <a:lvl2pPr indent="0" lvl="1"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2pPr>
            <a:lvl3pPr indent="0" lvl="2"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3pPr>
            <a:lvl4pPr indent="0" lvl="3"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4pPr>
            <a:lvl5pPr indent="0" lvl="4"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5pPr>
            <a:lvl6pPr indent="0" lvl="5"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6pPr>
            <a:lvl7pPr indent="0" lvl="6"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7pPr>
            <a:lvl8pPr indent="0" lvl="7"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8pPr>
            <a:lvl9pPr indent="0" lvl="8"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73" name="Google Shape;73;p67"/>
          <p:cNvSpPr txBox="1"/>
          <p:nvPr>
            <p:ph type="ctrTitle"/>
          </p:nvPr>
        </p:nvSpPr>
        <p:spPr>
          <a:xfrm>
            <a:off x="966788" y="2241418"/>
            <a:ext cx="6356480" cy="2926200"/>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60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67"/>
          <p:cNvSpPr txBox="1"/>
          <p:nvPr>
            <p:ph idx="1"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5800"/>
              <a:buFont typeface="Arial"/>
              <a:buNone/>
              <a:defRPr b="0" i="0" sz="5800" u="none" cap="none" strike="noStrike">
                <a:solidFill>
                  <a:schemeClr val="lt1"/>
                </a:solidFill>
                <a:latin typeface="Mulish ExtraLight"/>
                <a:ea typeface="Mulish ExtraLight"/>
                <a:cs typeface="Mulish ExtraLight"/>
                <a:sym typeface="Mulish ExtraLigh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67"/>
          <p:cNvSpPr txBox="1"/>
          <p:nvPr>
            <p:ph idx="2"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N_中英標題">
  <p:cSld name="章節N_中英標題">
    <p:spTree>
      <p:nvGrpSpPr>
        <p:cNvPr id="76" name="Shape 76"/>
        <p:cNvGrpSpPr/>
        <p:nvPr/>
      </p:nvGrpSpPr>
      <p:grpSpPr>
        <a:xfrm>
          <a:off x="0" y="0"/>
          <a:ext cx="0" cy="0"/>
          <a:chOff x="0" y="0"/>
          <a:chExt cx="0" cy="0"/>
        </a:xfrm>
      </p:grpSpPr>
      <p:sp>
        <p:nvSpPr>
          <p:cNvPr id="77" name="Google Shape;77;p31"/>
          <p:cNvSpPr txBox="1"/>
          <p:nvPr>
            <p:ph type="ctrTitle"/>
          </p:nvPr>
        </p:nvSpPr>
        <p:spPr>
          <a:xfrm>
            <a:off x="967109" y="2419102"/>
            <a:ext cx="10191320" cy="57416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4300"/>
              <a:buFont typeface="Microsoft JhengHei"/>
              <a:buNone/>
              <a:defRPr b="1" i="0" sz="4300" u="none" cap="none" strike="noStrike">
                <a:solidFill>
                  <a:schemeClr val="lt1"/>
                </a:solidFill>
                <a:latin typeface="Microsoft JhengHei"/>
                <a:ea typeface="Microsoft JhengHei"/>
                <a:cs typeface="Microsoft JhengHei"/>
                <a:sym typeface="Microsoft JhengHe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8" name="Google Shape;78;p31"/>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31"/>
          <p:cNvSpPr txBox="1"/>
          <p:nvPr>
            <p:ph idx="2"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5800"/>
              <a:buFont typeface="Arial"/>
              <a:buNone/>
              <a:defRPr b="0" i="0" sz="5800" u="none" cap="none" strike="noStrike">
                <a:solidFill>
                  <a:schemeClr val="lt1"/>
                </a:solidFill>
                <a:latin typeface="Mulish ExtraLight"/>
                <a:ea typeface="Mulish ExtraLight"/>
                <a:cs typeface="Mulish ExtraLight"/>
                <a:sym typeface="Mulish ExtraLigh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 name="Google Shape;80;p31"/>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1pPr>
            <a:lvl2pPr indent="0" lvl="1"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2pPr>
            <a:lvl3pPr indent="0" lvl="2"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3pPr>
            <a:lvl4pPr indent="0" lvl="3"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4pPr>
            <a:lvl5pPr indent="0" lvl="4"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5pPr>
            <a:lvl6pPr indent="0" lvl="5"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6pPr>
            <a:lvl7pPr indent="0" lvl="6"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7pPr>
            <a:lvl8pPr indent="0" lvl="7"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8pPr>
            <a:lvl9pPr indent="0" lvl="8"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81" name="Google Shape;81;p31"/>
          <p:cNvSpPr txBox="1"/>
          <p:nvPr>
            <p:ph idx="3" type="body"/>
          </p:nvPr>
        </p:nvSpPr>
        <p:spPr>
          <a:xfrm>
            <a:off x="967109" y="3124542"/>
            <a:ext cx="10191320" cy="18920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3200"/>
              <a:buFont typeface="Arial"/>
              <a:buNone/>
              <a:defRPr b="1" i="0" sz="32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N_英文標題">
  <p:cSld name="章節N_英文標題">
    <p:spTree>
      <p:nvGrpSpPr>
        <p:cNvPr id="82" name="Shape 82"/>
        <p:cNvGrpSpPr/>
        <p:nvPr/>
      </p:nvGrpSpPr>
      <p:grpSpPr>
        <a:xfrm>
          <a:off x="0" y="0"/>
          <a:ext cx="0" cy="0"/>
          <a:chOff x="0" y="0"/>
          <a:chExt cx="0" cy="0"/>
        </a:xfrm>
      </p:grpSpPr>
      <p:sp>
        <p:nvSpPr>
          <p:cNvPr id="83" name="Google Shape;83;p68"/>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1pPr>
            <a:lvl2pPr indent="0" lvl="1"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2pPr>
            <a:lvl3pPr indent="0" lvl="2"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3pPr>
            <a:lvl4pPr indent="0" lvl="3"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4pPr>
            <a:lvl5pPr indent="0" lvl="4"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5pPr>
            <a:lvl6pPr indent="0" lvl="5"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6pPr>
            <a:lvl7pPr indent="0" lvl="6"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7pPr>
            <a:lvl8pPr indent="0" lvl="7"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8pPr>
            <a:lvl9pPr indent="0" lvl="8" marL="0" marR="0" rtl="0" algn="l">
              <a:lnSpc>
                <a:spcPct val="100000"/>
              </a:lnSpc>
              <a:spcBef>
                <a:spcPts val="0"/>
              </a:spcBef>
              <a:spcAft>
                <a:spcPts val="0"/>
              </a:spcAft>
              <a:buClr>
                <a:srgbClr val="FFFFFF"/>
              </a:buClr>
              <a:buSzPts val="1200"/>
              <a:buFont typeface="Arial"/>
              <a:buNone/>
              <a:defRPr b="0" i="0" sz="1200" u="none" cap="none" strike="noStrike">
                <a:solidFill>
                  <a:srgbClr val="FFFFFF"/>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84" name="Google Shape;84;p68"/>
          <p:cNvSpPr txBox="1"/>
          <p:nvPr>
            <p:ph idx="1" type="body"/>
          </p:nvPr>
        </p:nvSpPr>
        <p:spPr>
          <a:xfrm>
            <a:off x="967109" y="2246089"/>
            <a:ext cx="6356480" cy="253563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0000"/>
              </a:lnSpc>
              <a:spcBef>
                <a:spcPts val="1000"/>
              </a:spcBef>
              <a:spcAft>
                <a:spcPts val="0"/>
              </a:spcAft>
              <a:buClr>
                <a:schemeClr val="lt1"/>
              </a:buClr>
              <a:buSzPts val="4000"/>
              <a:buFont typeface="Arial"/>
              <a:buNone/>
              <a:defRPr b="1" i="0" sz="4000" u="none" cap="none" strike="noStrike">
                <a:solidFill>
                  <a:schemeClr val="lt1"/>
                </a:solidFill>
                <a:latin typeface="Mulish"/>
                <a:ea typeface="Mulish"/>
                <a:cs typeface="Mulish"/>
                <a:sym typeface="Mulish"/>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68"/>
          <p:cNvSpPr txBox="1"/>
          <p:nvPr>
            <p:ph idx="2"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5800"/>
              <a:buFont typeface="Arial"/>
              <a:buNone/>
              <a:defRPr b="0" i="0" sz="5800" u="none" cap="none" strike="noStrike">
                <a:solidFill>
                  <a:schemeClr val="lt1"/>
                </a:solidFill>
                <a:latin typeface="Mulish ExtraLight"/>
                <a:ea typeface="Mulish ExtraLight"/>
                <a:cs typeface="Mulish ExtraLight"/>
                <a:sym typeface="Mulish ExtraLigh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68"/>
          <p:cNvSpPr txBox="1"/>
          <p:nvPr>
            <p:ph idx="3"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Microsoft JhengHei"/>
                <a:ea typeface="Microsoft JhengHei"/>
                <a:cs typeface="Microsoft JhengHei"/>
                <a:sym typeface="Microsoft Jheng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中文標題＋文字">
  <p:cSld name="內容頁_中文標題＋文字">
    <p:spTree>
      <p:nvGrpSpPr>
        <p:cNvPr id="89" name="Shape 89"/>
        <p:cNvGrpSpPr/>
        <p:nvPr/>
      </p:nvGrpSpPr>
      <p:grpSpPr>
        <a:xfrm>
          <a:off x="0" y="0"/>
          <a:ext cx="0" cy="0"/>
          <a:chOff x="0" y="0"/>
          <a:chExt cx="0" cy="0"/>
        </a:xfrm>
      </p:grpSpPr>
      <p:sp>
        <p:nvSpPr>
          <p:cNvPr id="90" name="Google Shape;90;g3e40051db1f_4_54"/>
          <p:cNvSpPr txBox="1"/>
          <p:nvPr>
            <p:ph type="ctrTitle"/>
          </p:nvPr>
        </p:nvSpPr>
        <p:spPr>
          <a:xfrm>
            <a:off x="953359" y="824935"/>
            <a:ext cx="87477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accent2"/>
              </a:buClr>
              <a:buSzPts val="4300"/>
              <a:buFont typeface="Microsoft JhengHei"/>
              <a:buNone/>
              <a:defRPr b="1" i="0" sz="4300" u="none" cap="none" strike="noStrike">
                <a:solidFill>
                  <a:schemeClr val="accent2"/>
                </a:solidFill>
                <a:latin typeface="Microsoft JhengHei"/>
                <a:ea typeface="Microsoft JhengHei"/>
                <a:cs typeface="Microsoft JhengHei"/>
                <a:sym typeface="Microsoft JhengHei"/>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91" name="Google Shape;91;g3e40051db1f_4_54"/>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1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92" name="Google Shape;92;g3e40051db1f_4_54"/>
          <p:cNvSpPr txBox="1"/>
          <p:nvPr>
            <p:ph idx="2" type="body"/>
          </p:nvPr>
        </p:nvSpPr>
        <p:spPr>
          <a:xfrm>
            <a:off x="954088" y="1618596"/>
            <a:ext cx="10102800" cy="4089300"/>
          </a:xfrm>
          <a:prstGeom prst="rect">
            <a:avLst/>
          </a:prstGeom>
          <a:noFill/>
          <a:ln>
            <a:noFill/>
          </a:ln>
        </p:spPr>
        <p:txBody>
          <a:bodyPr anchorCtr="0" anchor="t" bIns="45700" lIns="91425" spcFirstLastPara="1" rIns="91425" wrap="square" tIns="45700">
            <a:noAutofit/>
          </a:bodyPr>
          <a:lstStyle>
            <a:lvl1pPr indent="-228600" lvl="0" marL="457200" marR="0" algn="l">
              <a:lnSpc>
                <a:spcPct val="130000"/>
              </a:lnSpc>
              <a:spcBef>
                <a:spcPts val="1500"/>
              </a:spcBef>
              <a:spcAft>
                <a:spcPts val="0"/>
              </a:spcAft>
              <a:buClr>
                <a:schemeClr val="dk1"/>
              </a:buClr>
              <a:buSzPts val="2700"/>
              <a:buFont typeface="Arial"/>
              <a:buNone/>
              <a:defRPr b="0" i="0" sz="27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93" name="Google Shape;93;g3e40051db1f_4_54"/>
          <p:cNvSpPr txBox="1"/>
          <p:nvPr>
            <p:ph idx="12" type="sldNum"/>
          </p:nvPr>
        </p:nvSpPr>
        <p:spPr>
          <a:xfrm>
            <a:off x="701467" y="6153567"/>
            <a:ext cx="540900" cy="288300"/>
          </a:xfrm>
          <a:prstGeom prst="rect">
            <a:avLst/>
          </a:prstGeom>
        </p:spPr>
        <p:txBody>
          <a:bodyPr anchorCtr="0" anchor="ctr" bIns="121900" lIns="121900" spcFirstLastPara="1" rIns="121900" wrap="square" tIns="121900">
            <a:noAutofit/>
          </a:bodyPr>
          <a:lstStyle>
            <a:lvl1pPr lvl="0" algn="l">
              <a:buNone/>
              <a:defRPr sz="1200">
                <a:solidFill>
                  <a:schemeClr val="dk1"/>
                </a:solidFill>
                <a:latin typeface="Microsoft JhengHei"/>
                <a:ea typeface="Microsoft JhengHei"/>
                <a:cs typeface="Microsoft JhengHei"/>
                <a:sym typeface="Microsoft JhengHei"/>
              </a:defRPr>
            </a:lvl1pPr>
            <a:lvl2pPr lvl="1" algn="l">
              <a:buNone/>
              <a:defRPr sz="1200">
                <a:solidFill>
                  <a:schemeClr val="dk1"/>
                </a:solidFill>
                <a:latin typeface="Microsoft JhengHei"/>
                <a:ea typeface="Microsoft JhengHei"/>
                <a:cs typeface="Microsoft JhengHei"/>
                <a:sym typeface="Microsoft JhengHei"/>
              </a:defRPr>
            </a:lvl2pPr>
            <a:lvl3pPr lvl="2" algn="l">
              <a:buNone/>
              <a:defRPr sz="1200">
                <a:solidFill>
                  <a:schemeClr val="dk1"/>
                </a:solidFill>
                <a:latin typeface="Microsoft JhengHei"/>
                <a:ea typeface="Microsoft JhengHei"/>
                <a:cs typeface="Microsoft JhengHei"/>
                <a:sym typeface="Microsoft JhengHei"/>
              </a:defRPr>
            </a:lvl3pPr>
            <a:lvl4pPr lvl="3" algn="l">
              <a:buNone/>
              <a:defRPr sz="1200">
                <a:solidFill>
                  <a:schemeClr val="dk1"/>
                </a:solidFill>
                <a:latin typeface="Microsoft JhengHei"/>
                <a:ea typeface="Microsoft JhengHei"/>
                <a:cs typeface="Microsoft JhengHei"/>
                <a:sym typeface="Microsoft JhengHei"/>
              </a:defRPr>
            </a:lvl4pPr>
            <a:lvl5pPr lvl="4" algn="l">
              <a:buNone/>
              <a:defRPr sz="1200">
                <a:solidFill>
                  <a:schemeClr val="dk1"/>
                </a:solidFill>
                <a:latin typeface="Microsoft JhengHei"/>
                <a:ea typeface="Microsoft JhengHei"/>
                <a:cs typeface="Microsoft JhengHei"/>
                <a:sym typeface="Microsoft JhengHei"/>
              </a:defRPr>
            </a:lvl5pPr>
            <a:lvl6pPr lvl="5" algn="l">
              <a:buNone/>
              <a:defRPr sz="1200">
                <a:solidFill>
                  <a:schemeClr val="dk1"/>
                </a:solidFill>
                <a:latin typeface="Microsoft JhengHei"/>
                <a:ea typeface="Microsoft JhengHei"/>
                <a:cs typeface="Microsoft JhengHei"/>
                <a:sym typeface="Microsoft JhengHei"/>
              </a:defRPr>
            </a:lvl6pPr>
            <a:lvl7pPr lvl="6" algn="l">
              <a:buNone/>
              <a:defRPr sz="1200">
                <a:solidFill>
                  <a:schemeClr val="dk1"/>
                </a:solidFill>
                <a:latin typeface="Microsoft JhengHei"/>
                <a:ea typeface="Microsoft JhengHei"/>
                <a:cs typeface="Microsoft JhengHei"/>
                <a:sym typeface="Microsoft JhengHei"/>
              </a:defRPr>
            </a:lvl7pPr>
            <a:lvl8pPr lvl="7" algn="l">
              <a:buNone/>
              <a:defRPr sz="1200">
                <a:solidFill>
                  <a:schemeClr val="dk1"/>
                </a:solidFill>
                <a:latin typeface="Microsoft JhengHei"/>
                <a:ea typeface="Microsoft JhengHei"/>
                <a:cs typeface="Microsoft JhengHei"/>
                <a:sym typeface="Microsoft JhengHei"/>
              </a:defRPr>
            </a:lvl8pPr>
            <a:lvl9pPr lvl="8" algn="l">
              <a:buNone/>
              <a:defRPr sz="1200">
                <a:solidFill>
                  <a:schemeClr val="dk1"/>
                </a:solidFill>
                <a:latin typeface="Microsoft JhengHei"/>
                <a:ea typeface="Microsoft JhengHei"/>
                <a:cs typeface="Microsoft JhengHei"/>
                <a:sym typeface="Microsoft JhengHei"/>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滿版圖片＋中文標題">
  <p:cSld name="內容頁_滿版圖片＋中文標題">
    <p:spTree>
      <p:nvGrpSpPr>
        <p:cNvPr id="94" name="Shape 94"/>
        <p:cNvGrpSpPr/>
        <p:nvPr/>
      </p:nvGrpSpPr>
      <p:grpSpPr>
        <a:xfrm>
          <a:off x="0" y="0"/>
          <a:ext cx="0" cy="0"/>
          <a:chOff x="0" y="0"/>
          <a:chExt cx="0" cy="0"/>
        </a:xfrm>
      </p:grpSpPr>
      <p:sp>
        <p:nvSpPr>
          <p:cNvPr id="95" name="Google Shape;95;g3e40051db1f_4_59"/>
          <p:cNvSpPr/>
          <p:nvPr>
            <p:ph idx="2" type="pic"/>
          </p:nvPr>
        </p:nvSpPr>
        <p:spPr>
          <a:xfrm>
            <a:off x="0" y="1189317"/>
            <a:ext cx="12002400" cy="5668800"/>
          </a:xfrm>
          <a:prstGeom prst="rect">
            <a:avLst/>
          </a:prstGeom>
          <a:noFill/>
          <a:ln>
            <a:noFill/>
          </a:ln>
        </p:spPr>
      </p:sp>
      <p:sp>
        <p:nvSpPr>
          <p:cNvPr id="96" name="Google Shape;96;g3e40051db1f_4_59"/>
          <p:cNvSpPr/>
          <p:nvPr/>
        </p:nvSpPr>
        <p:spPr>
          <a:xfrm>
            <a:off x="1" y="0"/>
            <a:ext cx="11997300" cy="11892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alibri"/>
              <a:ea typeface="Calibri"/>
              <a:cs typeface="Calibri"/>
              <a:sym typeface="Calibri"/>
            </a:endParaRPr>
          </a:p>
        </p:txBody>
      </p:sp>
      <p:sp>
        <p:nvSpPr>
          <p:cNvPr id="97" name="Google Shape;97;g3e40051db1f_4_59"/>
          <p:cNvSpPr txBox="1"/>
          <p:nvPr>
            <p:ph type="ctrTitle"/>
          </p:nvPr>
        </p:nvSpPr>
        <p:spPr>
          <a:xfrm>
            <a:off x="953359" y="359005"/>
            <a:ext cx="104553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3600"/>
              <a:buFont typeface="Microsoft JhengHei"/>
              <a:buNone/>
              <a:defRPr b="1" i="0" sz="3600" u="none" cap="none" strike="noStrike">
                <a:solidFill>
                  <a:schemeClr val="lt1"/>
                </a:solidFill>
                <a:latin typeface="Microsoft JhengHei"/>
                <a:ea typeface="Microsoft JhengHei"/>
                <a:cs typeface="Microsoft JhengHei"/>
                <a:sym typeface="Microsoft JhengHei"/>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98" name="Google Shape;98;g3e40051db1f_4_5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僅中文標題">
  <p:cSld name="內容頁_僅中文標題">
    <p:spTree>
      <p:nvGrpSpPr>
        <p:cNvPr id="99" name="Shape 99"/>
        <p:cNvGrpSpPr/>
        <p:nvPr/>
      </p:nvGrpSpPr>
      <p:grpSpPr>
        <a:xfrm>
          <a:off x="0" y="0"/>
          <a:ext cx="0" cy="0"/>
          <a:chOff x="0" y="0"/>
          <a:chExt cx="0" cy="0"/>
        </a:xfrm>
      </p:grpSpPr>
      <p:sp>
        <p:nvSpPr>
          <p:cNvPr id="100" name="Google Shape;100;g3e40051db1f_4_64"/>
          <p:cNvSpPr txBox="1"/>
          <p:nvPr>
            <p:ph type="ctrTitle"/>
          </p:nvPr>
        </p:nvSpPr>
        <p:spPr>
          <a:xfrm>
            <a:off x="953359" y="824935"/>
            <a:ext cx="87477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accent2"/>
              </a:buClr>
              <a:buSzPts val="4300"/>
              <a:buFont typeface="Microsoft JhengHei"/>
              <a:buNone/>
              <a:defRPr b="1" i="0" sz="4300" u="none" cap="none" strike="noStrike">
                <a:solidFill>
                  <a:schemeClr val="accent2"/>
                </a:solidFill>
                <a:latin typeface="Microsoft JhengHei"/>
                <a:ea typeface="Microsoft JhengHei"/>
                <a:cs typeface="Microsoft JhengHei"/>
                <a:sym typeface="Microsoft JhengHei"/>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01" name="Google Shape;101;g3e40051db1f_4_64"/>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1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02" name="Google Shape;102;g3e40051db1f_4_64"/>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滿版圖片">
  <p:cSld name="內容頁_滿版圖片">
    <p:spTree>
      <p:nvGrpSpPr>
        <p:cNvPr id="103" name="Shape 103"/>
        <p:cNvGrpSpPr/>
        <p:nvPr/>
      </p:nvGrpSpPr>
      <p:grpSpPr>
        <a:xfrm>
          <a:off x="0" y="0"/>
          <a:ext cx="0" cy="0"/>
          <a:chOff x="0" y="0"/>
          <a:chExt cx="0" cy="0"/>
        </a:xfrm>
      </p:grpSpPr>
      <p:sp>
        <p:nvSpPr>
          <p:cNvPr id="104" name="Google Shape;104;g3e40051db1f_4_68"/>
          <p:cNvSpPr/>
          <p:nvPr>
            <p:ph idx="2" type="pic"/>
          </p:nvPr>
        </p:nvSpPr>
        <p:spPr>
          <a:xfrm>
            <a:off x="0" y="0"/>
            <a:ext cx="12003600" cy="6858000"/>
          </a:xfrm>
          <a:prstGeom prst="rect">
            <a:avLst/>
          </a:prstGeom>
          <a:noFill/>
          <a:ln>
            <a:noFill/>
          </a:ln>
        </p:spPr>
      </p:sp>
      <p:sp>
        <p:nvSpPr>
          <p:cNvPr id="105" name="Google Shape;105;g3e40051db1f_4_6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內容頁_滿版圖片＋英文標題">
  <p:cSld name="1_內容頁_滿版圖片＋英文標題">
    <p:spTree>
      <p:nvGrpSpPr>
        <p:cNvPr id="106" name="Shape 106"/>
        <p:cNvGrpSpPr/>
        <p:nvPr/>
      </p:nvGrpSpPr>
      <p:grpSpPr>
        <a:xfrm>
          <a:off x="0" y="0"/>
          <a:ext cx="0" cy="0"/>
          <a:chOff x="0" y="0"/>
          <a:chExt cx="0" cy="0"/>
        </a:xfrm>
      </p:grpSpPr>
      <p:sp>
        <p:nvSpPr>
          <p:cNvPr id="107" name="Google Shape;107;g3e40051db1f_4_71"/>
          <p:cNvSpPr/>
          <p:nvPr>
            <p:ph idx="2" type="pic"/>
          </p:nvPr>
        </p:nvSpPr>
        <p:spPr>
          <a:xfrm>
            <a:off x="0" y="1189317"/>
            <a:ext cx="12002400" cy="5668800"/>
          </a:xfrm>
          <a:prstGeom prst="rect">
            <a:avLst/>
          </a:prstGeom>
          <a:noFill/>
          <a:ln>
            <a:noFill/>
          </a:ln>
        </p:spPr>
      </p:sp>
      <p:sp>
        <p:nvSpPr>
          <p:cNvPr id="108" name="Google Shape;108;g3e40051db1f_4_71"/>
          <p:cNvSpPr/>
          <p:nvPr/>
        </p:nvSpPr>
        <p:spPr>
          <a:xfrm>
            <a:off x="1" y="0"/>
            <a:ext cx="11997300" cy="11892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alibri"/>
              <a:ea typeface="Calibri"/>
              <a:cs typeface="Calibri"/>
              <a:sym typeface="Calibri"/>
            </a:endParaRPr>
          </a:p>
        </p:txBody>
      </p:sp>
      <p:sp>
        <p:nvSpPr>
          <p:cNvPr id="109" name="Google Shape;109;g3e40051db1f_4_7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
        <p:nvSpPr>
          <p:cNvPr id="110" name="Google Shape;110;g3e40051db1f_4_71"/>
          <p:cNvSpPr txBox="1"/>
          <p:nvPr>
            <p:ph type="ctrTitle"/>
          </p:nvPr>
        </p:nvSpPr>
        <p:spPr>
          <a:xfrm>
            <a:off x="953359" y="360637"/>
            <a:ext cx="88299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3500"/>
              <a:buFont typeface="Mulish"/>
              <a:buNone/>
              <a:defRPr b="1" i="0" sz="3500" u="none" cap="none" strike="noStrike">
                <a:solidFill>
                  <a:schemeClr val="lt1"/>
                </a:solidFill>
                <a:latin typeface="Mulish"/>
                <a:ea typeface="Mulish"/>
                <a:cs typeface="Mulish"/>
                <a:sym typeface="Mulish"/>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僅英文標題">
  <p:cSld name="內容頁_僅英文標題">
    <p:spTree>
      <p:nvGrpSpPr>
        <p:cNvPr id="111" name="Shape 111"/>
        <p:cNvGrpSpPr/>
        <p:nvPr/>
      </p:nvGrpSpPr>
      <p:grpSpPr>
        <a:xfrm>
          <a:off x="0" y="0"/>
          <a:ext cx="0" cy="0"/>
          <a:chOff x="0" y="0"/>
          <a:chExt cx="0" cy="0"/>
        </a:xfrm>
      </p:grpSpPr>
      <p:sp>
        <p:nvSpPr>
          <p:cNvPr id="112" name="Google Shape;112;g3e40051db1f_4_76"/>
          <p:cNvSpPr txBox="1"/>
          <p:nvPr>
            <p:ph type="ctrTitle"/>
          </p:nvPr>
        </p:nvSpPr>
        <p:spPr>
          <a:xfrm>
            <a:off x="953359" y="728685"/>
            <a:ext cx="88299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accent2"/>
              </a:buClr>
              <a:buSzPts val="3500"/>
              <a:buFont typeface="Mulish"/>
              <a:buNone/>
              <a:defRPr b="1" i="0" sz="3500" u="none" cap="none" strike="noStrike">
                <a:solidFill>
                  <a:schemeClr val="accent2"/>
                </a:solidFill>
                <a:latin typeface="Mulish"/>
                <a:ea typeface="Mulish"/>
                <a:cs typeface="Mulish"/>
                <a:sym typeface="Mulish"/>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13" name="Google Shape;113;g3e40051db1f_4_76"/>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1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14" name="Google Shape;114;g3e40051db1f_4_7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空白頁">
  <p:cSld name="內容頁_空白頁">
    <p:spTree>
      <p:nvGrpSpPr>
        <p:cNvPr id="115" name="Shape 115"/>
        <p:cNvGrpSpPr/>
        <p:nvPr/>
      </p:nvGrpSpPr>
      <p:grpSpPr>
        <a:xfrm>
          <a:off x="0" y="0"/>
          <a:ext cx="0" cy="0"/>
          <a:chOff x="0" y="0"/>
          <a:chExt cx="0" cy="0"/>
        </a:xfrm>
      </p:grpSpPr>
      <p:sp>
        <p:nvSpPr>
          <p:cNvPr id="116" name="Google Shape;116;g3e40051db1f_4_80"/>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1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17" name="Google Shape;117;g3e40051db1f_4_8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內容頁_英文標題＋文字">
  <p:cSld name="內容頁_英文標題＋文字">
    <p:spTree>
      <p:nvGrpSpPr>
        <p:cNvPr id="118" name="Shape 118"/>
        <p:cNvGrpSpPr/>
        <p:nvPr/>
      </p:nvGrpSpPr>
      <p:grpSpPr>
        <a:xfrm>
          <a:off x="0" y="0"/>
          <a:ext cx="0" cy="0"/>
          <a:chOff x="0" y="0"/>
          <a:chExt cx="0" cy="0"/>
        </a:xfrm>
      </p:grpSpPr>
      <p:sp>
        <p:nvSpPr>
          <p:cNvPr id="119" name="Google Shape;119;g3e40051db1f_4_83"/>
          <p:cNvSpPr txBox="1"/>
          <p:nvPr>
            <p:ph type="ctrTitle"/>
          </p:nvPr>
        </p:nvSpPr>
        <p:spPr>
          <a:xfrm>
            <a:off x="953359" y="728685"/>
            <a:ext cx="8829900" cy="573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accent2"/>
              </a:buClr>
              <a:buSzPts val="3500"/>
              <a:buFont typeface="Mulish"/>
              <a:buNone/>
              <a:defRPr b="1" i="0" sz="3500" u="none" cap="none" strike="noStrike">
                <a:solidFill>
                  <a:schemeClr val="accent2"/>
                </a:solidFill>
                <a:latin typeface="Mulish"/>
                <a:ea typeface="Mulish"/>
                <a:cs typeface="Mulish"/>
                <a:sym typeface="Mulish"/>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20" name="Google Shape;120;g3e40051db1f_4_83"/>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100"/>
              </a:spcBef>
              <a:spcAft>
                <a:spcPts val="0"/>
              </a:spcAft>
              <a:buClr>
                <a:schemeClr val="dk1"/>
              </a:buClr>
              <a:buSzPts val="1200"/>
              <a:buFont typeface="Arial"/>
              <a:buNone/>
              <a:defRPr b="0" i="0" sz="1200" u="none" cap="none" strike="noStrike">
                <a:solidFill>
                  <a:schemeClr val="dk1"/>
                </a:solidFill>
                <a:latin typeface="Microsoft JhengHei"/>
                <a:ea typeface="Microsoft JhengHei"/>
                <a:cs typeface="Microsoft JhengHei"/>
                <a:sym typeface="Microsoft JhengHe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21" name="Google Shape;121;g3e40051db1f_4_83"/>
          <p:cNvSpPr txBox="1"/>
          <p:nvPr>
            <p:ph idx="2" type="body"/>
          </p:nvPr>
        </p:nvSpPr>
        <p:spPr>
          <a:xfrm>
            <a:off x="954088" y="1578855"/>
            <a:ext cx="10102800" cy="4132500"/>
          </a:xfrm>
          <a:prstGeom prst="rect">
            <a:avLst/>
          </a:prstGeom>
          <a:noFill/>
          <a:ln>
            <a:noFill/>
          </a:ln>
        </p:spPr>
        <p:txBody>
          <a:bodyPr anchorCtr="0" anchor="t" bIns="45700" lIns="91425" spcFirstLastPara="1" rIns="91425" wrap="square" tIns="45700">
            <a:noAutofit/>
          </a:bodyPr>
          <a:lstStyle>
            <a:lvl1pPr indent="-228600" lvl="0" marL="457200" marR="0" algn="l">
              <a:lnSpc>
                <a:spcPct val="120000"/>
              </a:lnSpc>
              <a:spcBef>
                <a:spcPts val="1500"/>
              </a:spcBef>
              <a:spcAft>
                <a:spcPts val="0"/>
              </a:spcAft>
              <a:buClr>
                <a:schemeClr val="dk1"/>
              </a:buClr>
              <a:buSzPts val="2700"/>
              <a:buFont typeface="Arial"/>
              <a:buNone/>
              <a:defRPr b="0" i="0" sz="2700" u="none" cap="none" strike="noStrike">
                <a:solidFill>
                  <a:schemeClr val="dk1"/>
                </a:solidFill>
                <a:latin typeface="Mulish"/>
                <a:ea typeface="Mulish"/>
                <a:cs typeface="Mulish"/>
                <a:sym typeface="Mulish"/>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ulish"/>
                <a:ea typeface="Mulish"/>
                <a:cs typeface="Mulish"/>
                <a:sym typeface="Mulish"/>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ulish"/>
                <a:ea typeface="Mulish"/>
                <a:cs typeface="Mulish"/>
                <a:sym typeface="Mulish"/>
              </a:defRPr>
            </a:lvl3pPr>
            <a:lvl4pPr indent="-349250" lvl="3" marL="1828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Mulish"/>
                <a:ea typeface="Mulish"/>
                <a:cs typeface="Mulish"/>
                <a:sym typeface="Mulish"/>
              </a:defRPr>
            </a:lvl4pPr>
            <a:lvl5pPr indent="-349250" lvl="4" marL="22860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Mulish"/>
                <a:ea typeface="Mulish"/>
                <a:cs typeface="Mulish"/>
                <a:sym typeface="Mulish"/>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22" name="Google Shape;122;g3e40051db1f_4_8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Mulish"/>
                <a:ea typeface="Mulish"/>
                <a:cs typeface="Mulish"/>
                <a:sym typeface="Mulish"/>
              </a:defRPr>
            </a:lvl9p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3.jpg"/><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theme" Target="../theme/theme6.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43.jp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10" Type="http://schemas.openxmlformats.org/officeDocument/2006/relationships/theme" Target="../theme/theme3.xml"/><Relationship Id="rId9" Type="http://schemas.openxmlformats.org/officeDocument/2006/relationships/slideLayout" Target="../slideLayouts/slideLayout2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 name="Shape 23"/>
        <p:cNvGrpSpPr/>
        <p:nvPr/>
      </p:nvGrpSpPr>
      <p:grpSpPr>
        <a:xfrm>
          <a:off x="0" y="0"/>
          <a:ext cx="0" cy="0"/>
          <a:chOff x="0" y="0"/>
          <a:chExt cx="0" cy="0"/>
        </a:xfrm>
      </p:grpSpPr>
      <p:sp>
        <p:nvSpPr>
          <p:cNvPr id="24" name="Google Shape;24;p13"/>
          <p:cNvSpPr txBox="1"/>
          <p:nvPr/>
        </p:nvSpPr>
        <p:spPr>
          <a:xfrm>
            <a:off x="966788" y="717402"/>
            <a:ext cx="3515360"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800"/>
              <a:buFont typeface="Arial"/>
              <a:buNone/>
            </a:pPr>
            <a:r>
              <a:rPr b="0" i="0" lang="zh-TW" sz="5800" u="none" cap="none" strike="noStrike">
                <a:solidFill>
                  <a:schemeClr val="lt1"/>
                </a:solidFill>
                <a:latin typeface="Mulish ExtraLight"/>
                <a:ea typeface="Mulish ExtraLight"/>
                <a:cs typeface="Mulish ExtraLight"/>
                <a:sym typeface="Mulish ExtraLight"/>
              </a:rPr>
              <a:t>01</a:t>
            </a:r>
            <a:endParaRPr b="0" i="0" sz="5800" u="none" cap="none" strike="noStrike">
              <a:solidFill>
                <a:schemeClr val="lt1"/>
              </a:solidFill>
              <a:latin typeface="Mulish ExtraLight"/>
              <a:ea typeface="Mulish ExtraLight"/>
              <a:cs typeface="Mulish ExtraLight"/>
              <a:sym typeface="Mulish ExtraLight"/>
            </a:endParaRPr>
          </a:p>
        </p:txBody>
      </p:sp>
      <p:sp>
        <p:nvSpPr>
          <p:cNvPr id="25" name="Google Shape;25;p13"/>
          <p:cNvSpPr txBox="1"/>
          <p:nvPr/>
        </p:nvSpPr>
        <p:spPr>
          <a:xfrm>
            <a:off x="1242283" y="6179444"/>
            <a:ext cx="73777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zh-TW" sz="1200" u="none" cap="none" strike="noStrike">
                <a:solidFill>
                  <a:schemeClr val="lt1"/>
                </a:solidFill>
                <a:latin typeface="Microsoft JhengHei"/>
                <a:ea typeface="Microsoft JhengHei"/>
                <a:cs typeface="Microsoft JhengHei"/>
                <a:sym typeface="Microsoft JhengHei"/>
              </a:rPr>
              <a:t>章節 01</a:t>
            </a:r>
            <a:endParaRPr b="1" i="0" sz="1200" u="none" cap="none" strike="noStrike">
              <a:solidFill>
                <a:schemeClr val="lt1"/>
              </a:solidFill>
              <a:latin typeface="Microsoft JhengHei"/>
              <a:ea typeface="Microsoft JhengHei"/>
              <a:cs typeface="Microsoft JhengHei"/>
              <a:sym typeface="Microsoft JhengHei"/>
            </a:endParaRPr>
          </a:p>
        </p:txBody>
      </p:sp>
    </p:spTree>
  </p:cSld>
  <p:clrMap accent1="accent1" accent2="accent2" accent3="accent3" accent4="accent4" accent5="accent5" accent6="accent6" bg1="lt1" bg2="dk2" tx1="dk1" tx2="lt2" folHlink="folHlink" hlink="hlink"/>
  <p:sldLayoutIdLst>
    <p:sldLayoutId id="2147483653" r:id="rId2"/>
    <p:sldLayoutId id="2147483654" r:id="rId3"/>
    <p:sldLayoutId id="2147483655"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9" name="Shape 3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0" name="Shape 7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7" name="Shape 87"/>
        <p:cNvGrpSpPr/>
        <p:nvPr/>
      </p:nvGrpSpPr>
      <p:grpSpPr>
        <a:xfrm>
          <a:off x="0" y="0"/>
          <a:ext cx="0" cy="0"/>
          <a:chOff x="0" y="0"/>
          <a:chExt cx="0" cy="0"/>
        </a:xfrm>
      </p:grpSpPr>
      <p:sp>
        <p:nvSpPr>
          <p:cNvPr id="88" name="Google Shape;88;g3e40051db1f_4_52"/>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lvl="0" algn="r">
              <a:buNone/>
              <a:defRPr sz="1700">
                <a:solidFill>
                  <a:schemeClr val="tx1"/>
                </a:solidFill>
              </a:defRPr>
            </a:lvl1pPr>
            <a:lvl2pPr lvl="1" algn="r">
              <a:buNone/>
              <a:defRPr sz="1700">
                <a:solidFill>
                  <a:schemeClr val="tx1"/>
                </a:solidFill>
              </a:defRPr>
            </a:lvl2pPr>
            <a:lvl3pPr lvl="2" algn="r">
              <a:buNone/>
              <a:defRPr sz="1700">
                <a:solidFill>
                  <a:schemeClr val="tx1"/>
                </a:solidFill>
              </a:defRPr>
            </a:lvl3pPr>
            <a:lvl4pPr lvl="3" algn="r">
              <a:buNone/>
              <a:defRPr sz="1700">
                <a:solidFill>
                  <a:schemeClr val="tx1"/>
                </a:solidFill>
              </a:defRPr>
            </a:lvl4pPr>
            <a:lvl5pPr lvl="4" algn="r">
              <a:buNone/>
              <a:defRPr sz="1700">
                <a:solidFill>
                  <a:schemeClr val="tx1"/>
                </a:solidFill>
              </a:defRPr>
            </a:lvl5pPr>
            <a:lvl6pPr lvl="5" algn="r">
              <a:buNone/>
              <a:defRPr sz="1700">
                <a:solidFill>
                  <a:schemeClr val="tx1"/>
                </a:solidFill>
              </a:defRPr>
            </a:lvl6pPr>
            <a:lvl7pPr lvl="6" algn="r">
              <a:buNone/>
              <a:defRPr sz="1700">
                <a:solidFill>
                  <a:schemeClr val="tx1"/>
                </a:solidFill>
              </a:defRPr>
            </a:lvl7pPr>
            <a:lvl8pPr lvl="7" algn="r">
              <a:buNone/>
              <a:defRPr sz="1700">
                <a:solidFill>
                  <a:schemeClr val="tx1"/>
                </a:solidFill>
              </a:defRPr>
            </a:lvl8pPr>
            <a:lvl9pPr lvl="8" algn="r">
              <a:buNone/>
              <a:defRPr sz="1700">
                <a:solidFill>
                  <a:schemeClr val="tx1"/>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zh.wikipedia.org/wiki/%E6%89%A9%E6%95%A3%E6%A8%A1%E5%9E%8B" TargetMode="External"/><Relationship Id="rId4" Type="http://schemas.openxmlformats.org/officeDocument/2006/relationships/hyperlink" Target="https://arxiv.org/abs/2112.10752" TargetMode="External"/><Relationship Id="rId9" Type="http://schemas.openxmlformats.org/officeDocument/2006/relationships/hyperlink" Target="https://zh.wikipedia.org/wiki/%E5%8F%98%E5%88%86%E8%87%AA%E7%BC%96%E7%A0%81%E5%99%A8" TargetMode="External"/><Relationship Id="rId5" Type="http://schemas.openxmlformats.org/officeDocument/2006/relationships/hyperlink" Target="https://github.com/openai/CLIP?tab=readme-ov-file" TargetMode="External"/><Relationship Id="rId6" Type="http://schemas.openxmlformats.org/officeDocument/2006/relationships/hyperlink" Target="https://zh.wikipedia.org/zh-tw/%E6%BD%9C%E7%A9%BA%E9%97%B4_(%E6%9C%BA%E5%99%A8%E5%AD%A6%E4%B9%A0)" TargetMode="External"/><Relationship Id="rId7" Type="http://schemas.openxmlformats.org/officeDocument/2006/relationships/hyperlink" Target="https://zh.wikipedia.org/wiki/%E9%AB%98%E6%96%AF%E5%99%AA%E5%A3%B0" TargetMode="External"/><Relationship Id="rId8" Type="http://schemas.openxmlformats.org/officeDocument/2006/relationships/hyperlink" Target="https://zh.wikipedia.org/wiki/U-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hyperlink" Target="https://www.youtube.com/watch?v=FMKa4075VZ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hyperlink" Target="https://www.youtube.com/watch?v=FMKa4075VZ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www.youtube.com/watch?v=FMKa4075VZ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youtube.com/watch?v=FMKa4075VZ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zh.wikipedia.org/zh-tw/%E6%B5%81%E5%BD%A2%E5%81%87%E8%AE%BE" TargetMode="External"/><Relationship Id="rId4" Type="http://schemas.openxmlformats.org/officeDocument/2006/relationships/image" Target="../media/image2.jpg"/><Relationship Id="rId5" Type="http://schemas.openxmlformats.org/officeDocument/2006/relationships/hyperlink" Target="https://www.youtube.com/watch?v=FMKa4075VZ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hyperlink" Target="https://www.aiuai.cn/aifarm2083.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hyperlink" Target="https://www.aiuai.cn/aifarm2083.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hyperlink" Target="https://www.aiuai.cn/aifarm2083.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hyperlink" Target="https://arxiv.org/abs/2112.1075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github.com/comfyanonymous/ComfyUI"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jpg"/><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www.python.org/downloads/release/python-3127/" TargetMode="External"/><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www.python.org/downloads/release/python-3127/" TargetMode="External"/><Relationship Id="rId4"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developer.nvidia.com/cuda-toolkit-archive" TargetMode="External"/><Relationship Id="rId4"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civitai.com/" TargetMode="Externa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civitai.com/models/820208/obsession-illustrious-xl?modelVersionId=1494740" TargetMode="Externa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civitai.com/models/1204563/ma1ma1helmes-or-shiiros-styles-or-niji?modelVersionId=1356500" TargetMode="Externa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github.com/lctung/text-to-image" TargetMode="Externa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drive.google.com/file/d/1w60vTrkCHYVb-o54b5fkIGJZ0_-UMTnq/view?usp=sharing" TargetMode="Externa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s://civitai.com/models/43331/majicmix-realistic" TargetMode="Externa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civitai.com/models/180978/frieren-style-or-sousou-no-frieren-lora" TargetMode="Externa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3.png"/><Relationship Id="rId4" Type="http://schemas.openxmlformats.org/officeDocument/2006/relationships/hyperlink" Target="https://civitai.com/models/43331/majicmix-realistic" TargetMode="External"/><Relationship Id="rId5" Type="http://schemas.openxmlformats.org/officeDocument/2006/relationships/hyperlink" Target="https://civitai.com/models/180978/frieren-style-or-sousou-no-frieren-lor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civitai.com/models/43331/majicmix-realistic" TargetMode="External"/><Relationship Id="rId4" Type="http://schemas.openxmlformats.org/officeDocument/2006/relationships/image" Target="../media/image9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civitai.com/models/43331/majicmix-realistic" TargetMode="External"/><Relationship Id="rId4" Type="http://schemas.openxmlformats.org/officeDocument/2006/relationships/image" Target="../media/image9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91.png"/><Relationship Id="rId4" Type="http://schemas.openxmlformats.org/officeDocument/2006/relationships/hyperlink" Target="https://civitai.com/models/820208/obsession-illustrious-xl?modelVersionId=1494740"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94.png"/><Relationship Id="rId4" Type="http://schemas.openxmlformats.org/officeDocument/2006/relationships/hyperlink" Target="https://civitai.com/models/1188071/animagine-xl-40?modelVersionId=1337429" TargetMode="External"/><Relationship Id="rId5" Type="http://schemas.openxmlformats.org/officeDocument/2006/relationships/hyperlink" Target="https://civitai.com/models/1209474/test-lora?modelVersionId=137392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98.png"/><Relationship Id="rId4" Type="http://schemas.openxmlformats.org/officeDocument/2006/relationships/hyperlink" Target="https://civitai.com/models/1188071/animagine-xl-40?modelVersionId=1337429" TargetMode="External"/><Relationship Id="rId5" Type="http://schemas.openxmlformats.org/officeDocument/2006/relationships/hyperlink" Target="https://civitai.com/models/1209474/test-lora?modelVersionId=1373925"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92.png"/><Relationship Id="rId4" Type="http://schemas.openxmlformats.org/officeDocument/2006/relationships/hyperlink" Target="https://civitai.com/models/820208/obsession-illustrious-xl?modelVersionId=1494740" TargetMode="External"/><Relationship Id="rId5" Type="http://schemas.openxmlformats.org/officeDocument/2006/relationships/hyperlink" Target="https://civitai.com/models/1204563/ma1ma1helmes-or-shiiros-styles-or-niji?modelVersionId=1356500" TargetMode="External"/><Relationship Id="rId6" Type="http://schemas.openxmlformats.org/officeDocument/2006/relationships/hyperlink" Target="https://civitai.com/models/1201355/r754496-or-shiiros-styles-or-niji"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96.png"/><Relationship Id="rId4" Type="http://schemas.openxmlformats.org/officeDocument/2006/relationships/hyperlink" Target="https://civitai.com/models/820208/obsession-illustrious-xl?modelVersionId=1494740" TargetMode="External"/><Relationship Id="rId5" Type="http://schemas.openxmlformats.org/officeDocument/2006/relationships/hyperlink" Target="https://civitai.com/models/1204563/ma1ma1helmes-or-shiiros-styles-or-niji?modelVersionId=1356500" TargetMode="External"/><Relationship Id="rId6" Type="http://schemas.openxmlformats.org/officeDocument/2006/relationships/hyperlink" Target="https://civitai.com/models/1201355/r754496-or-shiiros-styles-or-niji"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comfy.org/download" TargetMode="External"/><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comfy.org/download" TargetMode="External"/><Relationship Id="rId4" Type="http://schemas.openxmlformats.org/officeDocument/2006/relationships/image" Target="../media/image49.png"/><Relationship Id="rId5"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9.png"/><Relationship Id="rId4"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4.png"/></Relationships>
</file>

<file path=ppt/slides/_rels/slide67.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50.png"/><Relationship Id="rId13" Type="http://schemas.openxmlformats.org/officeDocument/2006/relationships/image" Target="../media/image57.png"/><Relationship Id="rId12" Type="http://schemas.openxmlformats.org/officeDocument/2006/relationships/image" Target="../media/image51.png"/><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huggingface.co/SulphurAI/Sulphur-2-base/blob/main/prompt_enhancer/sulphur_prompt_enhancer_model-q8_0.gguf" TargetMode="External"/><Relationship Id="rId4" Type="http://schemas.openxmlformats.org/officeDocument/2006/relationships/hyperlink" Target="https://huggingface.co/SulphurAI/Sulphur-2-base/blob/main/sulphur_dev_fp8mixed.safetensors" TargetMode="External"/><Relationship Id="rId9" Type="http://schemas.openxmlformats.org/officeDocument/2006/relationships/hyperlink" Target="https://www.youtube.com/watch?v=Nms56KhvIQw" TargetMode="External"/><Relationship Id="rId15" Type="http://schemas.openxmlformats.org/officeDocument/2006/relationships/image" Target="../media/image60.png"/><Relationship Id="rId14" Type="http://schemas.openxmlformats.org/officeDocument/2006/relationships/image" Target="../media/image86.png"/><Relationship Id="rId5" Type="http://schemas.openxmlformats.org/officeDocument/2006/relationships/hyperlink" Target="https://huggingface.co/Comfy-Org/ltx-2/blob/main/split_files/text_encoders/gemma_3_12B_it_fp4_mixed.safetensors" TargetMode="External"/><Relationship Id="rId6" Type="http://schemas.openxmlformats.org/officeDocument/2006/relationships/hyperlink" Target="https://huggingface.co/Comfy-Org/ltx-2/blob/main/split_files/loras/gemma-3-12b-it-abliterated_lora_rank64_bf16.safetensors" TargetMode="External"/><Relationship Id="rId7" Type="http://schemas.openxmlformats.org/officeDocument/2006/relationships/hyperlink" Target="https://huggingface.co/Kijai/LTX2.3_comfy/blob/main/loras/ltx-2.3-22b-distilled-1.1_lora-dynamic_fro09_avg_rank_111_bf16.safetensors" TargetMode="External"/><Relationship Id="rId8" Type="http://schemas.openxmlformats.org/officeDocument/2006/relationships/hyperlink" Target="https://huggingface.co/Lightricks/LTX-2.3/blob/main/ltx-2.3-spatial-upscaler-x2-1.1.safetensors"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docs.google.com/spreadsheets/d/1LvSOxqcWLsXgjO2wRE7z3YcqvBSaxBoml05kgEOrPbs/edit?usp=sharing" TargetMode="External"/><Relationship Id="rId4" Type="http://schemas.openxmlformats.org/officeDocument/2006/relationships/image" Target="../media/image96.png"/><Relationship Id="rId5" Type="http://schemas.openxmlformats.org/officeDocument/2006/relationships/hyperlink" Target="http://drive.google.com/file/d/1auOUye0TBmgWbJ6eFuJrO3111ZgyrFWN/view" TargetMode="External"/><Relationship Id="rId6" Type="http://schemas.openxmlformats.org/officeDocument/2006/relationships/image" Target="../media/image6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3.png"/><Relationship Id="rId4" Type="http://schemas.openxmlformats.org/officeDocument/2006/relationships/hyperlink" Target="http://drive.google.com/file/d/11tuQhiTYmaSXTLSZdAwbCcb8SiJkHDw7/view" TargetMode="External"/><Relationship Id="rId5" Type="http://schemas.openxmlformats.org/officeDocument/2006/relationships/image" Target="../media/image62.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72.png"/><Relationship Id="rId4" Type="http://schemas.openxmlformats.org/officeDocument/2006/relationships/hyperlink" Target="http://drive.google.com/file/d/1H1ks1hpzMp2K7sOJ0ISFp7Bhu8oRc9jN/view" TargetMode="External"/><Relationship Id="rId5" Type="http://schemas.openxmlformats.org/officeDocument/2006/relationships/image" Target="../media/image65.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9.jpg"/><Relationship Id="rId4" Type="http://schemas.openxmlformats.org/officeDocument/2006/relationships/hyperlink" Target="http://drive.google.com/file/d/14TbyVzG8FqUz4L7dISneklXBEf1syAqo/view" TargetMode="External"/><Relationship Id="rId5" Type="http://schemas.openxmlformats.org/officeDocument/2006/relationships/image" Target="../media/image64.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78.jpg"/><Relationship Id="rId4" Type="http://schemas.openxmlformats.org/officeDocument/2006/relationships/hyperlink" Target="http://drive.google.com/file/d/1SJAAbyMs0UvqJfgyBh5GLKiecZW_5fPi/view" TargetMode="External"/><Relationship Id="rId5" Type="http://schemas.openxmlformats.org/officeDocument/2006/relationships/image" Target="../media/image67.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69.png"/><Relationship Id="rId4" Type="http://schemas.openxmlformats.org/officeDocument/2006/relationships/hyperlink" Target="http://drive.google.com/file/d/1Vr6xSsOF_edhsg3kMt9N99y4PMnvGFyl/view" TargetMode="External"/><Relationship Id="rId5" Type="http://schemas.openxmlformats.org/officeDocument/2006/relationships/image" Target="../media/image68.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0.png"/><Relationship Id="rId4" Type="http://schemas.openxmlformats.org/officeDocument/2006/relationships/hyperlink" Target="http://drive.google.com/file/d/1wmPrem3256y3Zwl9Kte7rvnkQTuF5uCw/view" TargetMode="External"/><Relationship Id="rId5" Type="http://schemas.openxmlformats.org/officeDocument/2006/relationships/image" Target="../media/image7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88.jpg"/><Relationship Id="rId4" Type="http://schemas.openxmlformats.org/officeDocument/2006/relationships/hyperlink" Target="http://drive.google.com/file/d/1RapxSs0X92B2-ZsVCU1uK3e64tSVGfR9/view" TargetMode="External"/><Relationship Id="rId5" Type="http://schemas.openxmlformats.org/officeDocument/2006/relationships/image" Target="../media/image73.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2.png"/><Relationship Id="rId4" Type="http://schemas.openxmlformats.org/officeDocument/2006/relationships/hyperlink" Target="http://drive.google.com/file/d/1gyh7S93_10VQ24YPHHwlx9mBRpm_kXlu/view" TargetMode="External"/><Relationship Id="rId5" Type="http://schemas.openxmlformats.org/officeDocument/2006/relationships/image" Target="../media/image75.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76.png"/><Relationship Id="rId4" Type="http://schemas.openxmlformats.org/officeDocument/2006/relationships/hyperlink" Target="http://drive.google.com/file/d/1DzqecZhYZmwQMAP3CeW4oVorQfn0q0Q8/view" TargetMode="External"/><Relationship Id="rId5" Type="http://schemas.openxmlformats.org/officeDocument/2006/relationships/image" Target="../media/image74.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7.jpg"/><Relationship Id="rId4" Type="http://schemas.openxmlformats.org/officeDocument/2006/relationships/hyperlink" Target="http://drive.google.com/file/d/1D_mpP9z-zO018Zb1uMei67bIbyyiTtEu/view" TargetMode="External"/><Relationship Id="rId5" Type="http://schemas.openxmlformats.org/officeDocument/2006/relationships/image" Target="../media/image7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drive.google.com/file/d/1Uq84aJFzEp0ascECxzSUG0KdsMQ-etzK/view" TargetMode="External"/><Relationship Id="rId4" Type="http://schemas.openxmlformats.org/officeDocument/2006/relationships/image" Target="../media/image80.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drive.google.com/file/d/195BYn6qET66e3prKymbppuNqYT-g5rAF/view" TargetMode="External"/><Relationship Id="rId4" Type="http://schemas.openxmlformats.org/officeDocument/2006/relationships/image" Target="../media/image83.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hyperlink" Target="http://drive.google.com/file/d/1QmGt9t08iZcHYPVl2_2ICcgeS7QOv_iI/view" TargetMode="External"/><Relationship Id="rId4" Type="http://schemas.openxmlformats.org/officeDocument/2006/relationships/image" Target="../media/image81.jpg"/><Relationship Id="rId5" Type="http://schemas.openxmlformats.org/officeDocument/2006/relationships/image" Target="../media/image84.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89.png"/><Relationship Id="rId4" Type="http://schemas.openxmlformats.org/officeDocument/2006/relationships/hyperlink" Target="http://drive.google.com/file/d/1BCgtoRNhIFQSd__ebyMVe-HRv0InJ7Od/view" TargetMode="External"/><Relationship Id="rId5" Type="http://schemas.openxmlformats.org/officeDocument/2006/relationships/image" Target="../media/image85.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6.xml"/><Relationship Id="rId3" Type="http://schemas.openxmlformats.org/officeDocument/2006/relationships/hyperlink" Target="mailto:t114598033@ntut.org.t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type="ctrTitle"/>
          </p:nvPr>
        </p:nvSpPr>
        <p:spPr>
          <a:xfrm>
            <a:off x="967109" y="2274495"/>
            <a:ext cx="10191320" cy="5741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生程式人工智慧導論</a:t>
            </a:r>
            <a:endParaRPr/>
          </a:p>
        </p:txBody>
      </p:sp>
      <p:sp>
        <p:nvSpPr>
          <p:cNvPr id="128" name="Google Shape;128;p6"/>
          <p:cNvSpPr txBox="1"/>
          <p:nvPr>
            <p:ph idx="1" type="body"/>
          </p:nvPr>
        </p:nvSpPr>
        <p:spPr>
          <a:xfrm>
            <a:off x="967109" y="3007096"/>
            <a:ext cx="10191320" cy="115384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Mulish"/>
              <a:buNone/>
            </a:pPr>
            <a:r>
              <a:rPr lang="zh-TW"/>
              <a:t>穩定擴散_控制網路</a:t>
            </a:r>
            <a:endParaRPr/>
          </a:p>
        </p:txBody>
      </p:sp>
      <p:sp>
        <p:nvSpPr>
          <p:cNvPr id="129" name="Google Shape;129;p6"/>
          <p:cNvSpPr txBox="1"/>
          <p:nvPr>
            <p:ph idx="2" type="body"/>
          </p:nvPr>
        </p:nvSpPr>
        <p:spPr>
          <a:xfrm>
            <a:off x="967108" y="4572000"/>
            <a:ext cx="6650095" cy="3857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200"/>
              <a:buNone/>
            </a:pPr>
            <a:r>
              <a:rPr lang="zh-TW"/>
              <a:t>吳凱印</a:t>
            </a:r>
            <a:endParaRPr/>
          </a:p>
        </p:txBody>
      </p:sp>
      <p:sp>
        <p:nvSpPr>
          <p:cNvPr id="130" name="Google Shape;130;p6"/>
          <p:cNvSpPr txBox="1"/>
          <p:nvPr>
            <p:ph idx="3" type="body"/>
          </p:nvPr>
        </p:nvSpPr>
        <p:spPr>
          <a:xfrm>
            <a:off x="967108" y="5025006"/>
            <a:ext cx="6650095" cy="3857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200"/>
              <a:buNone/>
            </a:pPr>
            <a:r>
              <a:rPr lang="zh-TW"/>
              <a:t>國立臺北科技大學資訊工程系</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ctrTitle"/>
          </p:nvPr>
        </p:nvSpPr>
        <p:spPr>
          <a:xfrm>
            <a:off x="967109" y="2419102"/>
            <a:ext cx="10191320" cy="57416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目錄</a:t>
            </a:r>
            <a:endParaRPr/>
          </a:p>
        </p:txBody>
      </p:sp>
      <p:sp>
        <p:nvSpPr>
          <p:cNvPr id="136" name="Google Shape;136;p7"/>
          <p:cNvSpPr txBox="1"/>
          <p:nvPr>
            <p:ph idx="1" type="body"/>
          </p:nvPr>
        </p:nvSpPr>
        <p:spPr>
          <a:xfrm>
            <a:off x="967109" y="3124542"/>
            <a:ext cx="10191320" cy="18920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Mulish"/>
              <a:buNone/>
            </a:pPr>
            <a:r>
              <a:t/>
            </a:r>
            <a:endParaRPr/>
          </a:p>
          <a:p>
            <a:pPr indent="0" lvl="0" marL="0" rtl="0" algn="l">
              <a:lnSpc>
                <a:spcPct val="90000"/>
              </a:lnSpc>
              <a:spcBef>
                <a:spcPts val="0"/>
              </a:spcBef>
              <a:spcAft>
                <a:spcPts val="0"/>
              </a:spcAft>
              <a:buClr>
                <a:schemeClr val="lt1"/>
              </a:buClr>
              <a:buSzPts val="3200"/>
              <a:buFont typeface="Mulish"/>
              <a:buNone/>
            </a:pPr>
            <a:r>
              <a:t/>
            </a:r>
            <a:endParaRPr/>
          </a:p>
        </p:txBody>
      </p:sp>
      <p:sp>
        <p:nvSpPr>
          <p:cNvPr id="137" name="Google Shape;137;p7"/>
          <p:cNvSpPr txBox="1"/>
          <p:nvPr>
            <p:ph idx="2" type="body"/>
          </p:nvPr>
        </p:nvSpPr>
        <p:spPr>
          <a:xfrm>
            <a:off x="1842554" y="6207371"/>
            <a:ext cx="9762763" cy="23489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200"/>
              <a:buNone/>
            </a:pPr>
            <a:r>
              <a:t/>
            </a:r>
            <a:endParaRPr/>
          </a:p>
        </p:txBody>
      </p:sp>
      <p:sp>
        <p:nvSpPr>
          <p:cNvPr id="138" name="Google Shape;138;p7"/>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953359" y="824935"/>
            <a:ext cx="8747531" cy="57416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目錄</a:t>
            </a:r>
            <a:endParaRPr/>
          </a:p>
        </p:txBody>
      </p:sp>
      <p:sp>
        <p:nvSpPr>
          <p:cNvPr id="144" name="Google Shape;144;p1"/>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145" name="Google Shape;145;p1"/>
          <p:cNvSpPr txBox="1"/>
          <p:nvPr>
            <p:ph idx="2" type="body"/>
          </p:nvPr>
        </p:nvSpPr>
        <p:spPr>
          <a:xfrm>
            <a:off x="954088" y="1618596"/>
            <a:ext cx="10102795" cy="4089127"/>
          </a:xfrm>
          <a:prstGeom prst="rect">
            <a:avLst/>
          </a:prstGeom>
          <a:noFill/>
          <a:ln>
            <a:noFill/>
          </a:ln>
        </p:spPr>
        <p:txBody>
          <a:bodyPr anchorCtr="0" anchor="t" bIns="45700" lIns="91425" spcFirstLastPara="1" rIns="91425" wrap="square" tIns="45700">
            <a:noAutofit/>
          </a:bodyPr>
          <a:lstStyle/>
          <a:p>
            <a:pPr indent="-400050" lvl="0" marL="457200" rtl="0" algn="l">
              <a:lnSpc>
                <a:spcPct val="100000"/>
              </a:lnSpc>
              <a:spcBef>
                <a:spcPts val="1400"/>
              </a:spcBef>
              <a:spcAft>
                <a:spcPts val="0"/>
              </a:spcAft>
              <a:buSzPts val="2700"/>
              <a:buChar char="•"/>
            </a:pPr>
            <a:r>
              <a:rPr lang="zh-TW"/>
              <a:t>介紹</a:t>
            </a:r>
            <a:endParaRPr/>
          </a:p>
          <a:p>
            <a:pPr indent="-400050" lvl="0" marL="457200" rtl="0" algn="l">
              <a:lnSpc>
                <a:spcPct val="100000"/>
              </a:lnSpc>
              <a:spcBef>
                <a:spcPts val="1400"/>
              </a:spcBef>
              <a:spcAft>
                <a:spcPts val="0"/>
              </a:spcAft>
              <a:buSzPts val="2700"/>
              <a:buChar char="•"/>
            </a:pPr>
            <a:r>
              <a:rPr lang="zh-TW"/>
              <a:t>Stable diffusion</a:t>
            </a:r>
            <a:r>
              <a:rPr lang="zh-TW"/>
              <a:t>應用UI執行</a:t>
            </a:r>
            <a:endParaRPr/>
          </a:p>
          <a:p>
            <a:pPr indent="-285750" lvl="0" marL="685800" rtl="0" algn="l">
              <a:lnSpc>
                <a:spcPct val="100000"/>
              </a:lnSpc>
              <a:spcBef>
                <a:spcPts val="1400"/>
              </a:spcBef>
              <a:spcAft>
                <a:spcPts val="0"/>
              </a:spcAft>
              <a:buSzPts val="2700"/>
              <a:buFont typeface="Arial"/>
              <a:buNone/>
            </a:pPr>
            <a:r>
              <a:t/>
            </a:r>
            <a:endParaRPr/>
          </a:p>
        </p:txBody>
      </p:sp>
      <p:sp>
        <p:nvSpPr>
          <p:cNvPr id="146" name="Google Shape;146;p1"/>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152" name="Google Shape;152;p4"/>
          <p:cNvSpPr txBox="1"/>
          <p:nvPr>
            <p:ph type="ctrTitle"/>
          </p:nvPr>
        </p:nvSpPr>
        <p:spPr>
          <a:xfrm>
            <a:off x="966788" y="2241418"/>
            <a:ext cx="6356400" cy="292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4300"/>
              <a:buFont typeface="Microsoft JhengHei"/>
              <a:buNone/>
            </a:pPr>
            <a:r>
              <a:rPr lang="zh-TW"/>
              <a:t>介紹</a:t>
            </a:r>
            <a:endParaRPr/>
          </a:p>
        </p:txBody>
      </p:sp>
      <p:sp>
        <p:nvSpPr>
          <p:cNvPr id="153" name="Google Shape;153;p4"/>
          <p:cNvSpPr txBox="1"/>
          <p:nvPr>
            <p:ph idx="1"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02</a:t>
            </a:r>
            <a:endParaRPr/>
          </a:p>
        </p:txBody>
      </p:sp>
      <p:sp>
        <p:nvSpPr>
          <p:cNvPr id="154" name="Google Shape;154;p4"/>
          <p:cNvSpPr txBox="1"/>
          <p:nvPr>
            <p:ph idx="2"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346be64357_0_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160" name="Google Shape;160;g3346be64357_0_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161" name="Google Shape;161;g3346be64357_0_0"/>
          <p:cNvSpPr txBox="1"/>
          <p:nvPr>
            <p:ph idx="2" type="body"/>
          </p:nvPr>
        </p:nvSpPr>
        <p:spPr>
          <a:xfrm>
            <a:off x="954100" y="1618600"/>
            <a:ext cx="10102800" cy="4362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t>Stable diffusion是一種潛在</a:t>
            </a:r>
            <a:r>
              <a:rPr lang="zh-TW" sz="1600" u="sng">
                <a:solidFill>
                  <a:schemeClr val="hlink"/>
                </a:solidFill>
                <a:hlinkClick r:id="rId3"/>
              </a:rPr>
              <a:t>擴散模型</a:t>
            </a:r>
            <a:r>
              <a:rPr lang="zh-TW" sz="1600"/>
              <a:t>（latent diffusion model; LDM），是2022年發布的深度學習文字到圖像生成模型，由初創公司StabilityAI、CompVis與Runway合作開發</a:t>
            </a:r>
            <a:r>
              <a:rPr lang="zh-TW" sz="1200">
                <a:solidFill>
                  <a:srgbClr val="202122"/>
                </a:solidFill>
                <a:highlight>
                  <a:srgbClr val="FFFFFF"/>
                </a:highlight>
                <a:latin typeface="Arial"/>
                <a:ea typeface="Arial"/>
                <a:cs typeface="Arial"/>
                <a:sym typeface="Arial"/>
              </a:rPr>
              <a:t>。     </a:t>
            </a:r>
            <a:r>
              <a:rPr lang="zh-TW" sz="1200" u="sng">
                <a:solidFill>
                  <a:schemeClr val="hlink"/>
                </a:solidFill>
                <a:highlight>
                  <a:srgbClr val="FFFFFF"/>
                </a:highlight>
                <a:latin typeface="Arial"/>
                <a:ea typeface="Arial"/>
                <a:cs typeface="Arial"/>
                <a:sym typeface="Arial"/>
                <a:hlinkClick r:id="rId4"/>
              </a:rPr>
              <a:t>arxiv</a:t>
            </a:r>
            <a:endParaRPr sz="1200">
              <a:solidFill>
                <a:srgbClr val="202122"/>
              </a:solidFill>
              <a:highlight>
                <a:srgbClr val="FFFFFF"/>
              </a:highlight>
              <a:latin typeface="Arial"/>
              <a:ea typeface="Arial"/>
              <a:cs typeface="Arial"/>
              <a:sym typeface="Arial"/>
            </a:endParaRPr>
          </a:p>
          <a:p>
            <a:pPr indent="0" lvl="0" marL="0" rtl="0" algn="l">
              <a:lnSpc>
                <a:spcPct val="150000"/>
              </a:lnSpc>
              <a:spcBef>
                <a:spcPts val="0"/>
              </a:spcBef>
              <a:spcAft>
                <a:spcPts val="0"/>
              </a:spcAft>
              <a:buNone/>
            </a:pPr>
            <a:r>
              <a:rPr lang="zh-TW" sz="1600">
                <a:solidFill>
                  <a:srgbClr val="202122"/>
                </a:solidFill>
                <a:highlight>
                  <a:srgbClr val="FFFFFF"/>
                </a:highlight>
              </a:rPr>
              <a:t>Stable Diffusion 的主要步驟：</a:t>
            </a:r>
            <a:endParaRPr sz="1600">
              <a:solidFill>
                <a:srgbClr val="202122"/>
              </a:solidFill>
              <a:highlight>
                <a:srgbClr val="FFFFFF"/>
              </a:highlight>
            </a:endParaRPr>
          </a:p>
          <a:p>
            <a:pPr indent="-330200" lvl="0" marL="457200" rtl="0" algn="l">
              <a:lnSpc>
                <a:spcPct val="150000"/>
              </a:lnSpc>
              <a:spcBef>
                <a:spcPts val="0"/>
              </a:spcBef>
              <a:spcAft>
                <a:spcPts val="0"/>
              </a:spcAft>
              <a:buClr>
                <a:srgbClr val="202122"/>
              </a:buClr>
              <a:buSzPts val="1600"/>
              <a:buAutoNum type="arabicPeriod"/>
            </a:pPr>
            <a:r>
              <a:rPr lang="zh-TW" sz="1600">
                <a:solidFill>
                  <a:srgbClr val="202122"/>
                </a:solidFill>
                <a:highlight>
                  <a:srgbClr val="FFFFFF"/>
                </a:highlight>
              </a:rPr>
              <a:t>文本嵌入 (Text Encoding)：將輸入的文字轉換為數字向量，使模型能理解描述內容。使用</a:t>
            </a:r>
            <a:r>
              <a:rPr lang="zh-TW" sz="1600" u="sng">
                <a:solidFill>
                  <a:schemeClr val="hlink"/>
                </a:solidFill>
                <a:highlight>
                  <a:srgbClr val="FFFFFF"/>
                </a:highlight>
                <a:hlinkClick r:id="rId5"/>
              </a:rPr>
              <a:t>CLIP</a:t>
            </a:r>
            <a:r>
              <a:rPr lang="zh-TW" sz="1600">
                <a:solidFill>
                  <a:srgbClr val="202122"/>
                </a:solidFill>
                <a:highlight>
                  <a:srgbClr val="FFFFFF"/>
                </a:highlight>
              </a:rPr>
              <a:t>模型來解析文本，將輸入的 Prompt 轉換成「</a:t>
            </a:r>
            <a:r>
              <a:rPr lang="zh-TW" sz="1600" u="sng">
                <a:solidFill>
                  <a:schemeClr val="hlink"/>
                </a:solidFill>
                <a:highlight>
                  <a:srgbClr val="FFFFFF"/>
                </a:highlight>
                <a:hlinkClick r:id="rId6"/>
              </a:rPr>
              <a:t>潛在空間 (Latent Space)</a:t>
            </a:r>
            <a:r>
              <a:rPr lang="zh-TW" sz="1600">
                <a:solidFill>
                  <a:srgbClr val="202122"/>
                </a:solidFill>
                <a:highlight>
                  <a:srgbClr val="FFFFFF"/>
                </a:highlight>
              </a:rPr>
              <a:t>」的向量表示。</a:t>
            </a:r>
            <a:endParaRPr sz="1600">
              <a:solidFill>
                <a:srgbClr val="202122"/>
              </a:solidFill>
              <a:highlight>
                <a:srgbClr val="FFFFFF"/>
              </a:highlight>
            </a:endParaRPr>
          </a:p>
          <a:p>
            <a:pPr indent="-330200" lvl="0" marL="457200" rtl="0" algn="l">
              <a:lnSpc>
                <a:spcPct val="150000"/>
              </a:lnSpc>
              <a:spcBef>
                <a:spcPts val="0"/>
              </a:spcBef>
              <a:spcAft>
                <a:spcPts val="0"/>
              </a:spcAft>
              <a:buClr>
                <a:srgbClr val="202122"/>
              </a:buClr>
              <a:buSzPts val="1600"/>
              <a:buAutoNum type="arabicPeriod"/>
            </a:pPr>
            <a:r>
              <a:rPr lang="zh-TW" sz="1600">
                <a:solidFill>
                  <a:srgbClr val="202122"/>
                </a:solidFill>
                <a:highlight>
                  <a:srgbClr val="FFFFFF"/>
                </a:highlight>
              </a:rPr>
              <a:t>噪聲添加 (Forward Diffusion Process)：在訓練過程，透過一系列步驟，將圖像逐漸轉換為純</a:t>
            </a:r>
            <a:r>
              <a:rPr lang="zh-TW" sz="1600" u="sng">
                <a:solidFill>
                  <a:schemeClr val="hlink"/>
                </a:solidFill>
                <a:highlight>
                  <a:srgbClr val="FFFFFF"/>
                </a:highlight>
                <a:hlinkClick r:id="rId7"/>
              </a:rPr>
              <a:t>高斯噪聲</a:t>
            </a:r>
            <a:r>
              <a:rPr lang="zh-TW" sz="1600">
                <a:solidFill>
                  <a:srgbClr val="202122"/>
                </a:solidFill>
                <a:highlight>
                  <a:srgbClr val="FFFFFF"/>
                </a:highlight>
              </a:rPr>
              <a:t>，使模型學習如何從雜訊中還原圖像。</a:t>
            </a:r>
            <a:endParaRPr sz="1600">
              <a:solidFill>
                <a:srgbClr val="202122"/>
              </a:solidFill>
              <a:highlight>
                <a:srgbClr val="FFFFFF"/>
              </a:highlight>
            </a:endParaRPr>
          </a:p>
          <a:p>
            <a:pPr indent="-330200" lvl="0" marL="457200" rtl="0" algn="l">
              <a:lnSpc>
                <a:spcPct val="150000"/>
              </a:lnSpc>
              <a:spcBef>
                <a:spcPts val="0"/>
              </a:spcBef>
              <a:spcAft>
                <a:spcPts val="0"/>
              </a:spcAft>
              <a:buClr>
                <a:srgbClr val="202122"/>
              </a:buClr>
              <a:buSzPts val="1600"/>
              <a:buAutoNum type="arabicPeriod"/>
            </a:pPr>
            <a:r>
              <a:rPr lang="zh-TW" sz="1600">
                <a:solidFill>
                  <a:srgbClr val="202122"/>
                </a:solidFill>
                <a:highlight>
                  <a:srgbClr val="FFFFFF"/>
                </a:highlight>
              </a:rPr>
              <a:t>反向擴散 (Reverse Diffusion Process)：透過訓練過的模型(</a:t>
            </a:r>
            <a:r>
              <a:rPr lang="zh-TW" sz="1600" u="sng">
                <a:solidFill>
                  <a:schemeClr val="hlink"/>
                </a:solidFill>
                <a:highlight>
                  <a:srgbClr val="FFFFFF"/>
                </a:highlight>
                <a:hlinkClick r:id="rId8"/>
              </a:rPr>
              <a:t>U-Net</a:t>
            </a:r>
            <a:r>
              <a:rPr lang="zh-TW" sz="1600">
                <a:solidFill>
                  <a:srgbClr val="202122"/>
                </a:solidFill>
                <a:highlight>
                  <a:srgbClr val="FFFFFF"/>
                </a:highlight>
              </a:rPr>
              <a:t>)(也可稱noise predictor)，根據文字提示從純噪聲(Random noise)中恢復出合理的圖像。</a:t>
            </a:r>
            <a:endParaRPr sz="1600">
              <a:solidFill>
                <a:srgbClr val="202122"/>
              </a:solidFill>
              <a:highlight>
                <a:srgbClr val="FFFFFF"/>
              </a:highlight>
            </a:endParaRPr>
          </a:p>
          <a:p>
            <a:pPr indent="-330200" lvl="0" marL="457200" rtl="0" algn="l">
              <a:lnSpc>
                <a:spcPct val="150000"/>
              </a:lnSpc>
              <a:spcBef>
                <a:spcPts val="0"/>
              </a:spcBef>
              <a:spcAft>
                <a:spcPts val="0"/>
              </a:spcAft>
              <a:buClr>
                <a:srgbClr val="202122"/>
              </a:buClr>
              <a:buSzPts val="1600"/>
              <a:buAutoNum type="arabicPeriod"/>
            </a:pPr>
            <a:r>
              <a:rPr lang="zh-TW" sz="1600">
                <a:solidFill>
                  <a:srgbClr val="202122"/>
                </a:solidFill>
                <a:highlight>
                  <a:srgbClr val="FFFFFF"/>
                </a:highlight>
              </a:rPr>
              <a:t>圖像解碼 (Decoding)：將noise predictor生成的「潛在圖像 (Latent Image)」轉換為最終可見的圖像(</a:t>
            </a:r>
            <a:r>
              <a:rPr lang="zh-TW" sz="1600" u="sng">
                <a:solidFill>
                  <a:schemeClr val="hlink"/>
                </a:solidFill>
                <a:highlight>
                  <a:srgbClr val="FFFFFF"/>
                </a:highlight>
                <a:hlinkClick r:id="rId9"/>
              </a:rPr>
              <a:t>VAE</a:t>
            </a:r>
            <a:r>
              <a:rPr lang="zh-TW" sz="1600">
                <a:solidFill>
                  <a:srgbClr val="202122"/>
                </a:solidFill>
                <a:highlight>
                  <a:srgbClr val="FFFFFF"/>
                </a:highlight>
              </a:rPr>
              <a:t>解碼)。</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162" name="Google Shape;162;g3346be64357_0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3888b6f85a_0_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168" name="Google Shape;168;g33888b6f85a_0_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169" name="Google Shape;169;g33888b6f85a_0_0"/>
          <p:cNvSpPr txBox="1"/>
          <p:nvPr>
            <p:ph idx="2" type="body"/>
          </p:nvPr>
        </p:nvSpPr>
        <p:spPr>
          <a:xfrm>
            <a:off x="954100" y="1618600"/>
            <a:ext cx="10102800" cy="1272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當我們說一張圖片看起來像是真的，在數學上表示：該圖片的像素點不是雜亂的。</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圖片的本質是一串數字或是向量，每個像素點保存的就是該點的RGB信息，當我們把每個數字當成是一個座標，那麼一張圖片就變成了一個向量，這個向量所在的空間叫做像素空間(Pixal Space)。</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170" name="Google Shape;170;g33888b6f85a_0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171" name="Google Shape;171;g33888b6f85a_0_0" title="螢幕擷取畫面 2025-03-17 195157.jpg"/>
          <p:cNvPicPr preferRelativeResize="0"/>
          <p:nvPr/>
        </p:nvPicPr>
        <p:blipFill>
          <a:blip r:embed="rId3">
            <a:alphaModFix/>
          </a:blip>
          <a:stretch>
            <a:fillRect/>
          </a:stretch>
        </p:blipFill>
        <p:spPr>
          <a:xfrm>
            <a:off x="2110525" y="2627150"/>
            <a:ext cx="5227524" cy="3474125"/>
          </a:xfrm>
          <a:prstGeom prst="rect">
            <a:avLst/>
          </a:prstGeom>
          <a:noFill/>
          <a:ln>
            <a:noFill/>
          </a:ln>
        </p:spPr>
      </p:pic>
      <p:sp>
        <p:nvSpPr>
          <p:cNvPr id="172" name="Google Shape;172;g33888b6f85a_0_0"/>
          <p:cNvSpPr txBox="1"/>
          <p:nvPr/>
        </p:nvSpPr>
        <p:spPr>
          <a:xfrm>
            <a:off x="3340600" y="4091325"/>
            <a:ext cx="129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accent3"/>
                </a:solidFill>
              </a:rPr>
              <a:t>Pixal Space</a:t>
            </a:r>
            <a:endParaRPr b="1">
              <a:solidFill>
                <a:schemeClr val="accent3"/>
              </a:solidFill>
            </a:endParaRPr>
          </a:p>
        </p:txBody>
      </p:sp>
      <p:sp>
        <p:nvSpPr>
          <p:cNvPr id="173" name="Google Shape;173;g33888b6f85a_0_0"/>
          <p:cNvSpPr/>
          <p:nvPr/>
        </p:nvSpPr>
        <p:spPr>
          <a:xfrm>
            <a:off x="5975475" y="2692675"/>
            <a:ext cx="1200300" cy="11910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4" name="Google Shape;174;g33888b6f85a_0_0"/>
          <p:cNvCxnSpPr>
            <a:stCxn id="173" idx="3"/>
          </p:cNvCxnSpPr>
          <p:nvPr/>
        </p:nvCxnSpPr>
        <p:spPr>
          <a:xfrm>
            <a:off x="7175775" y="3288175"/>
            <a:ext cx="676500" cy="324900"/>
          </a:xfrm>
          <a:prstGeom prst="straightConnector1">
            <a:avLst/>
          </a:prstGeom>
          <a:noFill/>
          <a:ln cap="flat" cmpd="sng" w="19050">
            <a:solidFill>
              <a:schemeClr val="accent5"/>
            </a:solidFill>
            <a:prstDash val="solid"/>
            <a:round/>
            <a:headEnd len="med" w="med" type="none"/>
            <a:tailEnd len="med" w="med" type="none"/>
          </a:ln>
        </p:spPr>
      </p:cxnSp>
      <p:sp>
        <p:nvSpPr>
          <p:cNvPr id="175" name="Google Shape;175;g33888b6f85a_0_0"/>
          <p:cNvSpPr txBox="1"/>
          <p:nvPr/>
        </p:nvSpPr>
        <p:spPr>
          <a:xfrm>
            <a:off x="7852275" y="3396525"/>
            <a:ext cx="3204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accent5"/>
                </a:solidFill>
              </a:rPr>
              <a:t>取像素空間中的一個向量，將其座標轉化成顏色，便能得出一張照片。</a:t>
            </a:r>
            <a:endParaRPr b="1">
              <a:solidFill>
                <a:schemeClr val="accent5"/>
              </a:solidFill>
            </a:endParaRPr>
          </a:p>
          <a:p>
            <a:pPr indent="0" lvl="0" marL="0" rtl="0" algn="l">
              <a:spcBef>
                <a:spcPts val="0"/>
              </a:spcBef>
              <a:spcAft>
                <a:spcPts val="0"/>
              </a:spcAft>
              <a:buNone/>
            </a:pPr>
            <a:r>
              <a:t/>
            </a:r>
            <a:endParaRPr b="1">
              <a:solidFill>
                <a:schemeClr val="accent5"/>
              </a:solidFill>
            </a:endParaRPr>
          </a:p>
          <a:p>
            <a:pPr indent="0" lvl="0" marL="0" rtl="0" algn="l">
              <a:spcBef>
                <a:spcPts val="0"/>
              </a:spcBef>
              <a:spcAft>
                <a:spcPts val="0"/>
              </a:spcAft>
              <a:buNone/>
            </a:pPr>
            <a:r>
              <a:rPr b="1" lang="zh-TW">
                <a:solidFill>
                  <a:schemeClr val="dk1"/>
                </a:solidFill>
              </a:rPr>
              <a:t>絕大部分像素空間中的向量對應的圖片都是無意義的噪聲(noise)</a:t>
            </a:r>
            <a:endParaRPr b="1">
              <a:solidFill>
                <a:schemeClr val="dk1"/>
              </a:solidFill>
            </a:endParaRPr>
          </a:p>
        </p:txBody>
      </p:sp>
      <p:sp>
        <p:nvSpPr>
          <p:cNvPr id="176" name="Google Shape;176;g33888b6f85a_0_0"/>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https://www.youtube.com/watch?v=FMKa4075VZg</a:t>
            </a:r>
            <a:endParaRPr sz="1600">
              <a:solidFill>
                <a:srgbClr val="202122"/>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3888b6f85a_0_1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182" name="Google Shape;182;g33888b6f85a_0_1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183" name="Google Shape;183;g33888b6f85a_0_12"/>
          <p:cNvSpPr txBox="1"/>
          <p:nvPr>
            <p:ph idx="2" type="body"/>
          </p:nvPr>
        </p:nvSpPr>
        <p:spPr>
          <a:xfrm>
            <a:off x="954100" y="1618600"/>
            <a:ext cx="101028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只有極少部分位置的向量所代表的圖片才是有意義的。</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184" name="Google Shape;184;g33888b6f85a_0_1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185" name="Google Shape;185;g33888b6f85a_0_12" title="螢幕擷取畫面 2025-03-18 124156.jpg"/>
          <p:cNvPicPr preferRelativeResize="0"/>
          <p:nvPr/>
        </p:nvPicPr>
        <p:blipFill>
          <a:blip r:embed="rId3">
            <a:alphaModFix/>
          </a:blip>
          <a:stretch>
            <a:fillRect/>
          </a:stretch>
        </p:blipFill>
        <p:spPr>
          <a:xfrm>
            <a:off x="2058824" y="2111575"/>
            <a:ext cx="7893350" cy="3892775"/>
          </a:xfrm>
          <a:prstGeom prst="rect">
            <a:avLst/>
          </a:prstGeom>
          <a:noFill/>
          <a:ln>
            <a:noFill/>
          </a:ln>
        </p:spPr>
      </p:pic>
      <p:sp>
        <p:nvSpPr>
          <p:cNvPr id="186" name="Google Shape;186;g33888b6f85a_0_12"/>
          <p:cNvSpPr/>
          <p:nvPr/>
        </p:nvSpPr>
        <p:spPr>
          <a:xfrm>
            <a:off x="2402100" y="2187350"/>
            <a:ext cx="1335600" cy="1371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g33888b6f85a_0_12"/>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https://www.youtube.com/watch?v=FMKa4075VZg</a:t>
            </a:r>
            <a:endParaRPr sz="1600">
              <a:solidFill>
                <a:srgbClr val="202122"/>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3888b6f85a_0_2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193" name="Google Shape;193;g33888b6f85a_0_2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194" name="Google Shape;194;g33888b6f85a_0_25"/>
          <p:cNvSpPr txBox="1"/>
          <p:nvPr>
            <p:ph idx="2" type="body"/>
          </p:nvPr>
        </p:nvSpPr>
        <p:spPr>
          <a:xfrm>
            <a:off x="954100" y="1618600"/>
            <a:ext cx="10102800" cy="1002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因為圖像具有結構性，一張自然圖片通常是一團團色塊，意謂著大部分情況下一個像素其相鄰的像素顏色都差不多，這就對這些像素的數值構建起了約束，而隨機生成的像素通常不滿足這些約束，看起來就會是亂七八糟的噪聲了。</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195" name="Google Shape;195;g33888b6f85a_0_2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196" name="Google Shape;196;g33888b6f85a_0_25" title="螢幕擷取畫面 2025-03-18 124156.jpg"/>
          <p:cNvPicPr preferRelativeResize="0"/>
          <p:nvPr/>
        </p:nvPicPr>
        <p:blipFill>
          <a:blip r:embed="rId3">
            <a:alphaModFix/>
          </a:blip>
          <a:stretch>
            <a:fillRect/>
          </a:stretch>
        </p:blipFill>
        <p:spPr>
          <a:xfrm>
            <a:off x="2574900" y="2620600"/>
            <a:ext cx="6861205" cy="3383751"/>
          </a:xfrm>
          <a:prstGeom prst="rect">
            <a:avLst/>
          </a:prstGeom>
          <a:noFill/>
          <a:ln>
            <a:noFill/>
          </a:ln>
        </p:spPr>
      </p:pic>
      <p:sp>
        <p:nvSpPr>
          <p:cNvPr id="197" name="Google Shape;197;g33888b6f85a_0_25"/>
          <p:cNvSpPr/>
          <p:nvPr/>
        </p:nvSpPr>
        <p:spPr>
          <a:xfrm>
            <a:off x="2781100" y="4190600"/>
            <a:ext cx="1335600" cy="1371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g33888b6f85a_0_25"/>
          <p:cNvSpPr/>
          <p:nvPr/>
        </p:nvSpPr>
        <p:spPr>
          <a:xfrm>
            <a:off x="7914575" y="2700800"/>
            <a:ext cx="1335600" cy="28614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g33888b6f85a_0_25"/>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https://www.youtube.com/watch?v=FMKa4075VZg</a:t>
            </a:r>
            <a:endParaRPr sz="1600">
              <a:solidFill>
                <a:srgbClr val="202122"/>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3888b6f85a_0_3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05" name="Google Shape;205;g33888b6f85a_0_3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06" name="Google Shape;206;g33888b6f85a_0_38"/>
          <p:cNvSpPr txBox="1"/>
          <p:nvPr>
            <p:ph idx="2" type="body"/>
          </p:nvPr>
        </p:nvSpPr>
        <p:spPr>
          <a:xfrm>
            <a:off x="954100" y="1618600"/>
            <a:ext cx="10102800" cy="1002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一張圖片要象徵的除了色塊，還有結構、透視、光影、色彩等等要素，而在AI眼裡，所有這些複雜的要求無非就是只有極少部分的向量所對應的圖片是看起來真實且有意義的，其就像一條礦脈；我們在真實世界裡收集圖片並做成數據集，就相當於在這條礦脈中標註出一些位置並告訴AI這些是有意義的。</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07" name="Google Shape;207;g33888b6f85a_0_3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08" name="Google Shape;208;g33888b6f85a_0_38" title="螢幕擷取畫面 2025-03-18 124156.jpg"/>
          <p:cNvPicPr preferRelativeResize="0"/>
          <p:nvPr/>
        </p:nvPicPr>
        <p:blipFill>
          <a:blip r:embed="rId3">
            <a:alphaModFix/>
          </a:blip>
          <a:stretch>
            <a:fillRect/>
          </a:stretch>
        </p:blipFill>
        <p:spPr>
          <a:xfrm>
            <a:off x="2574900" y="2620600"/>
            <a:ext cx="6861205" cy="3383751"/>
          </a:xfrm>
          <a:prstGeom prst="rect">
            <a:avLst/>
          </a:prstGeom>
          <a:noFill/>
          <a:ln>
            <a:noFill/>
          </a:ln>
        </p:spPr>
      </p:pic>
      <p:sp>
        <p:nvSpPr>
          <p:cNvPr id="209" name="Google Shape;209;g33888b6f85a_0_38"/>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https://www.youtube.com/watch?v=FMKa4075VZg</a:t>
            </a:r>
            <a:endParaRPr sz="1600">
              <a:solidFill>
                <a:srgbClr val="202122"/>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3888b6f85a_0_4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15" name="Google Shape;215;g33888b6f85a_0_4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16" name="Google Shape;216;g33888b6f85a_0_48"/>
          <p:cNvSpPr txBox="1"/>
          <p:nvPr>
            <p:ph idx="2" type="body"/>
          </p:nvPr>
        </p:nvSpPr>
        <p:spPr>
          <a:xfrm>
            <a:off x="954100" y="1618600"/>
            <a:ext cx="10102800" cy="1425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所以真正重要的是這條礦脈在像素空間裡它的形狀和結構是甚麼樣子的，這個觀點被稱作</a:t>
            </a:r>
            <a:r>
              <a:rPr lang="zh-TW" sz="1600" u="sng">
                <a:solidFill>
                  <a:schemeClr val="hlink"/>
                </a:solidFill>
                <a:highlight>
                  <a:srgbClr val="FFFFFF"/>
                </a:highlight>
                <a:hlinkClick r:id="rId3"/>
              </a:rPr>
              <a:t>流形假設</a:t>
            </a:r>
            <a:r>
              <a:rPr lang="zh-TW" sz="1600">
                <a:solidFill>
                  <a:srgbClr val="202122"/>
                </a:solidFill>
                <a:highlight>
                  <a:srgbClr val="FFFFFF"/>
                </a:highlight>
              </a:rPr>
              <a:t> (Manifold hypothesis)，簡單來說一張看起來真實的圖片本質上等價於其在像素空間中滿足某一特定的形狀結構。</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換句話說，只要從空間中的任一位置，可以一路走的這個流形結構上的某個點，那麼翻譯出來的這張圖片就是真實的。</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17" name="Google Shape;217;g33888b6f85a_0_4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18" name="Google Shape;218;g33888b6f85a_0_48" title="螢幕擷取畫面 2025-03-18 130846.jpg"/>
          <p:cNvPicPr preferRelativeResize="0"/>
          <p:nvPr/>
        </p:nvPicPr>
        <p:blipFill>
          <a:blip r:embed="rId4">
            <a:alphaModFix/>
          </a:blip>
          <a:stretch>
            <a:fillRect/>
          </a:stretch>
        </p:blipFill>
        <p:spPr>
          <a:xfrm>
            <a:off x="2248518" y="3044500"/>
            <a:ext cx="7513961" cy="2858071"/>
          </a:xfrm>
          <a:prstGeom prst="rect">
            <a:avLst/>
          </a:prstGeom>
          <a:noFill/>
          <a:ln>
            <a:noFill/>
          </a:ln>
        </p:spPr>
      </p:pic>
      <p:sp>
        <p:nvSpPr>
          <p:cNvPr id="219" name="Google Shape;219;g33888b6f85a_0_48"/>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5"/>
              </a:rPr>
              <a:t>https://www.youtube.com/watch?v=FMKa4075VZg</a:t>
            </a:r>
            <a:endParaRPr sz="1600">
              <a:solidFill>
                <a:srgbClr val="202122"/>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3888b6f85a_0_5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25" name="Google Shape;225;g33888b6f85a_0_5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26" name="Google Shape;226;g33888b6f85a_0_59"/>
          <p:cNvSpPr txBox="1"/>
          <p:nvPr>
            <p:ph idx="2" type="body"/>
          </p:nvPr>
        </p:nvSpPr>
        <p:spPr>
          <a:xfrm>
            <a:off x="954100" y="161860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而需要訓練的神經網路被稱作噪聲預測器(noise predictor)，其訓練方式便是為圖片一步步添加隨機噪聲使其變得嘈雜，而</a:t>
            </a:r>
            <a:r>
              <a:rPr lang="zh-TW" sz="1600">
                <a:solidFill>
                  <a:srgbClr val="202122"/>
                </a:solidFill>
                <a:highlight>
                  <a:schemeClr val="lt1"/>
                </a:highlight>
              </a:rPr>
              <a:t>noise predictor的訓練會以正確答案為基準，最終識別出圖像中添加了多少次噪聲。</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27" name="Google Shape;227;g33888b6f85a_0_5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28" name="Google Shape;228;g33888b6f85a_0_59" title="be78621e3fdeeb89.jpg"/>
          <p:cNvPicPr preferRelativeResize="0"/>
          <p:nvPr/>
        </p:nvPicPr>
        <p:blipFill>
          <a:blip r:embed="rId3">
            <a:alphaModFix/>
          </a:blip>
          <a:stretch>
            <a:fillRect/>
          </a:stretch>
        </p:blipFill>
        <p:spPr>
          <a:xfrm>
            <a:off x="2940125" y="2457000"/>
            <a:ext cx="6130725" cy="3510750"/>
          </a:xfrm>
          <a:prstGeom prst="rect">
            <a:avLst/>
          </a:prstGeom>
          <a:noFill/>
          <a:ln>
            <a:noFill/>
          </a:ln>
        </p:spPr>
      </p:pic>
      <p:sp>
        <p:nvSpPr>
          <p:cNvPr id="229" name="Google Shape;229;g33888b6f85a_0_59"/>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https://www.aiuai.cn/aifarm2083.html</a:t>
            </a:r>
            <a:endParaRPr sz="1600">
              <a:solidFill>
                <a:srgbClr val="202122"/>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3888b6f85a_0_6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35" name="Google Shape;235;g33888b6f85a_0_6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36" name="Google Shape;236;g33888b6f85a_0_68"/>
          <p:cNvSpPr txBox="1"/>
          <p:nvPr>
            <p:ph idx="2" type="body"/>
          </p:nvPr>
        </p:nvSpPr>
        <p:spPr>
          <a:xfrm>
            <a:off x="954100" y="1618600"/>
            <a:ext cx="10102800" cy="1046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有了</a:t>
            </a:r>
            <a:r>
              <a:rPr lang="zh-TW" sz="1600">
                <a:solidFill>
                  <a:srgbClr val="202122"/>
                </a:solidFill>
                <a:highlight>
                  <a:srgbClr val="FFFFFF"/>
                </a:highlight>
              </a:rPr>
              <a:t>noise predictor</a:t>
            </a:r>
            <a:r>
              <a:rPr lang="zh-TW" sz="1600">
                <a:solidFill>
                  <a:srgbClr val="202122"/>
                </a:solidFill>
                <a:highlight>
                  <a:srgbClr val="FFFFFF"/>
                </a:highlight>
              </a:rPr>
              <a:t>後，便可以先生成一張隨機噪聲圖(random noise)，透過</a:t>
            </a:r>
            <a:r>
              <a:rPr lang="zh-TW" sz="1600">
                <a:solidFill>
                  <a:srgbClr val="202122"/>
                </a:solidFill>
                <a:highlight>
                  <a:schemeClr val="lt1"/>
                </a:highlight>
              </a:rPr>
              <a:t>noise predictor告訴我們這張圖添加了幾次噪聲，使用noise predictor給出的噪聲圖從原始圖像中消除噪聲，重複步驟便可生成圖像，這個過程稱為反向擴散(Reverse process)。</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37" name="Google Shape;237;g33888b6f85a_0_6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38" name="Google Shape;238;g33888b6f85a_0_68" title="da7db367bf4368ef.jpg"/>
          <p:cNvPicPr preferRelativeResize="0"/>
          <p:nvPr/>
        </p:nvPicPr>
        <p:blipFill>
          <a:blip r:embed="rId3">
            <a:alphaModFix/>
          </a:blip>
          <a:stretch>
            <a:fillRect/>
          </a:stretch>
        </p:blipFill>
        <p:spPr>
          <a:xfrm>
            <a:off x="1537005" y="2736700"/>
            <a:ext cx="8936989" cy="3318271"/>
          </a:xfrm>
          <a:prstGeom prst="rect">
            <a:avLst/>
          </a:prstGeom>
          <a:noFill/>
          <a:ln>
            <a:noFill/>
          </a:ln>
        </p:spPr>
      </p:pic>
      <p:sp>
        <p:nvSpPr>
          <p:cNvPr id="239" name="Google Shape;239;g33888b6f85a_0_68"/>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https://www.aiuai.cn/aifarm2083.html</a:t>
            </a:r>
            <a:endParaRPr sz="1600">
              <a:solidFill>
                <a:srgbClr val="202122"/>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3888b6f85a_0_7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45" name="Google Shape;245;g33888b6f85a_0_7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46" name="Google Shape;246;g33888b6f85a_0_77"/>
          <p:cNvSpPr txBox="1"/>
          <p:nvPr>
            <p:ph idx="2" type="body"/>
          </p:nvPr>
        </p:nvSpPr>
        <p:spPr>
          <a:xfrm>
            <a:off x="954100" y="1618600"/>
            <a:ext cx="10102800" cy="1395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而Stable diffusion的設計是為了解決速度問題，由於像素空間非常大，一張512x512大小的RGB彩色影像，這將是一個768,432（512x512x3）維度的空間。</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為避免在高維影像空間中操作，首先將影像壓縮到稱為潛空間(Latent space)的區域中。潛空間大小比像素空間小了48倍。因此，模型所處理的計算資料量少很多，也因此比一般擴散模型快得多。</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47" name="Google Shape;247;g33888b6f85a_0_7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48" name="Google Shape;248;g33888b6f85a_0_77" title="8b02da6ca9916016.jpg"/>
          <p:cNvPicPr preferRelativeResize="0"/>
          <p:nvPr/>
        </p:nvPicPr>
        <p:blipFill>
          <a:blip r:embed="rId3">
            <a:alphaModFix/>
          </a:blip>
          <a:stretch>
            <a:fillRect/>
          </a:stretch>
        </p:blipFill>
        <p:spPr>
          <a:xfrm>
            <a:off x="3860324" y="3014500"/>
            <a:ext cx="6528200" cy="3040450"/>
          </a:xfrm>
          <a:prstGeom prst="rect">
            <a:avLst/>
          </a:prstGeom>
          <a:noFill/>
          <a:ln>
            <a:noFill/>
          </a:ln>
        </p:spPr>
      </p:pic>
      <p:sp>
        <p:nvSpPr>
          <p:cNvPr id="249" name="Google Shape;249;g33888b6f85a_0_77"/>
          <p:cNvSpPr txBox="1"/>
          <p:nvPr/>
        </p:nvSpPr>
        <p:spPr>
          <a:xfrm>
            <a:off x="1019975" y="4226925"/>
            <a:ext cx="260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實現影像潛空間壓縮的技術稱為變分自動編碼器（VAE）</a:t>
            </a:r>
            <a:endParaRPr/>
          </a:p>
        </p:txBody>
      </p:sp>
      <p:sp>
        <p:nvSpPr>
          <p:cNvPr id="250" name="Google Shape;250;g33888b6f85a_0_77"/>
          <p:cNvSpPr/>
          <p:nvPr/>
        </p:nvSpPr>
        <p:spPr>
          <a:xfrm>
            <a:off x="6155950" y="5697550"/>
            <a:ext cx="2066400" cy="315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1" name="Google Shape;251;g33888b6f85a_0_77"/>
          <p:cNvCxnSpPr>
            <a:stCxn id="250" idx="1"/>
            <a:endCxn id="249" idx="3"/>
          </p:cNvCxnSpPr>
          <p:nvPr/>
        </p:nvCxnSpPr>
        <p:spPr>
          <a:xfrm rot="10800000">
            <a:off x="3629350" y="4534600"/>
            <a:ext cx="2526600" cy="1320900"/>
          </a:xfrm>
          <a:prstGeom prst="straightConnector1">
            <a:avLst/>
          </a:prstGeom>
          <a:noFill/>
          <a:ln cap="flat" cmpd="sng" w="9525">
            <a:solidFill>
              <a:schemeClr val="accent3"/>
            </a:solidFill>
            <a:prstDash val="solid"/>
            <a:round/>
            <a:headEnd len="med" w="med" type="none"/>
            <a:tailEnd len="med" w="med" type="triangle"/>
          </a:ln>
        </p:spPr>
      </p:cxnSp>
      <p:sp>
        <p:nvSpPr>
          <p:cNvPr id="252" name="Google Shape;252;g33888b6f85a_0_77"/>
          <p:cNvSpPr txBox="1"/>
          <p:nvPr>
            <p:ph idx="2" type="body"/>
          </p:nvPr>
        </p:nvSpPr>
        <p:spPr>
          <a:xfrm>
            <a:off x="0" y="0"/>
            <a:ext cx="10102800" cy="965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4"/>
              </a:rPr>
              <a:t>https://www.aiuai.cn/aifarm2083.html</a:t>
            </a:r>
            <a:endParaRPr sz="1600">
              <a:solidFill>
                <a:srgbClr val="2021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3877c0d6fd_0_2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Stable diffusion</a:t>
            </a:r>
            <a:endParaRPr/>
          </a:p>
        </p:txBody>
      </p:sp>
      <p:sp>
        <p:nvSpPr>
          <p:cNvPr id="258" name="Google Shape;258;g33877c0d6fd_0_2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59" name="Google Shape;259;g33877c0d6fd_0_2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60" name="Google Shape;260;g33877c0d6fd_0_25" title="螢幕擷取畫面 2025-03-16 193724.jpg"/>
          <p:cNvPicPr preferRelativeResize="0"/>
          <p:nvPr/>
        </p:nvPicPr>
        <p:blipFill>
          <a:blip r:embed="rId3">
            <a:alphaModFix/>
          </a:blip>
          <a:stretch>
            <a:fillRect/>
          </a:stretch>
        </p:blipFill>
        <p:spPr>
          <a:xfrm>
            <a:off x="1394805" y="1551535"/>
            <a:ext cx="9138975" cy="4503437"/>
          </a:xfrm>
          <a:prstGeom prst="rect">
            <a:avLst/>
          </a:prstGeom>
          <a:noFill/>
          <a:ln>
            <a:noFill/>
          </a:ln>
        </p:spPr>
      </p:pic>
      <p:sp>
        <p:nvSpPr>
          <p:cNvPr id="261" name="Google Shape;261;g33877c0d6fd_0_25"/>
          <p:cNvSpPr/>
          <p:nvPr/>
        </p:nvSpPr>
        <p:spPr>
          <a:xfrm>
            <a:off x="2138025" y="1627075"/>
            <a:ext cx="670200" cy="27957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2" name="Google Shape;262;g33877c0d6fd_0_25"/>
          <p:cNvCxnSpPr>
            <a:stCxn id="261" idx="0"/>
          </p:cNvCxnSpPr>
          <p:nvPr/>
        </p:nvCxnSpPr>
        <p:spPr>
          <a:xfrm flipH="1" rot="10800000">
            <a:off x="2473125" y="1490875"/>
            <a:ext cx="366300" cy="136200"/>
          </a:xfrm>
          <a:prstGeom prst="straightConnector1">
            <a:avLst/>
          </a:prstGeom>
          <a:noFill/>
          <a:ln cap="flat" cmpd="sng" w="9525">
            <a:solidFill>
              <a:schemeClr val="accent2"/>
            </a:solidFill>
            <a:prstDash val="solid"/>
            <a:round/>
            <a:headEnd len="med" w="med" type="none"/>
            <a:tailEnd len="med" w="med" type="triangle"/>
          </a:ln>
        </p:spPr>
      </p:cxnSp>
      <p:sp>
        <p:nvSpPr>
          <p:cNvPr id="263" name="Google Shape;263;g33877c0d6fd_0_25"/>
          <p:cNvSpPr txBox="1"/>
          <p:nvPr/>
        </p:nvSpPr>
        <p:spPr>
          <a:xfrm>
            <a:off x="2808225" y="1271075"/>
            <a:ext cx="67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accent2"/>
                </a:solidFill>
              </a:rPr>
              <a:t>VAE</a:t>
            </a:r>
            <a:endParaRPr>
              <a:solidFill>
                <a:schemeClr val="accent2"/>
              </a:solidFill>
            </a:endParaRPr>
          </a:p>
        </p:txBody>
      </p:sp>
      <p:sp>
        <p:nvSpPr>
          <p:cNvPr id="264" name="Google Shape;264;g33877c0d6fd_0_25"/>
          <p:cNvSpPr/>
          <p:nvPr/>
        </p:nvSpPr>
        <p:spPr>
          <a:xfrm>
            <a:off x="3855150" y="1616600"/>
            <a:ext cx="4010100" cy="816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5" name="Google Shape;265;g33877c0d6fd_0_25"/>
          <p:cNvCxnSpPr>
            <a:stCxn id="264" idx="0"/>
          </p:cNvCxnSpPr>
          <p:nvPr/>
        </p:nvCxnSpPr>
        <p:spPr>
          <a:xfrm flipH="1" rot="10800000">
            <a:off x="5860200" y="1428200"/>
            <a:ext cx="486900" cy="188400"/>
          </a:xfrm>
          <a:prstGeom prst="straightConnector1">
            <a:avLst/>
          </a:prstGeom>
          <a:noFill/>
          <a:ln cap="flat" cmpd="sng" w="9525">
            <a:solidFill>
              <a:schemeClr val="accent3"/>
            </a:solidFill>
            <a:prstDash val="solid"/>
            <a:round/>
            <a:headEnd len="med" w="med" type="none"/>
            <a:tailEnd len="med" w="med" type="triangle"/>
          </a:ln>
        </p:spPr>
      </p:cxnSp>
      <p:sp>
        <p:nvSpPr>
          <p:cNvPr id="266" name="Google Shape;266;g33877c0d6fd_0_25"/>
          <p:cNvSpPr txBox="1"/>
          <p:nvPr/>
        </p:nvSpPr>
        <p:spPr>
          <a:xfrm>
            <a:off x="6347100" y="1216400"/>
            <a:ext cx="249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accent3"/>
                </a:solidFill>
              </a:rPr>
              <a:t>潛空間</a:t>
            </a:r>
            <a:endParaRPr b="1">
              <a:solidFill>
                <a:schemeClr val="accent3"/>
              </a:solidFill>
            </a:endParaRPr>
          </a:p>
        </p:txBody>
      </p:sp>
      <p:sp>
        <p:nvSpPr>
          <p:cNvPr id="267" name="Google Shape;267;g33877c0d6fd_0_25"/>
          <p:cNvSpPr/>
          <p:nvPr/>
        </p:nvSpPr>
        <p:spPr>
          <a:xfrm>
            <a:off x="4043600" y="2454225"/>
            <a:ext cx="4334700" cy="25338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g33877c0d6fd_0_25"/>
          <p:cNvSpPr txBox="1"/>
          <p:nvPr/>
        </p:nvSpPr>
        <p:spPr>
          <a:xfrm>
            <a:off x="7337000" y="2454225"/>
            <a:ext cx="10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accent4"/>
                </a:solidFill>
              </a:rPr>
              <a:t>noise predictor</a:t>
            </a:r>
            <a:endParaRPr b="1">
              <a:solidFill>
                <a:schemeClr val="accent4"/>
              </a:solidFill>
            </a:endParaRPr>
          </a:p>
        </p:txBody>
      </p:sp>
      <p:cxnSp>
        <p:nvCxnSpPr>
          <p:cNvPr id="269" name="Google Shape;269;g33877c0d6fd_0_25"/>
          <p:cNvCxnSpPr>
            <a:endCxn id="267" idx="3"/>
          </p:cNvCxnSpPr>
          <p:nvPr/>
        </p:nvCxnSpPr>
        <p:spPr>
          <a:xfrm flipH="1">
            <a:off x="8378300" y="2684625"/>
            <a:ext cx="1549500" cy="1036500"/>
          </a:xfrm>
          <a:prstGeom prst="straightConnector1">
            <a:avLst/>
          </a:prstGeom>
          <a:noFill/>
          <a:ln cap="flat" cmpd="sng" w="19050">
            <a:solidFill>
              <a:schemeClr val="dk1"/>
            </a:solidFill>
            <a:prstDash val="solid"/>
            <a:round/>
            <a:headEnd len="med" w="med" type="none"/>
            <a:tailEnd len="med" w="med" type="triangle"/>
          </a:ln>
        </p:spPr>
      </p:cxnSp>
      <p:sp>
        <p:nvSpPr>
          <p:cNvPr id="270" name="Google Shape;270;g33877c0d6fd_0_25"/>
          <p:cNvSpPr txBox="1"/>
          <p:nvPr/>
        </p:nvSpPr>
        <p:spPr>
          <a:xfrm>
            <a:off x="8713200" y="2929525"/>
            <a:ext cx="67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dk1"/>
                </a:solidFill>
              </a:rPr>
              <a:t>Clip</a:t>
            </a:r>
            <a:endParaRPr b="1">
              <a:solidFill>
                <a:schemeClr val="dk1"/>
              </a:solidFill>
            </a:endParaRPr>
          </a:p>
        </p:txBody>
      </p:sp>
      <p:sp>
        <p:nvSpPr>
          <p:cNvPr id="271" name="Google Shape;271;g33877c0d6fd_0_25"/>
          <p:cNvSpPr/>
          <p:nvPr/>
        </p:nvSpPr>
        <p:spPr>
          <a:xfrm>
            <a:off x="2975650" y="3249950"/>
            <a:ext cx="1183200" cy="1380300"/>
          </a:xfrm>
          <a:prstGeom prst="roundRect">
            <a:avLst>
              <a:gd fmla="val 16667" name="adj"/>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2" name="Google Shape;272;g33877c0d6fd_0_25"/>
          <p:cNvCxnSpPr>
            <a:stCxn id="271" idx="2"/>
          </p:cNvCxnSpPr>
          <p:nvPr/>
        </p:nvCxnSpPr>
        <p:spPr>
          <a:xfrm flipH="1">
            <a:off x="2609050" y="4630250"/>
            <a:ext cx="958200" cy="766200"/>
          </a:xfrm>
          <a:prstGeom prst="straightConnector1">
            <a:avLst/>
          </a:prstGeom>
          <a:noFill/>
          <a:ln cap="flat" cmpd="sng" w="9525">
            <a:solidFill>
              <a:srgbClr val="9900FF"/>
            </a:solidFill>
            <a:prstDash val="solid"/>
            <a:round/>
            <a:headEnd len="med" w="med" type="none"/>
            <a:tailEnd len="med" w="med" type="triangle"/>
          </a:ln>
        </p:spPr>
      </p:cxnSp>
      <p:sp>
        <p:nvSpPr>
          <p:cNvPr id="273" name="Google Shape;273;g33877c0d6fd_0_25"/>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zh-TW" sz="1200" u="sng">
                <a:solidFill>
                  <a:schemeClr val="hlink"/>
                </a:solidFill>
                <a:highlight>
                  <a:schemeClr val="lt1"/>
                </a:highlight>
                <a:hlinkClick r:id="rId4"/>
              </a:rPr>
              <a:t>arxiv</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9"/>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279" name="Google Shape;279;p9"/>
          <p:cNvSpPr txBox="1"/>
          <p:nvPr>
            <p:ph type="ctrTitle"/>
          </p:nvPr>
        </p:nvSpPr>
        <p:spPr>
          <a:xfrm>
            <a:off x="966803" y="2241425"/>
            <a:ext cx="8184900" cy="292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Stable diffusion</a:t>
            </a:r>
            <a:r>
              <a:rPr lang="zh-TW"/>
              <a:t>應用UI執行</a:t>
            </a:r>
            <a:endParaRPr/>
          </a:p>
        </p:txBody>
      </p:sp>
      <p:sp>
        <p:nvSpPr>
          <p:cNvPr id="280" name="Google Shape;280;p9"/>
          <p:cNvSpPr txBox="1"/>
          <p:nvPr>
            <p:ph idx="1"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03</a:t>
            </a:r>
            <a:endParaRPr/>
          </a:p>
        </p:txBody>
      </p:sp>
      <p:sp>
        <p:nvSpPr>
          <p:cNvPr id="281" name="Google Shape;281;p9"/>
          <p:cNvSpPr txBox="1"/>
          <p:nvPr>
            <p:ph idx="2"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5" name="Shape 285"/>
        <p:cNvGrpSpPr/>
        <p:nvPr/>
      </p:nvGrpSpPr>
      <p:grpSpPr>
        <a:xfrm>
          <a:off x="0" y="0"/>
          <a:ext cx="0" cy="0"/>
          <a:chOff x="0" y="0"/>
          <a:chExt cx="0" cy="0"/>
        </a:xfrm>
      </p:grpSpPr>
      <p:sp>
        <p:nvSpPr>
          <p:cNvPr id="286" name="Google Shape;286;g338b883c0f1_0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287" name="Google Shape;287;g338b883c0f1_0_0"/>
          <p:cNvSpPr txBox="1"/>
          <p:nvPr>
            <p:ph type="ctrTitle"/>
          </p:nvPr>
        </p:nvSpPr>
        <p:spPr>
          <a:xfrm>
            <a:off x="966803" y="2241425"/>
            <a:ext cx="8184900" cy="292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本地運行</a:t>
            </a:r>
            <a:endParaRPr/>
          </a:p>
        </p:txBody>
      </p:sp>
      <p:sp>
        <p:nvSpPr>
          <p:cNvPr id="288" name="Google Shape;288;g338b883c0f1_0_0"/>
          <p:cNvSpPr txBox="1"/>
          <p:nvPr>
            <p:ph idx="1" type="body"/>
          </p:nvPr>
        </p:nvSpPr>
        <p:spPr>
          <a:xfrm>
            <a:off x="966788" y="808035"/>
            <a:ext cx="3748200" cy="1030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04</a:t>
            </a:r>
            <a:endParaRPr/>
          </a:p>
        </p:txBody>
      </p:sp>
      <p:sp>
        <p:nvSpPr>
          <p:cNvPr id="289" name="Google Shape;289;g338b883c0f1_0_0"/>
          <p:cNvSpPr txBox="1"/>
          <p:nvPr>
            <p:ph idx="2"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g338a17e2327_1_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ComfyUI</a:t>
            </a:r>
            <a:endParaRPr/>
          </a:p>
        </p:txBody>
      </p:sp>
      <p:sp>
        <p:nvSpPr>
          <p:cNvPr id="295" name="Google Shape;295;g338a17e2327_1_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296" name="Google Shape;296;g338a17e2327_1_0"/>
          <p:cNvSpPr txBox="1"/>
          <p:nvPr>
            <p:ph idx="2" type="body"/>
          </p:nvPr>
        </p:nvSpPr>
        <p:spPr>
          <a:xfrm>
            <a:off x="954100" y="1618600"/>
            <a:ext cx="101028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3"/>
              </a:rPr>
              <a:t>ComfyUI</a:t>
            </a:r>
            <a:r>
              <a:rPr lang="zh-TW" sz="1600">
                <a:solidFill>
                  <a:srgbClr val="202122"/>
                </a:solidFill>
                <a:highlight>
                  <a:srgbClr val="FFFFFF"/>
                </a:highlight>
              </a:rPr>
              <a:t>是一款開源的AI繪圖軟體，用於精準控制Stable diffusion AI繪圖的生圖流程。</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297" name="Google Shape;297;g338a17e2327_1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298" name="Google Shape;298;g338a17e2327_1_0" title="387336446-7ccaf2c1-9b72-41ae-9a89-5688c94b7abe.png"/>
          <p:cNvPicPr preferRelativeResize="0"/>
          <p:nvPr/>
        </p:nvPicPr>
        <p:blipFill>
          <a:blip r:embed="rId4">
            <a:alphaModFix/>
          </a:blip>
          <a:stretch>
            <a:fillRect/>
          </a:stretch>
        </p:blipFill>
        <p:spPr>
          <a:xfrm>
            <a:off x="2517274" y="1978750"/>
            <a:ext cx="6976449" cy="41158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2" name="Shape 302"/>
        <p:cNvGrpSpPr/>
        <p:nvPr/>
      </p:nvGrpSpPr>
      <p:grpSpPr>
        <a:xfrm>
          <a:off x="0" y="0"/>
          <a:ext cx="0" cy="0"/>
          <a:chOff x="0" y="0"/>
          <a:chExt cx="0" cy="0"/>
        </a:xfrm>
      </p:grpSpPr>
      <p:sp>
        <p:nvSpPr>
          <p:cNvPr id="303" name="Google Shape;303;g338a17e2327_1_2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下載</a:t>
            </a:r>
            <a:endParaRPr/>
          </a:p>
        </p:txBody>
      </p:sp>
      <p:sp>
        <p:nvSpPr>
          <p:cNvPr id="304" name="Google Shape;304;g338a17e2327_1_2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05" name="Google Shape;305;g338a17e2327_1_25"/>
          <p:cNvSpPr txBox="1"/>
          <p:nvPr>
            <p:ph idx="2" type="body"/>
          </p:nvPr>
        </p:nvSpPr>
        <p:spPr>
          <a:xfrm>
            <a:off x="954100" y="1618600"/>
            <a:ext cx="10102800" cy="451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推薦給擁有Nvidia顯示卡，顯存在12G以上的同學嘗試(8G應該也能試試看)。</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06" name="Google Shape;306;g338a17e2327_1_2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07" name="Google Shape;307;g338a17e2327_1_25" title="螢幕擷取畫面 2025-03-18 185154.jpg"/>
          <p:cNvPicPr preferRelativeResize="0"/>
          <p:nvPr/>
        </p:nvPicPr>
        <p:blipFill>
          <a:blip r:embed="rId3">
            <a:alphaModFix/>
          </a:blip>
          <a:stretch>
            <a:fillRect/>
          </a:stretch>
        </p:blipFill>
        <p:spPr>
          <a:xfrm>
            <a:off x="2428125" y="2070100"/>
            <a:ext cx="7154751" cy="4015474"/>
          </a:xfrm>
          <a:prstGeom prst="rect">
            <a:avLst/>
          </a:prstGeom>
          <a:noFill/>
          <a:ln>
            <a:noFill/>
          </a:ln>
        </p:spPr>
      </p:pic>
      <p:sp>
        <p:nvSpPr>
          <p:cNvPr id="308" name="Google Shape;308;g338a17e2327_1_25"/>
          <p:cNvSpPr/>
          <p:nvPr/>
        </p:nvSpPr>
        <p:spPr>
          <a:xfrm>
            <a:off x="2474300" y="3685275"/>
            <a:ext cx="1940100" cy="3699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9" name="Google Shape;309;g338a17e2327_1_25"/>
          <p:cNvCxnSpPr>
            <a:stCxn id="310" idx="0"/>
            <a:endCxn id="308" idx="1"/>
          </p:cNvCxnSpPr>
          <p:nvPr/>
        </p:nvCxnSpPr>
        <p:spPr>
          <a:xfrm flipH="1" rot="10800000">
            <a:off x="1689300" y="3870225"/>
            <a:ext cx="785100" cy="302400"/>
          </a:xfrm>
          <a:prstGeom prst="straightConnector1">
            <a:avLst/>
          </a:prstGeom>
          <a:noFill/>
          <a:ln cap="flat" cmpd="sng" w="9525">
            <a:solidFill>
              <a:srgbClr val="00FFFF"/>
            </a:solidFill>
            <a:prstDash val="solid"/>
            <a:round/>
            <a:headEnd len="med" w="med" type="none"/>
            <a:tailEnd len="med" w="med" type="triangle"/>
          </a:ln>
        </p:spPr>
      </p:cxnSp>
      <p:sp>
        <p:nvSpPr>
          <p:cNvPr id="310" name="Google Shape;310;g338a17e2327_1_25"/>
          <p:cNvSpPr txBox="1"/>
          <p:nvPr/>
        </p:nvSpPr>
        <p:spPr>
          <a:xfrm>
            <a:off x="1021500" y="4172625"/>
            <a:ext cx="133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點擊便可下載</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g338b883c0f1_0_14"/>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下載</a:t>
            </a:r>
            <a:endParaRPr/>
          </a:p>
        </p:txBody>
      </p:sp>
      <p:sp>
        <p:nvSpPr>
          <p:cNvPr id="316" name="Google Shape;316;g338b883c0f1_0_14"/>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17" name="Google Shape;317;g338b883c0f1_0_14"/>
          <p:cNvSpPr txBox="1"/>
          <p:nvPr>
            <p:ph idx="2" type="body"/>
          </p:nvPr>
        </p:nvSpPr>
        <p:spPr>
          <a:xfrm>
            <a:off x="954100" y="1618600"/>
            <a:ext cx="10102800" cy="451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下載完後解壓縮，點進去裡面有這些檔案</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18" name="Google Shape;318;g338b883c0f1_0_14"/>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19" name="Google Shape;319;g338b883c0f1_0_14" title="螢幕擷取畫面 2025-03-19 152109.jpg"/>
          <p:cNvPicPr preferRelativeResize="0"/>
          <p:nvPr/>
        </p:nvPicPr>
        <p:blipFill>
          <a:blip r:embed="rId3">
            <a:alphaModFix/>
          </a:blip>
          <a:stretch>
            <a:fillRect/>
          </a:stretch>
        </p:blipFill>
        <p:spPr>
          <a:xfrm>
            <a:off x="2493000" y="2289575"/>
            <a:ext cx="7025000" cy="3444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3" name="Shape 323"/>
        <p:cNvGrpSpPr/>
        <p:nvPr/>
      </p:nvGrpSpPr>
      <p:grpSpPr>
        <a:xfrm>
          <a:off x="0" y="0"/>
          <a:ext cx="0" cy="0"/>
          <a:chOff x="0" y="0"/>
          <a:chExt cx="0" cy="0"/>
        </a:xfrm>
      </p:grpSpPr>
      <p:sp>
        <p:nvSpPr>
          <p:cNvPr id="324" name="Google Shape;324;g338b883c0f1_0_2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下載</a:t>
            </a:r>
            <a:endParaRPr/>
          </a:p>
        </p:txBody>
      </p:sp>
      <p:sp>
        <p:nvSpPr>
          <p:cNvPr id="325" name="Google Shape;325;g338b883c0f1_0_2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26" name="Google Shape;326;g338b883c0f1_0_26"/>
          <p:cNvSpPr txBox="1"/>
          <p:nvPr>
            <p:ph idx="2" type="body"/>
          </p:nvPr>
        </p:nvSpPr>
        <p:spPr>
          <a:xfrm>
            <a:off x="954100" y="1618600"/>
            <a:ext cx="4263300" cy="640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針對不同品牌的GPU有不同的預先處理方式，這邊以NVIDIA為主</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27" name="Google Shape;327;g338b883c0f1_0_2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28" name="Google Shape;328;g338b883c0f1_0_26" title="螢幕擷取畫面 2025-03-19 152315.jpg"/>
          <p:cNvPicPr preferRelativeResize="0"/>
          <p:nvPr/>
        </p:nvPicPr>
        <p:blipFill>
          <a:blip r:embed="rId3">
            <a:alphaModFix/>
          </a:blip>
          <a:stretch>
            <a:fillRect/>
          </a:stretch>
        </p:blipFill>
        <p:spPr>
          <a:xfrm>
            <a:off x="5278048" y="419675"/>
            <a:ext cx="6334026" cy="5523451"/>
          </a:xfrm>
          <a:prstGeom prst="rect">
            <a:avLst/>
          </a:prstGeom>
          <a:noFill/>
          <a:ln>
            <a:noFill/>
          </a:ln>
        </p:spPr>
      </p:pic>
      <p:pic>
        <p:nvPicPr>
          <p:cNvPr id="329" name="Google Shape;329;g338b883c0f1_0_26" title="螢幕擷取畫面 2025-03-19 152418.jpg"/>
          <p:cNvPicPr preferRelativeResize="0"/>
          <p:nvPr/>
        </p:nvPicPr>
        <p:blipFill>
          <a:blip r:embed="rId4">
            <a:alphaModFix/>
          </a:blip>
          <a:stretch>
            <a:fillRect/>
          </a:stretch>
        </p:blipFill>
        <p:spPr>
          <a:xfrm>
            <a:off x="206550" y="2323150"/>
            <a:ext cx="4928121" cy="361997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g338b883c0f1_0_3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Python</a:t>
            </a:r>
            <a:endParaRPr/>
          </a:p>
        </p:txBody>
      </p:sp>
      <p:sp>
        <p:nvSpPr>
          <p:cNvPr id="335" name="Google Shape;335;g338b883c0f1_0_3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36" name="Google Shape;336;g338b883c0f1_0_36"/>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需下載</a:t>
            </a:r>
            <a:r>
              <a:rPr lang="zh-TW" sz="1600" u="sng">
                <a:solidFill>
                  <a:schemeClr val="hlink"/>
                </a:solidFill>
                <a:highlight>
                  <a:srgbClr val="FFFFFF"/>
                </a:highlight>
                <a:hlinkClick r:id="rId3"/>
              </a:rPr>
              <a:t>Python</a:t>
            </a:r>
            <a:r>
              <a:rPr lang="zh-TW" sz="1600">
                <a:solidFill>
                  <a:srgbClr val="202122"/>
                </a:solidFill>
                <a:highlight>
                  <a:srgbClr val="FFFFFF"/>
                </a:highlight>
              </a:rPr>
              <a:t> 3.12.x版本</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37" name="Google Shape;337;g338b883c0f1_0_3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38" name="Google Shape;338;g338b883c0f1_0_36" title="螢幕擷取畫面 2025-03-19 154413.jpg"/>
          <p:cNvPicPr preferRelativeResize="0"/>
          <p:nvPr/>
        </p:nvPicPr>
        <p:blipFill>
          <a:blip r:embed="rId4">
            <a:alphaModFix/>
          </a:blip>
          <a:stretch>
            <a:fillRect/>
          </a:stretch>
        </p:blipFill>
        <p:spPr>
          <a:xfrm>
            <a:off x="1082005" y="2047375"/>
            <a:ext cx="10027976" cy="3709772"/>
          </a:xfrm>
          <a:prstGeom prst="rect">
            <a:avLst/>
          </a:prstGeom>
          <a:noFill/>
          <a:ln>
            <a:noFill/>
          </a:ln>
        </p:spPr>
      </p:pic>
      <p:sp>
        <p:nvSpPr>
          <p:cNvPr id="339" name="Google Shape;339;g338b883c0f1_0_36"/>
          <p:cNvSpPr/>
          <p:nvPr/>
        </p:nvSpPr>
        <p:spPr>
          <a:xfrm>
            <a:off x="1337300" y="3883800"/>
            <a:ext cx="15339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3" name="Shape 343"/>
        <p:cNvGrpSpPr/>
        <p:nvPr/>
      </p:nvGrpSpPr>
      <p:grpSpPr>
        <a:xfrm>
          <a:off x="0" y="0"/>
          <a:ext cx="0" cy="0"/>
          <a:chOff x="0" y="0"/>
          <a:chExt cx="0" cy="0"/>
        </a:xfrm>
      </p:grpSpPr>
      <p:sp>
        <p:nvSpPr>
          <p:cNvPr id="344" name="Google Shape;344;g338ba2e48a2_0_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Python</a:t>
            </a:r>
            <a:endParaRPr/>
          </a:p>
        </p:txBody>
      </p:sp>
      <p:sp>
        <p:nvSpPr>
          <p:cNvPr id="345" name="Google Shape;345;g338ba2e48a2_0_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46" name="Google Shape;346;g338ba2e48a2_0_2"/>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需下載</a:t>
            </a:r>
            <a:r>
              <a:rPr lang="zh-TW" sz="1600" u="sng">
                <a:solidFill>
                  <a:schemeClr val="hlink"/>
                </a:solidFill>
                <a:highlight>
                  <a:srgbClr val="FFFFFF"/>
                </a:highlight>
                <a:hlinkClick r:id="rId3"/>
              </a:rPr>
              <a:t>Python</a:t>
            </a:r>
            <a:r>
              <a:rPr lang="zh-TW" sz="1600">
                <a:solidFill>
                  <a:srgbClr val="202122"/>
                </a:solidFill>
                <a:highlight>
                  <a:srgbClr val="FFFFFF"/>
                </a:highlight>
              </a:rPr>
              <a:t> 3.12.x版本</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47" name="Google Shape;347;g338ba2e48a2_0_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48" name="Google Shape;348;g338ba2e48a2_0_2" title="螢幕擷取畫面 2025-03-19 154413.jpg"/>
          <p:cNvPicPr preferRelativeResize="0"/>
          <p:nvPr/>
        </p:nvPicPr>
        <p:blipFill>
          <a:blip r:embed="rId4">
            <a:alphaModFix/>
          </a:blip>
          <a:stretch>
            <a:fillRect/>
          </a:stretch>
        </p:blipFill>
        <p:spPr>
          <a:xfrm>
            <a:off x="1082005" y="2047375"/>
            <a:ext cx="10027976" cy="3709772"/>
          </a:xfrm>
          <a:prstGeom prst="rect">
            <a:avLst/>
          </a:prstGeom>
          <a:noFill/>
          <a:ln>
            <a:noFill/>
          </a:ln>
        </p:spPr>
      </p:pic>
      <p:sp>
        <p:nvSpPr>
          <p:cNvPr id="349" name="Google Shape;349;g338ba2e48a2_0_2"/>
          <p:cNvSpPr/>
          <p:nvPr/>
        </p:nvSpPr>
        <p:spPr>
          <a:xfrm>
            <a:off x="1337300" y="3883800"/>
            <a:ext cx="15339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g338ba2e48a2_0_1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Python</a:t>
            </a:r>
            <a:endParaRPr/>
          </a:p>
        </p:txBody>
      </p:sp>
      <p:sp>
        <p:nvSpPr>
          <p:cNvPr id="355" name="Google Shape;355;g338ba2e48a2_0_1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56" name="Google Shape;356;g338ba2e48a2_0_11"/>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點擊安裝</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57" name="Google Shape;357;g338ba2e48a2_0_1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58" name="Google Shape;358;g338ba2e48a2_0_11" title="螢幕擷取畫面 2025-03-19 154609.jpg"/>
          <p:cNvPicPr preferRelativeResize="0"/>
          <p:nvPr/>
        </p:nvPicPr>
        <p:blipFill>
          <a:blip r:embed="rId3">
            <a:alphaModFix/>
          </a:blip>
          <a:stretch>
            <a:fillRect/>
          </a:stretch>
        </p:blipFill>
        <p:spPr>
          <a:xfrm>
            <a:off x="1051905" y="2038400"/>
            <a:ext cx="5637819" cy="3709771"/>
          </a:xfrm>
          <a:prstGeom prst="rect">
            <a:avLst/>
          </a:prstGeom>
          <a:noFill/>
          <a:ln>
            <a:noFill/>
          </a:ln>
        </p:spPr>
      </p:pic>
      <p:sp>
        <p:nvSpPr>
          <p:cNvPr id="359" name="Google Shape;359;g338ba2e48a2_0_11"/>
          <p:cNvSpPr/>
          <p:nvPr/>
        </p:nvSpPr>
        <p:spPr>
          <a:xfrm>
            <a:off x="2591600" y="5408825"/>
            <a:ext cx="15339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g338ba2e48a2_0_11"/>
          <p:cNvSpPr txBox="1"/>
          <p:nvPr/>
        </p:nvSpPr>
        <p:spPr>
          <a:xfrm>
            <a:off x="4179825" y="5341625"/>
            <a:ext cx="91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accent3"/>
                </a:solidFill>
              </a:rPr>
              <a:t>建議勾選</a:t>
            </a:r>
            <a:endParaRPr b="1" sz="1200">
              <a:solidFill>
                <a:schemeClr val="accent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g338ba2e48a2_0_23"/>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366" name="Google Shape;366;g338ba2e48a2_0_23"/>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67" name="Google Shape;367;g338ba2e48a2_0_23"/>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安裝</a:t>
            </a:r>
            <a:r>
              <a:rPr lang="zh-TW" sz="1600" u="sng">
                <a:solidFill>
                  <a:schemeClr val="hlink"/>
                </a:solidFill>
                <a:highlight>
                  <a:srgbClr val="FFFFFF"/>
                </a:highlight>
                <a:hlinkClick r:id="rId3"/>
              </a:rPr>
              <a:t>Cuda toolkit</a:t>
            </a:r>
            <a:r>
              <a:rPr lang="zh-TW" sz="1600">
                <a:solidFill>
                  <a:srgbClr val="202122"/>
                </a:solidFill>
                <a:highlight>
                  <a:srgbClr val="FFFFFF"/>
                </a:highlight>
              </a:rPr>
              <a:t>，依據自身顯卡驅動版本選擇對應的cuda版本，建議更新驅動，然後選擇cu124 or cu126</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68" name="Google Shape;368;g338ba2e48a2_0_2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69" name="Google Shape;369;g338ba2e48a2_0_23" title="螢幕擷取畫面 2025-03-19 155156.jpg"/>
          <p:cNvPicPr preferRelativeResize="0"/>
          <p:nvPr/>
        </p:nvPicPr>
        <p:blipFill>
          <a:blip r:embed="rId4">
            <a:alphaModFix/>
          </a:blip>
          <a:stretch>
            <a:fillRect/>
          </a:stretch>
        </p:blipFill>
        <p:spPr>
          <a:xfrm>
            <a:off x="1042875" y="2048425"/>
            <a:ext cx="4839376" cy="4028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3" name="Shape 373"/>
        <p:cNvGrpSpPr/>
        <p:nvPr/>
      </p:nvGrpSpPr>
      <p:grpSpPr>
        <a:xfrm>
          <a:off x="0" y="0"/>
          <a:ext cx="0" cy="0"/>
          <a:chOff x="0" y="0"/>
          <a:chExt cx="0" cy="0"/>
        </a:xfrm>
      </p:grpSpPr>
      <p:sp>
        <p:nvSpPr>
          <p:cNvPr id="374" name="Google Shape;374;g338ba2e48a2_0_34"/>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375" name="Google Shape;375;g338ba2e48a2_0_34"/>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76" name="Google Shape;376;g338ba2e48a2_0_34"/>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開啟Nvidia控制面板，說明-&gt;系統資訊，便可查詢當前驅動版本</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77" name="Google Shape;377;g338ba2e48a2_0_34"/>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78" name="Google Shape;378;g338ba2e48a2_0_34" title="螢幕擷取畫面 2025-03-19 155521.png"/>
          <p:cNvPicPr preferRelativeResize="0"/>
          <p:nvPr/>
        </p:nvPicPr>
        <p:blipFill>
          <a:blip r:embed="rId3">
            <a:alphaModFix/>
          </a:blip>
          <a:stretch>
            <a:fillRect/>
          </a:stretch>
        </p:blipFill>
        <p:spPr>
          <a:xfrm>
            <a:off x="953350" y="2192800"/>
            <a:ext cx="4448175" cy="1866900"/>
          </a:xfrm>
          <a:prstGeom prst="rect">
            <a:avLst/>
          </a:prstGeom>
          <a:noFill/>
          <a:ln>
            <a:noFill/>
          </a:ln>
        </p:spPr>
      </p:pic>
      <p:sp>
        <p:nvSpPr>
          <p:cNvPr id="379" name="Google Shape;379;g338ba2e48a2_0_34"/>
          <p:cNvSpPr/>
          <p:nvPr/>
        </p:nvSpPr>
        <p:spPr>
          <a:xfrm>
            <a:off x="3024725" y="2449050"/>
            <a:ext cx="6135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g338ba2e48a2_0_34"/>
          <p:cNvSpPr/>
          <p:nvPr/>
        </p:nvSpPr>
        <p:spPr>
          <a:xfrm>
            <a:off x="3375650" y="3169950"/>
            <a:ext cx="7140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1" name="Google Shape;381;g338ba2e48a2_0_34" title="螢幕擷取畫面 2025-03-19 155700.png"/>
          <p:cNvPicPr preferRelativeResize="0"/>
          <p:nvPr/>
        </p:nvPicPr>
        <p:blipFill>
          <a:blip r:embed="rId4">
            <a:alphaModFix/>
          </a:blip>
          <a:stretch>
            <a:fillRect/>
          </a:stretch>
        </p:blipFill>
        <p:spPr>
          <a:xfrm>
            <a:off x="6248775" y="2192800"/>
            <a:ext cx="3916265" cy="3709771"/>
          </a:xfrm>
          <a:prstGeom prst="rect">
            <a:avLst/>
          </a:prstGeom>
          <a:noFill/>
          <a:ln>
            <a:noFill/>
          </a:ln>
        </p:spPr>
      </p:pic>
      <p:sp>
        <p:nvSpPr>
          <p:cNvPr id="382" name="Google Shape;382;g338ba2e48a2_0_34"/>
          <p:cNvSpPr/>
          <p:nvPr/>
        </p:nvSpPr>
        <p:spPr>
          <a:xfrm>
            <a:off x="7849925" y="3721625"/>
            <a:ext cx="1464300" cy="199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g338ba2e48a2_0_4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388" name="Google Shape;388;g338ba2e48a2_0_4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389" name="Google Shape;389;g338ba2e48a2_0_47"/>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下載檔案</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390" name="Google Shape;390;g338ba2e48a2_0_4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391" name="Google Shape;391;g338ba2e48a2_0_47" title="螢幕擷取畫面 2025-03-19 155929.png"/>
          <p:cNvPicPr preferRelativeResize="0"/>
          <p:nvPr/>
        </p:nvPicPr>
        <p:blipFill>
          <a:blip r:embed="rId3">
            <a:alphaModFix/>
          </a:blip>
          <a:stretch>
            <a:fillRect/>
          </a:stretch>
        </p:blipFill>
        <p:spPr>
          <a:xfrm>
            <a:off x="2438988" y="1399125"/>
            <a:ext cx="6995025" cy="4754475"/>
          </a:xfrm>
          <a:prstGeom prst="rect">
            <a:avLst/>
          </a:prstGeom>
          <a:noFill/>
          <a:ln>
            <a:noFill/>
          </a:ln>
        </p:spPr>
      </p:pic>
      <p:sp>
        <p:nvSpPr>
          <p:cNvPr id="392" name="Google Shape;392;g338ba2e48a2_0_47"/>
          <p:cNvSpPr/>
          <p:nvPr/>
        </p:nvSpPr>
        <p:spPr>
          <a:xfrm>
            <a:off x="4873600" y="2628525"/>
            <a:ext cx="7140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g338ba2e48a2_0_47"/>
          <p:cNvSpPr/>
          <p:nvPr/>
        </p:nvSpPr>
        <p:spPr>
          <a:xfrm>
            <a:off x="4340175" y="2997500"/>
            <a:ext cx="7140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g338ba2e48a2_0_47"/>
          <p:cNvSpPr/>
          <p:nvPr/>
        </p:nvSpPr>
        <p:spPr>
          <a:xfrm>
            <a:off x="4431200" y="3299150"/>
            <a:ext cx="714000" cy="277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g338ba2e48a2_0_47"/>
          <p:cNvSpPr/>
          <p:nvPr/>
        </p:nvSpPr>
        <p:spPr>
          <a:xfrm>
            <a:off x="5105200" y="3664350"/>
            <a:ext cx="753000" cy="277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g338ba2e48a2_0_47"/>
          <p:cNvSpPr/>
          <p:nvPr/>
        </p:nvSpPr>
        <p:spPr>
          <a:xfrm>
            <a:off x="8154175" y="4790200"/>
            <a:ext cx="1124100" cy="357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7" name="Google Shape;397;g338ba2e48a2_0_47"/>
          <p:cNvCxnSpPr>
            <a:stCxn id="394" idx="3"/>
          </p:cNvCxnSpPr>
          <p:nvPr/>
        </p:nvCxnSpPr>
        <p:spPr>
          <a:xfrm flipH="1" rot="10800000">
            <a:off x="5145200" y="3279350"/>
            <a:ext cx="1570200" cy="158700"/>
          </a:xfrm>
          <a:prstGeom prst="straightConnector1">
            <a:avLst/>
          </a:prstGeom>
          <a:noFill/>
          <a:ln cap="flat" cmpd="sng" w="9525">
            <a:solidFill>
              <a:schemeClr val="accent3"/>
            </a:solidFill>
            <a:prstDash val="solid"/>
            <a:round/>
            <a:headEnd len="med" w="med" type="none"/>
            <a:tailEnd len="med" w="med" type="triangle"/>
          </a:ln>
        </p:spPr>
      </p:cxnSp>
      <p:sp>
        <p:nvSpPr>
          <p:cNvPr id="398" name="Google Shape;398;g338ba2e48a2_0_47"/>
          <p:cNvSpPr txBox="1"/>
          <p:nvPr/>
        </p:nvSpPr>
        <p:spPr>
          <a:xfrm>
            <a:off x="6715400" y="3068750"/>
            <a:ext cx="5197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accent3"/>
                </a:solidFill>
              </a:rPr>
              <a:t>看個人作業系統</a:t>
            </a:r>
            <a:endParaRPr b="1" sz="120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g338ba2e48a2_0_6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404" name="Google Shape;404;g338ba2e48a2_0_6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05" name="Google Shape;405;g338ba2e48a2_0_67"/>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開始執行安裝</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06" name="Google Shape;406;g338ba2e48a2_0_6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07" name="Google Shape;407;g338ba2e48a2_0_67" title="螢幕擷取畫面 2025-03-19 160212.png"/>
          <p:cNvPicPr preferRelativeResize="0"/>
          <p:nvPr/>
        </p:nvPicPr>
        <p:blipFill>
          <a:blip r:embed="rId3">
            <a:alphaModFix/>
          </a:blip>
          <a:stretch>
            <a:fillRect/>
          </a:stretch>
        </p:blipFill>
        <p:spPr>
          <a:xfrm>
            <a:off x="953350" y="2056450"/>
            <a:ext cx="3895725" cy="2009775"/>
          </a:xfrm>
          <a:prstGeom prst="rect">
            <a:avLst/>
          </a:prstGeom>
          <a:noFill/>
          <a:ln>
            <a:noFill/>
          </a:ln>
        </p:spPr>
      </p:pic>
      <p:pic>
        <p:nvPicPr>
          <p:cNvPr id="408" name="Google Shape;408;g338ba2e48a2_0_67" title="螢幕擷取畫面 2025-03-19 160330.png"/>
          <p:cNvPicPr preferRelativeResize="0"/>
          <p:nvPr/>
        </p:nvPicPr>
        <p:blipFill>
          <a:blip r:embed="rId4">
            <a:alphaModFix/>
          </a:blip>
          <a:stretch>
            <a:fillRect/>
          </a:stretch>
        </p:blipFill>
        <p:spPr>
          <a:xfrm>
            <a:off x="5606075" y="2056450"/>
            <a:ext cx="4963301" cy="3709771"/>
          </a:xfrm>
          <a:prstGeom prst="rect">
            <a:avLst/>
          </a:prstGeom>
          <a:noFill/>
          <a:ln>
            <a:noFill/>
          </a:ln>
        </p:spPr>
      </p:pic>
      <p:sp>
        <p:nvSpPr>
          <p:cNvPr id="409" name="Google Shape;409;g338ba2e48a2_0_67"/>
          <p:cNvSpPr txBox="1"/>
          <p:nvPr/>
        </p:nvSpPr>
        <p:spPr>
          <a:xfrm>
            <a:off x="5606075" y="1656250"/>
            <a:ext cx="618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若是未安裝過選快速就可以了，如果電腦裡有Geforce experience請選自訂</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3" name="Shape 413"/>
        <p:cNvGrpSpPr/>
        <p:nvPr/>
      </p:nvGrpSpPr>
      <p:grpSpPr>
        <a:xfrm>
          <a:off x="0" y="0"/>
          <a:ext cx="0" cy="0"/>
          <a:chOff x="0" y="0"/>
          <a:chExt cx="0" cy="0"/>
        </a:xfrm>
      </p:grpSpPr>
      <p:sp>
        <p:nvSpPr>
          <p:cNvPr id="414" name="Google Shape;414;g338ba2e48a2_0_8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415" name="Google Shape;415;g338ba2e48a2_0_8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16" name="Google Shape;416;g338ba2e48a2_0_85"/>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把Geforce experience的選項取消勾選後便可安裝</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17" name="Google Shape;417;g338ba2e48a2_0_8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18" name="Google Shape;418;g338ba2e48a2_0_85" title="螢幕擷取畫面 2025-03-19 160516.png"/>
          <p:cNvPicPr preferRelativeResize="0"/>
          <p:nvPr/>
        </p:nvPicPr>
        <p:blipFill>
          <a:blip r:embed="rId3">
            <a:alphaModFix/>
          </a:blip>
          <a:stretch>
            <a:fillRect/>
          </a:stretch>
        </p:blipFill>
        <p:spPr>
          <a:xfrm>
            <a:off x="1060930" y="2192800"/>
            <a:ext cx="4921125" cy="3709771"/>
          </a:xfrm>
          <a:prstGeom prst="rect">
            <a:avLst/>
          </a:prstGeom>
          <a:noFill/>
          <a:ln>
            <a:noFill/>
          </a:ln>
        </p:spPr>
      </p:pic>
      <p:sp>
        <p:nvSpPr>
          <p:cNvPr id="419" name="Google Shape;419;g338ba2e48a2_0_85"/>
          <p:cNvSpPr/>
          <p:nvPr/>
        </p:nvSpPr>
        <p:spPr>
          <a:xfrm>
            <a:off x="2518425" y="3910875"/>
            <a:ext cx="1787700" cy="144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g338ba2e48a2_0_9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Cuda</a:t>
            </a:r>
            <a:endParaRPr/>
          </a:p>
        </p:txBody>
      </p:sp>
      <p:sp>
        <p:nvSpPr>
          <p:cNvPr id="425" name="Google Shape;425;g338ba2e48a2_0_9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26" name="Google Shape;426;g338ba2e48a2_0_97"/>
          <p:cNvSpPr txBox="1"/>
          <p:nvPr>
            <p:ph idx="2" type="body"/>
          </p:nvPr>
        </p:nvSpPr>
        <p:spPr>
          <a:xfrm>
            <a:off x="953350" y="1618600"/>
            <a:ext cx="9966300" cy="1101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安裝完成後透過cmd確認python和cuda版本是否正確安裝</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python –version</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nvcc –version</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27" name="Google Shape;427;g338ba2e48a2_0_9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28" name="Google Shape;428;g338ba2e48a2_0_97" title="螢幕擷取畫面 2025-03-19 160814.png"/>
          <p:cNvPicPr preferRelativeResize="0"/>
          <p:nvPr/>
        </p:nvPicPr>
        <p:blipFill>
          <a:blip r:embed="rId3">
            <a:alphaModFix/>
          </a:blip>
          <a:stretch>
            <a:fillRect/>
          </a:stretch>
        </p:blipFill>
        <p:spPr>
          <a:xfrm>
            <a:off x="3173180" y="2465925"/>
            <a:ext cx="5845649" cy="318297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g338ba2e48a2_0_10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執行ComfyUI</a:t>
            </a:r>
            <a:endParaRPr/>
          </a:p>
        </p:txBody>
      </p:sp>
      <p:sp>
        <p:nvSpPr>
          <p:cNvPr id="434" name="Google Shape;434;g338ba2e48a2_0_10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35" name="Google Shape;435;g338ba2e48a2_0_107"/>
          <p:cNvSpPr txBox="1"/>
          <p:nvPr>
            <p:ph idx="2" type="body"/>
          </p:nvPr>
        </p:nvSpPr>
        <p:spPr>
          <a:xfrm>
            <a:off x="953350" y="1618600"/>
            <a:ext cx="9966300" cy="532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點擊run_nvidia_gpu.bat便可執行，第一次執行會安裝一些依賴項會比較久</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36" name="Google Shape;436;g338ba2e48a2_0_10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37" name="Google Shape;437;g338ba2e48a2_0_107" title="螢幕擷取畫面 2025-03-19 160904.png"/>
          <p:cNvPicPr preferRelativeResize="0"/>
          <p:nvPr/>
        </p:nvPicPr>
        <p:blipFill>
          <a:blip r:embed="rId3">
            <a:alphaModFix/>
          </a:blip>
          <a:stretch>
            <a:fillRect/>
          </a:stretch>
        </p:blipFill>
        <p:spPr>
          <a:xfrm>
            <a:off x="677500" y="2420950"/>
            <a:ext cx="5868674" cy="2590800"/>
          </a:xfrm>
          <a:prstGeom prst="rect">
            <a:avLst/>
          </a:prstGeom>
          <a:noFill/>
          <a:ln>
            <a:noFill/>
          </a:ln>
        </p:spPr>
      </p:pic>
      <p:sp>
        <p:nvSpPr>
          <p:cNvPr id="438" name="Google Shape;438;g338ba2e48a2_0_107"/>
          <p:cNvSpPr/>
          <p:nvPr/>
        </p:nvSpPr>
        <p:spPr>
          <a:xfrm>
            <a:off x="1814575" y="4596675"/>
            <a:ext cx="1128900" cy="144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2" name="Shape 442"/>
        <p:cNvGrpSpPr/>
        <p:nvPr/>
      </p:nvGrpSpPr>
      <p:grpSpPr>
        <a:xfrm>
          <a:off x="0" y="0"/>
          <a:ext cx="0" cy="0"/>
          <a:chOff x="0" y="0"/>
          <a:chExt cx="0" cy="0"/>
        </a:xfrm>
      </p:grpSpPr>
      <p:sp>
        <p:nvSpPr>
          <p:cNvPr id="443" name="Google Shape;443;g338ba2e48a2_0_11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執行ComfyUI</a:t>
            </a:r>
            <a:endParaRPr/>
          </a:p>
        </p:txBody>
      </p:sp>
      <p:sp>
        <p:nvSpPr>
          <p:cNvPr id="444" name="Google Shape;444;g338ba2e48a2_0_11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45" name="Google Shape;445;g338ba2e48a2_0_117"/>
          <p:cNvSpPr txBox="1"/>
          <p:nvPr>
            <p:ph idx="2" type="body"/>
          </p:nvPr>
        </p:nvSpPr>
        <p:spPr>
          <a:xfrm>
            <a:off x="953350" y="1618600"/>
            <a:ext cx="9966300" cy="532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跳出這個介面便是安裝成功</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46" name="Google Shape;446;g338ba2e48a2_0_11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47" name="Google Shape;447;g338ba2e48a2_0_117" title="螢幕擷取畫面 2025-03-19 161400.png"/>
          <p:cNvPicPr preferRelativeResize="0"/>
          <p:nvPr/>
        </p:nvPicPr>
        <p:blipFill>
          <a:blip r:embed="rId3">
            <a:alphaModFix/>
          </a:blip>
          <a:stretch>
            <a:fillRect/>
          </a:stretch>
        </p:blipFill>
        <p:spPr>
          <a:xfrm>
            <a:off x="1771537" y="2006025"/>
            <a:ext cx="8329923" cy="4079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38b883c0f1_0_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453" name="Google Shape;453;g338b883c0f1_0_7"/>
          <p:cNvSpPr txBox="1"/>
          <p:nvPr>
            <p:ph type="ctrTitle"/>
          </p:nvPr>
        </p:nvSpPr>
        <p:spPr>
          <a:xfrm>
            <a:off x="966803" y="2241425"/>
            <a:ext cx="8184900" cy="292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雲端</a:t>
            </a:r>
            <a:r>
              <a:rPr lang="zh-TW"/>
              <a:t>運行</a:t>
            </a:r>
            <a:endParaRPr/>
          </a:p>
        </p:txBody>
      </p:sp>
      <p:sp>
        <p:nvSpPr>
          <p:cNvPr id="454" name="Google Shape;454;g338b883c0f1_0_7"/>
          <p:cNvSpPr txBox="1"/>
          <p:nvPr>
            <p:ph idx="1" type="body"/>
          </p:nvPr>
        </p:nvSpPr>
        <p:spPr>
          <a:xfrm>
            <a:off x="966788" y="808035"/>
            <a:ext cx="3748200" cy="1030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05</a:t>
            </a:r>
            <a:endParaRPr/>
          </a:p>
        </p:txBody>
      </p:sp>
      <p:sp>
        <p:nvSpPr>
          <p:cNvPr id="455" name="Google Shape;455;g338b883c0f1_0_7"/>
          <p:cNvSpPr txBox="1"/>
          <p:nvPr>
            <p:ph idx="2"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38ba2e48a2_0_17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461" name="Google Shape;461;g338ba2e48a2_0_17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62" name="Google Shape;462;g338ba2e48a2_0_170"/>
          <p:cNvSpPr txBox="1"/>
          <p:nvPr>
            <p:ph idx="2" type="body"/>
          </p:nvPr>
        </p:nvSpPr>
        <p:spPr>
          <a:xfrm>
            <a:off x="953350" y="1618600"/>
            <a:ext cx="99663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ighlight>
                  <a:srgbClr val="FFFFFF"/>
                </a:highlight>
                <a:hlinkClick r:id="rId3"/>
              </a:rPr>
              <a:t>Civitai</a:t>
            </a:r>
            <a:r>
              <a:rPr lang="zh-TW" sz="1600">
                <a:solidFill>
                  <a:srgbClr val="202122"/>
                </a:solidFill>
                <a:highlight>
                  <a:srgbClr val="FFFFFF"/>
                </a:highlight>
              </a:rPr>
              <a:t>，一個開放模型下載的網站，可以上去下載任意你想要的模型</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創建帳號後，點擊頭像-&gt;Account Settings</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63" name="Google Shape;463;g338ba2e48a2_0_17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64" name="Google Shape;464;g338ba2e48a2_0_170" title="螢幕擷取畫面 2025-03-19 194414.png"/>
          <p:cNvPicPr preferRelativeResize="0"/>
          <p:nvPr/>
        </p:nvPicPr>
        <p:blipFill>
          <a:blip r:embed="rId4">
            <a:alphaModFix/>
          </a:blip>
          <a:stretch>
            <a:fillRect/>
          </a:stretch>
        </p:blipFill>
        <p:spPr>
          <a:xfrm>
            <a:off x="7359472" y="634125"/>
            <a:ext cx="2694725" cy="5403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38ba2e48a2_0_17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470" name="Google Shape;470;g338ba2e48a2_0_17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71" name="Google Shape;471;g338ba2e48a2_0_179"/>
          <p:cNvSpPr txBox="1"/>
          <p:nvPr>
            <p:ph idx="2" type="body"/>
          </p:nvPr>
        </p:nvSpPr>
        <p:spPr>
          <a:xfrm>
            <a:off x="953350" y="1618600"/>
            <a:ext cx="99663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移到最下面，找到API Keys，選擇Add API Key</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72" name="Google Shape;472;g338ba2e48a2_0_17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73" name="Google Shape;473;g338ba2e48a2_0_179" title="螢幕擷取畫面 2025-03-19 194526.png"/>
          <p:cNvPicPr preferRelativeResize="0"/>
          <p:nvPr/>
        </p:nvPicPr>
        <p:blipFill>
          <a:blip r:embed="rId3">
            <a:alphaModFix/>
          </a:blip>
          <a:stretch>
            <a:fillRect/>
          </a:stretch>
        </p:blipFill>
        <p:spPr>
          <a:xfrm>
            <a:off x="2569137" y="2059875"/>
            <a:ext cx="6734725" cy="4007650"/>
          </a:xfrm>
          <a:prstGeom prst="rect">
            <a:avLst/>
          </a:prstGeom>
          <a:noFill/>
          <a:ln>
            <a:noFill/>
          </a:ln>
        </p:spPr>
      </p:pic>
      <p:sp>
        <p:nvSpPr>
          <p:cNvPr id="474" name="Google Shape;474;g338ba2e48a2_0_179"/>
          <p:cNvSpPr/>
          <p:nvPr/>
        </p:nvSpPr>
        <p:spPr>
          <a:xfrm>
            <a:off x="6588125" y="3207050"/>
            <a:ext cx="8493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38ba2e48a2_0_18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480" name="Google Shape;480;g338ba2e48a2_0_18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81" name="Google Shape;481;g338ba2e48a2_0_189"/>
          <p:cNvSpPr txBox="1"/>
          <p:nvPr>
            <p:ph idx="2" type="body"/>
          </p:nvPr>
        </p:nvSpPr>
        <p:spPr>
          <a:xfrm>
            <a:off x="953350" y="1618600"/>
            <a:ext cx="99663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隨意命名，API Key出現的時候也記得要複製</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82" name="Google Shape;482;g338ba2e48a2_0_18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83" name="Google Shape;483;g338ba2e48a2_0_189" title="螢幕擷取畫面 2025-03-19 194719.png"/>
          <p:cNvPicPr preferRelativeResize="0"/>
          <p:nvPr/>
        </p:nvPicPr>
        <p:blipFill>
          <a:blip r:embed="rId3">
            <a:alphaModFix/>
          </a:blip>
          <a:stretch>
            <a:fillRect/>
          </a:stretch>
        </p:blipFill>
        <p:spPr>
          <a:xfrm>
            <a:off x="953350" y="2376700"/>
            <a:ext cx="4210050" cy="1733550"/>
          </a:xfrm>
          <a:prstGeom prst="rect">
            <a:avLst/>
          </a:prstGeom>
          <a:noFill/>
          <a:ln>
            <a:noFill/>
          </a:ln>
        </p:spPr>
      </p:pic>
      <p:pic>
        <p:nvPicPr>
          <p:cNvPr id="484" name="Google Shape;484;g338ba2e48a2_0_189" title="螢幕擷取畫面 2025-03-19 194814.png"/>
          <p:cNvPicPr preferRelativeResize="0"/>
          <p:nvPr/>
        </p:nvPicPr>
        <p:blipFill>
          <a:blip r:embed="rId4">
            <a:alphaModFix/>
          </a:blip>
          <a:stretch>
            <a:fillRect/>
          </a:stretch>
        </p:blipFill>
        <p:spPr>
          <a:xfrm>
            <a:off x="5830150" y="2376700"/>
            <a:ext cx="4057650" cy="1476375"/>
          </a:xfrm>
          <a:prstGeom prst="rect">
            <a:avLst/>
          </a:prstGeom>
          <a:noFill/>
          <a:ln>
            <a:noFill/>
          </a:ln>
        </p:spPr>
      </p:pic>
      <p:sp>
        <p:nvSpPr>
          <p:cNvPr id="485" name="Google Shape;485;g338ba2e48a2_0_189"/>
          <p:cNvSpPr/>
          <p:nvPr/>
        </p:nvSpPr>
        <p:spPr>
          <a:xfrm>
            <a:off x="5998475" y="3089700"/>
            <a:ext cx="3776100" cy="396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4e2249758d_2_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491" name="Google Shape;491;g34e2249758d_2_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492" name="Google Shape;492;g34e2249758d_2_0"/>
          <p:cNvSpPr txBox="1"/>
          <p:nvPr>
            <p:ph idx="2" type="body"/>
          </p:nvPr>
        </p:nvSpPr>
        <p:spPr>
          <a:xfrm>
            <a:off x="953350" y="1324225"/>
            <a:ext cx="9966300" cy="393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chemeClr val="lt1"/>
                </a:highlight>
              </a:rPr>
              <a:t>Obsession (Illustrious-XL) </a:t>
            </a:r>
            <a:r>
              <a:rPr lang="zh-TW" sz="1600">
                <a:solidFill>
                  <a:srgbClr val="202122"/>
                </a:solidFill>
                <a:highlight>
                  <a:srgbClr val="FFFFFF"/>
                </a:highlight>
              </a:rPr>
              <a:t>Checkpoint：</a:t>
            </a:r>
            <a:r>
              <a:rPr lang="zh-TW" sz="1600" u="sng">
                <a:solidFill>
                  <a:schemeClr val="hlink"/>
                </a:solidFill>
                <a:highlight>
                  <a:srgbClr val="FFFFFF"/>
                </a:highlight>
                <a:hlinkClick r:id="rId3"/>
              </a:rPr>
              <a:t>https://civitai.com/models/820208/obsession-illustrious-xl?modelVersionId=1494740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493" name="Google Shape;493;g34e2249758d_2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494" name="Google Shape;494;g34e2249758d_2_0" title="螢幕擷取畫面 2026-05-20 140839.png"/>
          <p:cNvPicPr preferRelativeResize="0"/>
          <p:nvPr/>
        </p:nvPicPr>
        <p:blipFill>
          <a:blip r:embed="rId4">
            <a:alphaModFix/>
          </a:blip>
          <a:stretch>
            <a:fillRect/>
          </a:stretch>
        </p:blipFill>
        <p:spPr>
          <a:xfrm>
            <a:off x="2408725" y="2235300"/>
            <a:ext cx="7055547" cy="41957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4e2249758d_2_1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500" name="Google Shape;500;g34e2249758d_2_1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01" name="Google Shape;501;g34e2249758d_2_10"/>
          <p:cNvSpPr txBox="1"/>
          <p:nvPr>
            <p:ph idx="2" type="body"/>
          </p:nvPr>
        </p:nvSpPr>
        <p:spPr>
          <a:xfrm>
            <a:off x="953350" y="1618600"/>
            <a:ext cx="110304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ma1ma1helmes LoRA：</a:t>
            </a:r>
            <a:r>
              <a:rPr lang="zh-TW" sz="1600" u="sng">
                <a:solidFill>
                  <a:schemeClr val="hlink"/>
                </a:solidFill>
                <a:highlight>
                  <a:srgbClr val="FFFFFF"/>
                </a:highlight>
                <a:hlinkClick r:id="rId3"/>
              </a:rPr>
              <a:t>https://civitai.com/models/1204563/ma1ma1helmes-or-shiiros-styles-or-niji?modelVersionId=1356500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02" name="Google Shape;502;g34e2249758d_2_1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03" name="Google Shape;503;g34e2249758d_2_10" title="螢幕擷取畫面 2026-05-20 141103.png"/>
          <p:cNvPicPr preferRelativeResize="0"/>
          <p:nvPr/>
        </p:nvPicPr>
        <p:blipFill>
          <a:blip r:embed="rId4">
            <a:alphaModFix/>
          </a:blip>
          <a:stretch>
            <a:fillRect/>
          </a:stretch>
        </p:blipFill>
        <p:spPr>
          <a:xfrm>
            <a:off x="2675999" y="2376700"/>
            <a:ext cx="7024759" cy="42340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4042884e2b_0_3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09" name="Google Shape;509;g34042884e2b_0_3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10" name="Google Shape;510;g34042884e2b_0_32"/>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zh-TW" sz="1600" u="sng">
                <a:solidFill>
                  <a:schemeClr val="hlink"/>
                </a:solidFill>
                <a:hlinkClick r:id="rId3"/>
              </a:rPr>
              <a:t>Colab 程式碼下載連結</a:t>
            </a:r>
            <a:endParaRPr sz="1600"/>
          </a:p>
          <a:p>
            <a:pPr indent="0" lvl="0" marL="0" rtl="0" algn="l">
              <a:lnSpc>
                <a:spcPct val="150000"/>
              </a:lnSpc>
              <a:spcBef>
                <a:spcPts val="0"/>
              </a:spcBef>
              <a:spcAft>
                <a:spcPts val="0"/>
              </a:spcAft>
              <a:buNone/>
            </a:pPr>
            <a:r>
              <a:rPr lang="zh-TW" sz="1600"/>
              <a:t>點擊執行</a:t>
            </a:r>
            <a:r>
              <a:rPr lang="zh-TW" sz="1600"/>
              <a:t>，安裝comfyui及相關插件</a:t>
            </a:r>
            <a:endParaRPr sz="1600"/>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11" name="Google Shape;511;g34042884e2b_0_3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12" name="Google Shape;512;g34042884e2b_0_32" title="螢幕擷取畫面 2026-05-19 220429.png"/>
          <p:cNvPicPr preferRelativeResize="0"/>
          <p:nvPr/>
        </p:nvPicPr>
        <p:blipFill>
          <a:blip r:embed="rId4">
            <a:alphaModFix/>
          </a:blip>
          <a:stretch>
            <a:fillRect/>
          </a:stretch>
        </p:blipFill>
        <p:spPr>
          <a:xfrm>
            <a:off x="953355" y="2339600"/>
            <a:ext cx="5790974" cy="370977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4042884e2b_0_2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18" name="Google Shape;518;g34042884e2b_0_2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19" name="Google Shape;519;g34042884e2b_0_21"/>
          <p:cNvSpPr txBox="1"/>
          <p:nvPr>
            <p:ph idx="2" type="body"/>
          </p:nvPr>
        </p:nvSpPr>
        <p:spPr>
          <a:xfrm>
            <a:off x="953350" y="1618600"/>
            <a:ext cx="9966300" cy="847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將Civitai Api貼上</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20" name="Google Shape;520;g34042884e2b_0_2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21" name="Google Shape;521;g34042884e2b_0_21" title="螢幕擷取畫面 2026-05-19 220237.png"/>
          <p:cNvPicPr preferRelativeResize="0"/>
          <p:nvPr/>
        </p:nvPicPr>
        <p:blipFill>
          <a:blip r:embed="rId3">
            <a:alphaModFix/>
          </a:blip>
          <a:stretch>
            <a:fillRect/>
          </a:stretch>
        </p:blipFill>
        <p:spPr>
          <a:xfrm>
            <a:off x="953350" y="2739325"/>
            <a:ext cx="6153150" cy="1943100"/>
          </a:xfrm>
          <a:prstGeom prst="rect">
            <a:avLst/>
          </a:prstGeom>
          <a:noFill/>
          <a:ln>
            <a:noFill/>
          </a:ln>
        </p:spPr>
      </p:pic>
      <p:sp>
        <p:nvSpPr>
          <p:cNvPr id="522" name="Google Shape;522;g34042884e2b_0_21"/>
          <p:cNvSpPr/>
          <p:nvPr/>
        </p:nvSpPr>
        <p:spPr>
          <a:xfrm>
            <a:off x="2814675" y="3615025"/>
            <a:ext cx="407700" cy="191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4042884e2b_0_43"/>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28" name="Google Shape;528;g34042884e2b_0_43"/>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29" name="Google Shape;529;g34042884e2b_0_43"/>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下載checkpoint和lora，有提供範例的，也可自行去civitai上找尋自己想要的</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30" name="Google Shape;530;g34042884e2b_0_4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31" name="Google Shape;531;g34042884e2b_0_43" title="螢幕擷取畫面 2025-04-05 141342.png"/>
          <p:cNvPicPr preferRelativeResize="0"/>
          <p:nvPr/>
        </p:nvPicPr>
        <p:blipFill>
          <a:blip r:embed="rId3">
            <a:alphaModFix/>
          </a:blip>
          <a:stretch>
            <a:fillRect/>
          </a:stretch>
        </p:blipFill>
        <p:spPr>
          <a:xfrm>
            <a:off x="1069225" y="2412275"/>
            <a:ext cx="9734550" cy="2495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4042884e2b_0_53"/>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37" name="Google Shape;537;g34042884e2b_0_53"/>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38" name="Google Shape;538;g34042884e2b_0_53"/>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下載checkpoint</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39" name="Google Shape;539;g34042884e2b_0_5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40" name="Google Shape;540;g34042884e2b_0_53" title="螢幕擷取畫面 2025-04-05 141523.png"/>
          <p:cNvPicPr preferRelativeResize="0"/>
          <p:nvPr/>
        </p:nvPicPr>
        <p:blipFill>
          <a:blip r:embed="rId3">
            <a:alphaModFix/>
          </a:blip>
          <a:stretch>
            <a:fillRect/>
          </a:stretch>
        </p:blipFill>
        <p:spPr>
          <a:xfrm>
            <a:off x="1326400" y="2412275"/>
            <a:ext cx="9220200" cy="2438400"/>
          </a:xfrm>
          <a:prstGeom prst="rect">
            <a:avLst/>
          </a:prstGeom>
          <a:noFill/>
          <a:ln>
            <a:noFill/>
          </a:ln>
        </p:spPr>
      </p:pic>
      <p:sp>
        <p:nvSpPr>
          <p:cNvPr id="541" name="Google Shape;541;g34042884e2b_0_53"/>
          <p:cNvSpPr/>
          <p:nvPr/>
        </p:nvSpPr>
        <p:spPr>
          <a:xfrm>
            <a:off x="1390025" y="3874825"/>
            <a:ext cx="4023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g34042884e2b_0_53"/>
          <p:cNvSpPr/>
          <p:nvPr/>
        </p:nvSpPr>
        <p:spPr>
          <a:xfrm>
            <a:off x="1470250" y="4258150"/>
            <a:ext cx="4023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4042884e2b_0_6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48" name="Google Shape;548;g34042884e2b_0_6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49" name="Google Shape;549;g34042884e2b_0_62"/>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對下載按鈕點擊右鍵-&gt;複製連結網址(url)</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50" name="Google Shape;550;g34042884e2b_0_6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51" name="Google Shape;551;g34042884e2b_0_62" title="螢幕擷取畫面 2025-04-05 141627.png"/>
          <p:cNvPicPr preferRelativeResize="0"/>
          <p:nvPr/>
        </p:nvPicPr>
        <p:blipFill>
          <a:blip r:embed="rId3">
            <a:alphaModFix/>
          </a:blip>
          <a:stretch>
            <a:fillRect/>
          </a:stretch>
        </p:blipFill>
        <p:spPr>
          <a:xfrm>
            <a:off x="2006174" y="2014727"/>
            <a:ext cx="7860674" cy="4181438"/>
          </a:xfrm>
          <a:prstGeom prst="rect">
            <a:avLst/>
          </a:prstGeom>
          <a:noFill/>
          <a:ln>
            <a:noFill/>
          </a:ln>
        </p:spPr>
      </p:pic>
      <p:sp>
        <p:nvSpPr>
          <p:cNvPr id="552" name="Google Shape;552;g34042884e2b_0_62"/>
          <p:cNvSpPr/>
          <p:nvPr/>
        </p:nvSpPr>
        <p:spPr>
          <a:xfrm>
            <a:off x="8418325" y="3759375"/>
            <a:ext cx="751800" cy="2349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4042884e2b_0_73"/>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58" name="Google Shape;558;g34042884e2b_0_73"/>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59" name="Google Shape;559;g34042884e2b_0_73"/>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lora同</a:t>
            </a:r>
            <a:r>
              <a:rPr lang="zh-TW" sz="1600">
                <a:solidFill>
                  <a:srgbClr val="202122"/>
                </a:solidFill>
              </a:rPr>
              <a:t>checkpoint</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60" name="Google Shape;560;g34042884e2b_0_7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61" name="Google Shape;561;g34042884e2b_0_73" title="螢幕擷取畫面 2025-04-05 141921.png"/>
          <p:cNvPicPr preferRelativeResize="0"/>
          <p:nvPr/>
        </p:nvPicPr>
        <p:blipFill>
          <a:blip r:embed="rId3">
            <a:alphaModFix/>
          </a:blip>
          <a:stretch>
            <a:fillRect/>
          </a:stretch>
        </p:blipFill>
        <p:spPr>
          <a:xfrm>
            <a:off x="1450225" y="2475100"/>
            <a:ext cx="8972550" cy="2476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4042884e2b_0_8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67" name="Google Shape;567;g34042884e2b_0_8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68" name="Google Shape;568;g34042884e2b_0_85"/>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下載完後執行啟動ComfyUI網頁</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69" name="Google Shape;569;g34042884e2b_0_8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70" name="Google Shape;570;g34042884e2b_0_85" title="螢幕擷取畫面 2026-05-19 220627.png"/>
          <p:cNvPicPr preferRelativeResize="0"/>
          <p:nvPr/>
        </p:nvPicPr>
        <p:blipFill>
          <a:blip r:embed="rId3">
            <a:alphaModFix/>
          </a:blip>
          <a:stretch>
            <a:fillRect/>
          </a:stretch>
        </p:blipFill>
        <p:spPr>
          <a:xfrm>
            <a:off x="953350" y="1967775"/>
            <a:ext cx="5197975" cy="41794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id="575" name="Google Shape;575;g34042884e2b_0_94" title="螢幕擷取畫面 2026-05-19 220729.png"/>
          <p:cNvPicPr preferRelativeResize="0"/>
          <p:nvPr/>
        </p:nvPicPr>
        <p:blipFill>
          <a:blip r:embed="rId3">
            <a:alphaModFix/>
          </a:blip>
          <a:stretch>
            <a:fillRect/>
          </a:stretch>
        </p:blipFill>
        <p:spPr>
          <a:xfrm>
            <a:off x="953350" y="2192800"/>
            <a:ext cx="5267325" cy="1457325"/>
          </a:xfrm>
          <a:prstGeom prst="rect">
            <a:avLst/>
          </a:prstGeom>
          <a:noFill/>
          <a:ln>
            <a:noFill/>
          </a:ln>
        </p:spPr>
      </p:pic>
      <p:sp>
        <p:nvSpPr>
          <p:cNvPr id="576" name="Google Shape;576;g34042884e2b_0_94"/>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77" name="Google Shape;577;g34042884e2b_0_94"/>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78" name="Google Shape;578;g34042884e2b_0_94"/>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確認執行階段後點擊連結</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79" name="Google Shape;579;g34042884e2b_0_94"/>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580" name="Google Shape;580;g34042884e2b_0_94"/>
          <p:cNvSpPr/>
          <p:nvPr/>
        </p:nvSpPr>
        <p:spPr>
          <a:xfrm>
            <a:off x="2936525" y="3333000"/>
            <a:ext cx="2387700" cy="192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4042884e2b_0_10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86" name="Google Shape;586;g34042884e2b_0_10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87" name="Google Shape;587;g34042884e2b_0_105"/>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輸入分配IP後點擊繼續</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88" name="Google Shape;588;g34042884e2b_0_10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89" name="Google Shape;589;g34042884e2b_0_105" title="螢幕擷取畫面 2026-05-19 220812.png"/>
          <p:cNvPicPr preferRelativeResize="0"/>
          <p:nvPr/>
        </p:nvPicPr>
        <p:blipFill>
          <a:blip r:embed="rId3">
            <a:alphaModFix/>
          </a:blip>
          <a:stretch>
            <a:fillRect/>
          </a:stretch>
        </p:blipFill>
        <p:spPr>
          <a:xfrm>
            <a:off x="690563" y="2665950"/>
            <a:ext cx="10810875" cy="1905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4042884e2b_0_11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595" name="Google Shape;595;g34042884e2b_0_11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596" name="Google Shape;596;g34042884e2b_0_116"/>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rPr>
              <a:t>成功進入ComfyUI</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597" name="Google Shape;597;g34042884e2b_0_11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598" name="Google Shape;598;g34042884e2b_0_116" title="螢幕擷取畫面 2025-04-05 143425.png"/>
          <p:cNvPicPr preferRelativeResize="0"/>
          <p:nvPr/>
        </p:nvPicPr>
        <p:blipFill>
          <a:blip r:embed="rId3">
            <a:alphaModFix/>
          </a:blip>
          <a:stretch>
            <a:fillRect/>
          </a:stretch>
        </p:blipFill>
        <p:spPr>
          <a:xfrm>
            <a:off x="1427587" y="1948377"/>
            <a:ext cx="9017822" cy="4247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4042884e2b_0_12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Colab</a:t>
            </a:r>
            <a:endParaRPr/>
          </a:p>
        </p:txBody>
      </p:sp>
      <p:sp>
        <p:nvSpPr>
          <p:cNvPr id="604" name="Google Shape;604;g34042884e2b_0_12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05" name="Google Shape;605;g34042884e2b_0_126"/>
          <p:cNvSpPr txBox="1"/>
          <p:nvPr>
            <p:ph idx="2" type="body"/>
          </p:nvPr>
        </p:nvSpPr>
        <p:spPr>
          <a:xfrm>
            <a:off x="953350" y="1618600"/>
            <a:ext cx="9966300" cy="574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u="sng">
                <a:solidFill>
                  <a:schemeClr val="hlink"/>
                </a:solidFill>
                <a:hlinkClick r:id="rId3"/>
              </a:rPr>
              <a:t>工作流下載</a:t>
            </a:r>
            <a:endParaRPr sz="1600">
              <a:solidFill>
                <a:srgbClr val="202122"/>
              </a:solidFil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606" name="Google Shape;606;g34042884e2b_0_12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07" name="Google Shape;607;g34042884e2b_0_126" title="螢幕擷取畫面 2025-04-05 144413.png"/>
          <p:cNvPicPr preferRelativeResize="0"/>
          <p:nvPr/>
        </p:nvPicPr>
        <p:blipFill>
          <a:blip r:embed="rId4">
            <a:alphaModFix/>
          </a:blip>
          <a:stretch>
            <a:fillRect/>
          </a:stretch>
        </p:blipFill>
        <p:spPr>
          <a:xfrm>
            <a:off x="953349" y="1948377"/>
            <a:ext cx="10369801" cy="422284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eb24311833_0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613" name="Google Shape;613;g3eb24311833_0_0"/>
          <p:cNvSpPr txBox="1"/>
          <p:nvPr>
            <p:ph type="ctrTitle"/>
          </p:nvPr>
        </p:nvSpPr>
        <p:spPr>
          <a:xfrm>
            <a:off x="966803" y="2241425"/>
            <a:ext cx="8184900" cy="292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300"/>
              <a:buFont typeface="Microsoft JhengHei"/>
              <a:buNone/>
            </a:pPr>
            <a:r>
              <a:rPr lang="zh-TW"/>
              <a:t>成功案例</a:t>
            </a:r>
            <a:endParaRPr/>
          </a:p>
          <a:p>
            <a:pPr indent="0" lvl="0" marL="0" rtl="0" algn="l">
              <a:lnSpc>
                <a:spcPct val="90000"/>
              </a:lnSpc>
              <a:spcBef>
                <a:spcPts val="0"/>
              </a:spcBef>
              <a:spcAft>
                <a:spcPts val="0"/>
              </a:spcAft>
              <a:buClr>
                <a:schemeClr val="lt1"/>
              </a:buClr>
              <a:buSzPts val="4300"/>
              <a:buFont typeface="Microsoft JhengHei"/>
              <a:buNone/>
            </a:pPr>
            <a:r>
              <a:t/>
            </a:r>
            <a:endParaRPr/>
          </a:p>
          <a:p>
            <a:pPr indent="0" lvl="0" marL="0" rtl="0" algn="l">
              <a:lnSpc>
                <a:spcPct val="90000"/>
              </a:lnSpc>
              <a:spcBef>
                <a:spcPts val="0"/>
              </a:spcBef>
              <a:spcAft>
                <a:spcPts val="0"/>
              </a:spcAft>
              <a:buClr>
                <a:schemeClr val="lt1"/>
              </a:buClr>
              <a:buSzPts val="4300"/>
              <a:buFont typeface="Microsoft JhengHei"/>
              <a:buNone/>
            </a:pPr>
            <a:r>
              <a:rPr lang="zh-TW"/>
              <a:t>失敗案例</a:t>
            </a:r>
            <a:endParaRPr/>
          </a:p>
        </p:txBody>
      </p:sp>
      <p:sp>
        <p:nvSpPr>
          <p:cNvPr id="614" name="Google Shape;614;g3eb24311833_0_0"/>
          <p:cNvSpPr txBox="1"/>
          <p:nvPr>
            <p:ph idx="1" type="body"/>
          </p:nvPr>
        </p:nvSpPr>
        <p:spPr>
          <a:xfrm>
            <a:off x="966788" y="808035"/>
            <a:ext cx="3748200" cy="1030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a:t>
            </a:r>
            <a:r>
              <a:rPr lang="zh-TW"/>
              <a:t>6</a:t>
            </a:r>
            <a:endParaRPr/>
          </a:p>
        </p:txBody>
      </p:sp>
      <p:sp>
        <p:nvSpPr>
          <p:cNvPr id="615" name="Google Shape;615;g3eb24311833_0_0"/>
          <p:cNvSpPr txBox="1"/>
          <p:nvPr>
            <p:ph idx="2"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e40051db1f_0_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621" name="Google Shape;621;g3e40051db1f_0_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22" name="Google Shape;622;g3e40051db1f_0_8"/>
          <p:cNvSpPr txBox="1"/>
          <p:nvPr>
            <p:ph idx="2" type="body"/>
          </p:nvPr>
        </p:nvSpPr>
        <p:spPr>
          <a:xfrm>
            <a:off x="953350" y="1522735"/>
            <a:ext cx="110304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麦橘写实 checkpoint</a:t>
            </a:r>
            <a:r>
              <a:rPr lang="zh-TW" sz="1600">
                <a:solidFill>
                  <a:srgbClr val="202122"/>
                </a:solidFill>
                <a:highlight>
                  <a:srgbClr val="FFFFFF"/>
                </a:highlight>
              </a:rPr>
              <a:t>：</a:t>
            </a:r>
            <a:r>
              <a:rPr lang="zh-TW" sz="1600" u="sng">
                <a:solidFill>
                  <a:schemeClr val="hlink"/>
                </a:solidFill>
                <a:highlight>
                  <a:srgbClr val="FFFFFF"/>
                </a:highlight>
                <a:hlinkClick r:id="rId3"/>
              </a:rPr>
              <a:t>https://civitai.com/models/43331/majicmix-realistic</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623" name="Google Shape;623;g3e40051db1f_0_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24" name="Google Shape;624;g3e40051db1f_0_8" title="螢幕擷取畫面 2026-05-22 142832.png"/>
          <p:cNvPicPr preferRelativeResize="0"/>
          <p:nvPr/>
        </p:nvPicPr>
        <p:blipFill>
          <a:blip r:embed="rId4">
            <a:alphaModFix/>
          </a:blip>
          <a:stretch>
            <a:fillRect/>
          </a:stretch>
        </p:blipFill>
        <p:spPr>
          <a:xfrm>
            <a:off x="2282601" y="2006277"/>
            <a:ext cx="7029726" cy="40706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e40051db1f_0_1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4300"/>
              <a:buFont typeface="Microsoft JhengHei"/>
              <a:buNone/>
            </a:pPr>
            <a:r>
              <a:rPr lang="zh-TW"/>
              <a:t>Civitai</a:t>
            </a:r>
            <a:endParaRPr/>
          </a:p>
        </p:txBody>
      </p:sp>
      <p:sp>
        <p:nvSpPr>
          <p:cNvPr id="630" name="Google Shape;630;g3e40051db1f_0_1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31" name="Google Shape;631;g3e40051db1f_0_16"/>
          <p:cNvSpPr txBox="1"/>
          <p:nvPr>
            <p:ph idx="2" type="body"/>
          </p:nvPr>
        </p:nvSpPr>
        <p:spPr>
          <a:xfrm>
            <a:off x="953350" y="1618600"/>
            <a:ext cx="110304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芙莉蓮 </a:t>
            </a:r>
            <a:r>
              <a:rPr lang="zh-TW" sz="1600">
                <a:solidFill>
                  <a:srgbClr val="202122"/>
                </a:solidFill>
                <a:highlight>
                  <a:srgbClr val="FFFFFF"/>
                </a:highlight>
              </a:rPr>
              <a:t>LoRA：</a:t>
            </a:r>
            <a:r>
              <a:rPr lang="zh-TW" sz="1600" u="sng">
                <a:solidFill>
                  <a:schemeClr val="hlink"/>
                </a:solidFill>
                <a:highlight>
                  <a:srgbClr val="FFFFFF"/>
                </a:highlight>
                <a:hlinkClick r:id="rId3"/>
              </a:rPr>
              <a:t>https://civitai.com/models/180978/frieren-style-or-sousou-no-frieren-lora</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632" name="Google Shape;632;g3e40051db1f_0_1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33" name="Google Shape;633;g3e40051db1f_0_16" title="螢幕擷取畫面 2026-05-22 142920.png"/>
          <p:cNvPicPr preferRelativeResize="0"/>
          <p:nvPr/>
        </p:nvPicPr>
        <p:blipFill>
          <a:blip r:embed="rId4">
            <a:alphaModFix/>
          </a:blip>
          <a:stretch>
            <a:fillRect/>
          </a:stretch>
        </p:blipFill>
        <p:spPr>
          <a:xfrm>
            <a:off x="2731174" y="2028977"/>
            <a:ext cx="6729649" cy="40479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e40051db1f_0_2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失敗案例</a:t>
            </a:r>
            <a:endParaRPr/>
          </a:p>
        </p:txBody>
      </p:sp>
      <p:sp>
        <p:nvSpPr>
          <p:cNvPr id="639" name="Google Shape;639;g3e40051db1f_0_2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40" name="Google Shape;640;g3e40051db1f_0_2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41" name="Google Shape;641;g3e40051db1f_0_28" title="ComfyUI_temp_stqru_00002_.png"/>
          <p:cNvPicPr preferRelativeResize="0"/>
          <p:nvPr/>
        </p:nvPicPr>
        <p:blipFill>
          <a:blip r:embed="rId3">
            <a:alphaModFix/>
          </a:blip>
          <a:stretch>
            <a:fillRect/>
          </a:stretch>
        </p:blipFill>
        <p:spPr>
          <a:xfrm>
            <a:off x="7794725" y="82050"/>
            <a:ext cx="3666275" cy="6416001"/>
          </a:xfrm>
          <a:prstGeom prst="rect">
            <a:avLst/>
          </a:prstGeom>
          <a:noFill/>
          <a:ln>
            <a:noFill/>
          </a:ln>
        </p:spPr>
      </p:pic>
      <p:sp>
        <p:nvSpPr>
          <p:cNvPr id="642" name="Google Shape;642;g3e40051db1f_0_28"/>
          <p:cNvSpPr txBox="1"/>
          <p:nvPr>
            <p:ph idx="2" type="body"/>
          </p:nvPr>
        </p:nvSpPr>
        <p:spPr>
          <a:xfrm>
            <a:off x="953350" y="1618600"/>
            <a:ext cx="6451800" cy="3806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chemeClr val="lt1"/>
                </a:highlight>
              </a:rPr>
              <a:t>麦橘写实 checkpoint：</a:t>
            </a:r>
            <a:r>
              <a:rPr lang="zh-TW" sz="1600" u="sng">
                <a:solidFill>
                  <a:schemeClr val="hlink"/>
                </a:solidFill>
                <a:highlight>
                  <a:schemeClr val="lt1"/>
                </a:highlight>
                <a:hlinkClick r:id="rId4"/>
              </a:rPr>
              <a:t>https://civitai.com/models/43331/majicmix-realistic</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zh-TW" sz="1600">
                <a:solidFill>
                  <a:srgbClr val="202122"/>
                </a:solidFill>
                <a:highlight>
                  <a:schemeClr val="lt1"/>
                </a:highlight>
              </a:rPr>
              <a:t>芙莉蓮 LoRA：</a:t>
            </a:r>
            <a:r>
              <a:rPr lang="zh-TW" sz="1600" u="sng">
                <a:solidFill>
                  <a:schemeClr val="hlink"/>
                </a:solidFill>
                <a:highlight>
                  <a:schemeClr val="lt1"/>
                </a:highlight>
                <a:hlinkClick r:id="rId5"/>
              </a:rPr>
              <a:t>https://civitai.com/models/180978/frieren-style-or-sousou-no-frieren-lora</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e40051db1f_0_3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失敗案例</a:t>
            </a:r>
            <a:endParaRPr/>
          </a:p>
        </p:txBody>
      </p:sp>
      <p:sp>
        <p:nvSpPr>
          <p:cNvPr id="648" name="Google Shape;648;g3e40051db1f_0_3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49" name="Google Shape;649;g3e40051db1f_0_3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650" name="Google Shape;650;g3e40051db1f_0_37"/>
          <p:cNvSpPr txBox="1"/>
          <p:nvPr>
            <p:ph idx="2" type="body"/>
          </p:nvPr>
        </p:nvSpPr>
        <p:spPr>
          <a:xfrm>
            <a:off x="953350" y="1618600"/>
            <a:ext cx="110304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zh-TW" sz="1600">
                <a:solidFill>
                  <a:srgbClr val="202122"/>
                </a:solidFill>
                <a:highlight>
                  <a:schemeClr val="lt1"/>
                </a:highlight>
              </a:rPr>
              <a:t>麦橘写实 checkpoint：</a:t>
            </a:r>
            <a:r>
              <a:rPr lang="zh-TW" sz="1600" u="sng">
                <a:solidFill>
                  <a:schemeClr val="hlink"/>
                </a:solidFill>
                <a:highlight>
                  <a:schemeClr val="lt1"/>
                </a:highlight>
                <a:hlinkClick r:id="rId3"/>
              </a:rPr>
              <a:t>https://civitai.com/models/43331/majicmix-realistic</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651" name="Google Shape;651;g3e40051db1f_0_37" title="ComfyUI_temp_stqru_00013_.png"/>
          <p:cNvPicPr preferRelativeResize="0"/>
          <p:nvPr/>
        </p:nvPicPr>
        <p:blipFill>
          <a:blip r:embed="rId4">
            <a:alphaModFix/>
          </a:blip>
          <a:stretch>
            <a:fillRect/>
          </a:stretch>
        </p:blipFill>
        <p:spPr>
          <a:xfrm>
            <a:off x="7924275" y="34650"/>
            <a:ext cx="3879276" cy="67886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e40051db1f_0_4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失敗案例</a:t>
            </a:r>
            <a:endParaRPr/>
          </a:p>
        </p:txBody>
      </p:sp>
      <p:sp>
        <p:nvSpPr>
          <p:cNvPr id="657" name="Google Shape;657;g3e40051db1f_0_4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58" name="Google Shape;658;g3e40051db1f_0_4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659" name="Google Shape;659;g3e40051db1f_0_46"/>
          <p:cNvSpPr txBox="1"/>
          <p:nvPr>
            <p:ph idx="2" type="body"/>
          </p:nvPr>
        </p:nvSpPr>
        <p:spPr>
          <a:xfrm>
            <a:off x="953350" y="1618600"/>
            <a:ext cx="11030400" cy="758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chemeClr val="lt1"/>
                </a:highlight>
                <a:latin typeface="Arial"/>
                <a:ea typeface="Arial"/>
                <a:cs typeface="Arial"/>
                <a:sym typeface="Arial"/>
              </a:rPr>
              <a:t>麦橘写实 checkpoint：</a:t>
            </a:r>
            <a:r>
              <a:rPr lang="zh-TW" sz="1600" u="sng">
                <a:solidFill>
                  <a:schemeClr val="hlink"/>
                </a:solidFill>
                <a:highlight>
                  <a:schemeClr val="lt1"/>
                </a:highlight>
                <a:latin typeface="Arial"/>
                <a:ea typeface="Arial"/>
                <a:cs typeface="Arial"/>
                <a:sym typeface="Arial"/>
                <a:hlinkClick r:id="rId3"/>
              </a:rPr>
              <a:t>https://civitai.com/models/43331/majicmix-realistic</a:t>
            </a:r>
            <a:endParaRPr sz="1600">
              <a:solidFill>
                <a:srgbClr val="202122"/>
              </a:solidFill>
              <a:highlight>
                <a:srgbClr val="FFFFFF"/>
              </a:highlight>
              <a:latin typeface="Arial"/>
              <a:ea typeface="Arial"/>
              <a:cs typeface="Arial"/>
              <a:sym typeface="Arial"/>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a:solidFill>
                  <a:srgbClr val="202122"/>
                </a:solidFill>
                <a:highlight>
                  <a:srgbClr val="FFFFFF"/>
                </a:highlight>
              </a:rPr>
              <a:t>提示詞不夠詳細</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660" name="Google Shape;660;g3e40051db1f_0_46" title="ComfyUI_temp_stqru_00014_.png"/>
          <p:cNvPicPr preferRelativeResize="0"/>
          <p:nvPr/>
        </p:nvPicPr>
        <p:blipFill>
          <a:blip r:embed="rId4">
            <a:alphaModFix/>
          </a:blip>
          <a:stretch>
            <a:fillRect/>
          </a:stretch>
        </p:blipFill>
        <p:spPr>
          <a:xfrm>
            <a:off x="7900375" y="56863"/>
            <a:ext cx="3853901" cy="67442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4e2249758d_1_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666" name="Google Shape;666;g34e2249758d_1_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67" name="Google Shape;667;g34e2249758d_1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68" name="Google Shape;668;g34e2249758d_1_0" title="ComfyUI_temp_fztsb_00001_.png"/>
          <p:cNvPicPr preferRelativeResize="0"/>
          <p:nvPr/>
        </p:nvPicPr>
        <p:blipFill>
          <a:blip r:embed="rId3">
            <a:alphaModFix/>
          </a:blip>
          <a:stretch>
            <a:fillRect/>
          </a:stretch>
        </p:blipFill>
        <p:spPr>
          <a:xfrm>
            <a:off x="7959954" y="23938"/>
            <a:ext cx="3891496" cy="6810125"/>
          </a:xfrm>
          <a:prstGeom prst="rect">
            <a:avLst/>
          </a:prstGeom>
          <a:noFill/>
          <a:ln>
            <a:noFill/>
          </a:ln>
        </p:spPr>
      </p:pic>
      <p:sp>
        <p:nvSpPr>
          <p:cNvPr id="669" name="Google Shape;669;g34e2249758d_1_0"/>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Obsession (Illustrious-XL) </a:t>
            </a:r>
            <a:r>
              <a:rPr lang="zh-TW" sz="1600">
                <a:solidFill>
                  <a:srgbClr val="202122"/>
                </a:solidFill>
                <a:highlight>
                  <a:srgbClr val="FFFFFF"/>
                </a:highlight>
              </a:rPr>
              <a:t>Checkpoint：</a:t>
            </a:r>
            <a:r>
              <a:rPr lang="zh-TW" sz="1600" u="sng">
                <a:solidFill>
                  <a:schemeClr val="hlink"/>
                </a:solidFill>
                <a:highlight>
                  <a:srgbClr val="FFFFFF"/>
                </a:highlight>
                <a:hlinkClick r:id="rId4"/>
              </a:rPr>
              <a:t>https://civitai.com/models/820208/obsession-illustrious-xl?modelVersionId=1494740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34e2249758d_1_1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675" name="Google Shape;675;g34e2249758d_1_1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76" name="Google Shape;676;g34e2249758d_1_1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77" name="Google Shape;677;g34e2249758d_1_12" title="ComfyUI_temp_xtxit_00002_.png"/>
          <p:cNvPicPr preferRelativeResize="0"/>
          <p:nvPr/>
        </p:nvPicPr>
        <p:blipFill>
          <a:blip r:embed="rId3">
            <a:alphaModFix/>
          </a:blip>
          <a:stretch>
            <a:fillRect/>
          </a:stretch>
        </p:blipFill>
        <p:spPr>
          <a:xfrm>
            <a:off x="7097088" y="0"/>
            <a:ext cx="4692312" cy="6858000"/>
          </a:xfrm>
          <a:prstGeom prst="rect">
            <a:avLst/>
          </a:prstGeom>
          <a:noFill/>
          <a:ln>
            <a:noFill/>
          </a:ln>
        </p:spPr>
      </p:pic>
      <p:sp>
        <p:nvSpPr>
          <p:cNvPr id="678" name="Google Shape;678;g34e2249758d_1_12"/>
          <p:cNvSpPr txBox="1"/>
          <p:nvPr>
            <p:ph idx="2" type="body"/>
          </p:nvPr>
        </p:nvSpPr>
        <p:spPr>
          <a:xfrm>
            <a:off x="953350" y="1618600"/>
            <a:ext cx="11030400" cy="1782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chemeClr val="lt1"/>
                </a:highlight>
              </a:rPr>
              <a:t>Animagine XL 4.0</a:t>
            </a:r>
            <a:r>
              <a:rPr lang="zh-TW" sz="1600">
                <a:solidFill>
                  <a:srgbClr val="202122"/>
                </a:solidFill>
                <a:highlight>
                  <a:schemeClr val="lt1"/>
                </a:highlight>
              </a:rPr>
              <a:t> checkpoint：</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u="sng">
                <a:solidFill>
                  <a:schemeClr val="hlink"/>
                </a:solidFill>
                <a:highlight>
                  <a:schemeClr val="lt1"/>
                </a:highlight>
                <a:hlinkClick r:id="rId4"/>
              </a:rPr>
              <a:t>https://civitai.com/models/1188071/animagine-xl-40?modelVersionId=1337429</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a:solidFill>
                  <a:srgbClr val="202122"/>
                </a:solidFill>
                <a:highlight>
                  <a:schemeClr val="lt1"/>
                </a:highlight>
              </a:rPr>
              <a:t>test-lora：</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u="sng">
                <a:solidFill>
                  <a:schemeClr val="hlink"/>
                </a:solidFill>
                <a:highlight>
                  <a:schemeClr val="lt1"/>
                </a:highlight>
                <a:hlinkClick r:id="rId5"/>
              </a:rPr>
              <a:t>https://civitai.com/models/1209474/test-lora?modelVersionId=1373925</a:t>
            </a:r>
            <a:endParaRPr sz="1600">
              <a:solidFill>
                <a:srgbClr val="202122"/>
              </a:solidFill>
              <a:highlight>
                <a:schemeClr val="lt1"/>
              </a:highlight>
            </a:endParaRPr>
          </a:p>
          <a:p>
            <a:pPr indent="0" lvl="0" marL="0" rtl="0" algn="l">
              <a:lnSpc>
                <a:spcPct val="150000"/>
              </a:lnSpc>
              <a:spcBef>
                <a:spcPts val="0"/>
              </a:spcBef>
              <a:spcAft>
                <a:spcPts val="0"/>
              </a:spcAft>
              <a:buNone/>
            </a:pPr>
            <a:r>
              <a:t/>
            </a:r>
            <a:endParaRPr sz="1600">
              <a:solidFill>
                <a:srgbClr val="202122"/>
              </a:solidFill>
              <a:highlight>
                <a:schemeClr val="lt1"/>
              </a:high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4e2249758d_1_2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684" name="Google Shape;684;g34e2249758d_1_2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85" name="Google Shape;685;g34e2249758d_1_2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86" name="Google Shape;686;g34e2249758d_1_21" title="ComfyUI_temp_xtxit_00001_ (1).png"/>
          <p:cNvPicPr preferRelativeResize="0"/>
          <p:nvPr/>
        </p:nvPicPr>
        <p:blipFill>
          <a:blip r:embed="rId3">
            <a:alphaModFix/>
          </a:blip>
          <a:stretch>
            <a:fillRect/>
          </a:stretch>
        </p:blipFill>
        <p:spPr>
          <a:xfrm>
            <a:off x="6245318" y="0"/>
            <a:ext cx="5486431" cy="6858000"/>
          </a:xfrm>
          <a:prstGeom prst="rect">
            <a:avLst/>
          </a:prstGeom>
          <a:noFill/>
          <a:ln>
            <a:noFill/>
          </a:ln>
        </p:spPr>
      </p:pic>
      <p:sp>
        <p:nvSpPr>
          <p:cNvPr id="687" name="Google Shape;687;g34e2249758d_1_21"/>
          <p:cNvSpPr txBox="1"/>
          <p:nvPr>
            <p:ph idx="2" type="body"/>
          </p:nvPr>
        </p:nvSpPr>
        <p:spPr>
          <a:xfrm>
            <a:off x="953350" y="1618600"/>
            <a:ext cx="11030400" cy="1782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chemeClr val="lt1"/>
                </a:highlight>
              </a:rPr>
              <a:t>Animagine XL 4.0 checkpoint：</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u="sng">
                <a:solidFill>
                  <a:schemeClr val="hlink"/>
                </a:solidFill>
                <a:highlight>
                  <a:schemeClr val="lt1"/>
                </a:highlight>
                <a:hlinkClick r:id="rId4"/>
              </a:rPr>
              <a:t>https://civitai.com/models/1188071/animagine-xl-40?modelVersionId=1337429</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a:solidFill>
                  <a:srgbClr val="202122"/>
                </a:solidFill>
                <a:highlight>
                  <a:schemeClr val="lt1"/>
                </a:highlight>
              </a:rPr>
              <a:t>test-lora：</a:t>
            </a:r>
            <a:endParaRPr sz="1600">
              <a:solidFill>
                <a:srgbClr val="202122"/>
              </a:solidFill>
              <a:highlight>
                <a:schemeClr val="lt1"/>
              </a:highlight>
            </a:endParaRPr>
          </a:p>
          <a:p>
            <a:pPr indent="0" lvl="0" marL="0" rtl="0" algn="l">
              <a:lnSpc>
                <a:spcPct val="150000"/>
              </a:lnSpc>
              <a:spcBef>
                <a:spcPts val="0"/>
              </a:spcBef>
              <a:spcAft>
                <a:spcPts val="0"/>
              </a:spcAft>
              <a:buNone/>
            </a:pPr>
            <a:r>
              <a:rPr lang="zh-TW" sz="1600" u="sng">
                <a:solidFill>
                  <a:schemeClr val="hlink"/>
                </a:solidFill>
                <a:highlight>
                  <a:schemeClr val="lt1"/>
                </a:highlight>
                <a:hlinkClick r:id="rId5"/>
              </a:rPr>
              <a:t>https://civitai.com/models/1209474/test-lora?modelVersionId=1373925</a:t>
            </a:r>
            <a:endParaRPr sz="1600">
              <a:solidFill>
                <a:srgbClr val="202122"/>
              </a:solidFill>
              <a:highlight>
                <a:schemeClr val="lt1"/>
              </a:highlight>
            </a:endParaRPr>
          </a:p>
          <a:p>
            <a:pPr indent="0" lvl="0" marL="0" rtl="0" algn="l">
              <a:lnSpc>
                <a:spcPct val="150000"/>
              </a:lnSpc>
              <a:spcBef>
                <a:spcPts val="0"/>
              </a:spcBef>
              <a:spcAft>
                <a:spcPts val="0"/>
              </a:spcAft>
              <a:buNone/>
            </a:pPr>
            <a:r>
              <a:t/>
            </a:r>
            <a:endParaRPr sz="1600">
              <a:solidFill>
                <a:srgbClr val="202122"/>
              </a:solidFill>
              <a:highlight>
                <a:schemeClr val="lt1"/>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34e2249758d_1_38"/>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693" name="Google Shape;693;g34e2249758d_1_38"/>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694" name="Google Shape;694;g34e2249758d_1_38"/>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695" name="Google Shape;695;g34e2249758d_1_38" title="ComfyUI_00005_.png"/>
          <p:cNvPicPr preferRelativeResize="0"/>
          <p:nvPr/>
        </p:nvPicPr>
        <p:blipFill>
          <a:blip r:embed="rId3">
            <a:alphaModFix/>
          </a:blip>
          <a:stretch>
            <a:fillRect/>
          </a:stretch>
        </p:blipFill>
        <p:spPr>
          <a:xfrm>
            <a:off x="6984588" y="1"/>
            <a:ext cx="4692312" cy="6858000"/>
          </a:xfrm>
          <a:prstGeom prst="rect">
            <a:avLst/>
          </a:prstGeom>
          <a:noFill/>
          <a:ln>
            <a:noFill/>
          </a:ln>
        </p:spPr>
      </p:pic>
      <p:sp>
        <p:nvSpPr>
          <p:cNvPr id="696" name="Google Shape;696;g34e2249758d_1_38"/>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Obsession (Illustrious-XL) Checkpoint：</a:t>
            </a:r>
            <a:r>
              <a:rPr lang="zh-TW" sz="1600" u="sng">
                <a:solidFill>
                  <a:schemeClr val="hlink"/>
                </a:solidFill>
                <a:highlight>
                  <a:srgbClr val="FFFFFF"/>
                </a:highlight>
                <a:hlinkClick r:id="rId4"/>
              </a:rPr>
              <a:t>https://civitai.com/models/820208/obsession-illustrious-xl?modelVersionId=1494740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697" name="Google Shape;697;g34e2249758d_1_38"/>
          <p:cNvSpPr txBox="1"/>
          <p:nvPr>
            <p:ph idx="2" type="body"/>
          </p:nvPr>
        </p:nvSpPr>
        <p:spPr>
          <a:xfrm>
            <a:off x="947750" y="25896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ma1ma1helmes</a:t>
            </a:r>
            <a:r>
              <a:rPr lang="zh-TW" sz="1600">
                <a:solidFill>
                  <a:srgbClr val="202122"/>
                </a:solidFill>
                <a:highlight>
                  <a:srgbClr val="FFFFFF"/>
                </a:highlight>
              </a:rPr>
              <a:t> LoRA：</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u="sng">
                <a:solidFill>
                  <a:schemeClr val="hlink"/>
                </a:solidFill>
                <a:highlight>
                  <a:srgbClr val="FFFFFF"/>
                </a:highlight>
                <a:hlinkClick r:id="rId5"/>
              </a:rPr>
              <a:t>https://civitai.com/models/1204563/ma1ma1helmes-or-shiiros-styles-or-niji?modelVersionId=1356500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698" name="Google Shape;698;g34e2249758d_1_38"/>
          <p:cNvSpPr txBox="1"/>
          <p:nvPr>
            <p:ph idx="2" type="body"/>
          </p:nvPr>
        </p:nvSpPr>
        <p:spPr>
          <a:xfrm>
            <a:off x="947750" y="3440850"/>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R754496</a:t>
            </a:r>
            <a:r>
              <a:rPr lang="zh-TW" sz="1600">
                <a:solidFill>
                  <a:srgbClr val="202122"/>
                </a:solidFill>
                <a:highlight>
                  <a:srgbClr val="FFFFFF"/>
                </a:highlight>
              </a:rPr>
              <a:t> LoRA：</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u="sng">
                <a:solidFill>
                  <a:schemeClr val="hlink"/>
                </a:solidFill>
                <a:highlight>
                  <a:srgbClr val="FFFFFF"/>
                </a:highlight>
                <a:hlinkClick r:id="rId6"/>
              </a:rPr>
              <a:t>https://civitai.com/models/1201355/r754496-or-shiiros-styles-or-niji</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4e2249758d_1_4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704" name="Google Shape;704;g34e2249758d_1_4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05" name="Google Shape;705;g34e2249758d_1_4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706" name="Google Shape;706;g34e2249758d_1_45" title="ComfyUI_00006_.png"/>
          <p:cNvPicPr preferRelativeResize="0"/>
          <p:nvPr/>
        </p:nvPicPr>
        <p:blipFill>
          <a:blip r:embed="rId3">
            <a:alphaModFix/>
          </a:blip>
          <a:stretch>
            <a:fillRect/>
          </a:stretch>
        </p:blipFill>
        <p:spPr>
          <a:xfrm>
            <a:off x="6475928" y="-3"/>
            <a:ext cx="5486395" cy="6858000"/>
          </a:xfrm>
          <a:prstGeom prst="rect">
            <a:avLst/>
          </a:prstGeom>
          <a:noFill/>
          <a:ln>
            <a:noFill/>
          </a:ln>
        </p:spPr>
      </p:pic>
      <p:sp>
        <p:nvSpPr>
          <p:cNvPr id="707" name="Google Shape;707;g34e2249758d_1_45"/>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Obsession (Illustrious-XL) Checkpoint：</a:t>
            </a:r>
            <a:r>
              <a:rPr lang="zh-TW" sz="1600" u="sng">
                <a:solidFill>
                  <a:schemeClr val="hlink"/>
                </a:solidFill>
                <a:highlight>
                  <a:srgbClr val="FFFFFF"/>
                </a:highlight>
                <a:hlinkClick r:id="rId4"/>
              </a:rPr>
              <a:t>https://civitai.com/models/820208/obsession-illustrious-xl?modelVersionId=1494740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708" name="Google Shape;708;g34e2249758d_1_45"/>
          <p:cNvSpPr txBox="1"/>
          <p:nvPr>
            <p:ph idx="2" type="body"/>
          </p:nvPr>
        </p:nvSpPr>
        <p:spPr>
          <a:xfrm>
            <a:off x="947750" y="25896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ma1ma1helmes LoRA：</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u="sng">
                <a:solidFill>
                  <a:schemeClr val="hlink"/>
                </a:solidFill>
                <a:highlight>
                  <a:srgbClr val="FFFFFF"/>
                </a:highlight>
                <a:hlinkClick r:id="rId5"/>
              </a:rPr>
              <a:t>https://civitai.com/models/1204563/ma1ma1helmes-or-shiiros-styles-or-niji?modelVersionId=1356500</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
        <p:nvSpPr>
          <p:cNvPr id="709" name="Google Shape;709;g34e2249758d_1_45"/>
          <p:cNvSpPr txBox="1"/>
          <p:nvPr>
            <p:ph idx="2" type="body"/>
          </p:nvPr>
        </p:nvSpPr>
        <p:spPr>
          <a:xfrm>
            <a:off x="947750" y="3440850"/>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R754496 LoRA：</a:t>
            </a:r>
            <a:endParaRPr sz="1600">
              <a:solidFill>
                <a:srgbClr val="202122"/>
              </a:solidFill>
              <a:highlight>
                <a:srgbClr val="FFFFFF"/>
              </a:highlight>
            </a:endParaRPr>
          </a:p>
          <a:p>
            <a:pPr indent="0" lvl="0" marL="0" rtl="0" algn="l">
              <a:lnSpc>
                <a:spcPct val="150000"/>
              </a:lnSpc>
              <a:spcBef>
                <a:spcPts val="0"/>
              </a:spcBef>
              <a:spcAft>
                <a:spcPts val="0"/>
              </a:spcAft>
              <a:buNone/>
            </a:pPr>
            <a:r>
              <a:rPr lang="zh-TW" sz="1600" u="sng">
                <a:solidFill>
                  <a:schemeClr val="hlink"/>
                </a:solidFill>
                <a:highlight>
                  <a:srgbClr val="FFFFFF"/>
                </a:highlight>
                <a:hlinkClick r:id="rId6"/>
              </a:rPr>
              <a:t>https://civitai.com/models/1201355/r754496-or-shiiros-styles-or-niji</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15" name="Google Shape;715;p16"/>
          <p:cNvSpPr txBox="1"/>
          <p:nvPr>
            <p:ph type="ctrTitle"/>
          </p:nvPr>
        </p:nvSpPr>
        <p:spPr>
          <a:xfrm>
            <a:off x="966788" y="2241418"/>
            <a:ext cx="6356400" cy="292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4300"/>
              <a:buFont typeface="Microsoft JhengHei"/>
              <a:buNone/>
            </a:pPr>
            <a:r>
              <a:rPr lang="zh-TW"/>
              <a:t>Sulphur 2 影片生成</a:t>
            </a:r>
            <a:endParaRPr/>
          </a:p>
        </p:txBody>
      </p:sp>
      <p:sp>
        <p:nvSpPr>
          <p:cNvPr id="716" name="Google Shape;716;p16"/>
          <p:cNvSpPr txBox="1"/>
          <p:nvPr>
            <p:ph idx="1" type="body"/>
          </p:nvPr>
        </p:nvSpPr>
        <p:spPr>
          <a:xfrm>
            <a:off x="966788" y="808035"/>
            <a:ext cx="3748200" cy="1030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07</a:t>
            </a:r>
            <a:endParaRPr/>
          </a:p>
        </p:txBody>
      </p:sp>
      <p:sp>
        <p:nvSpPr>
          <p:cNvPr id="717" name="Google Shape;717;p16"/>
          <p:cNvSpPr txBox="1"/>
          <p:nvPr>
            <p:ph idx="2"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ea92f76692_0_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a:t>
            </a:r>
            <a:r>
              <a:rPr lang="zh-TW"/>
              <a:t>安裝  </a:t>
            </a:r>
            <a:r>
              <a:rPr lang="zh-TW" u="sng">
                <a:solidFill>
                  <a:schemeClr val="hlink"/>
                </a:solidFill>
                <a:hlinkClick r:id="rId3"/>
              </a:rPr>
              <a:t>Download</a:t>
            </a:r>
            <a:r>
              <a:rPr lang="zh-TW"/>
              <a:t>  </a:t>
            </a:r>
            <a:endParaRPr/>
          </a:p>
        </p:txBody>
      </p:sp>
      <p:sp>
        <p:nvSpPr>
          <p:cNvPr id="723" name="Google Shape;723;g3ea92f76692_0_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24" name="Google Shape;724;g3ea92f76692_0_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725" name="Google Shape;725;g3ea92f76692_0_9" title="螢幕擷取畫面 2026-06-10 143524.png"/>
          <p:cNvPicPr preferRelativeResize="0"/>
          <p:nvPr/>
        </p:nvPicPr>
        <p:blipFill>
          <a:blip r:embed="rId4">
            <a:alphaModFix/>
          </a:blip>
          <a:stretch>
            <a:fillRect/>
          </a:stretch>
        </p:blipFill>
        <p:spPr>
          <a:xfrm>
            <a:off x="981430" y="1551535"/>
            <a:ext cx="10229157" cy="4503437"/>
          </a:xfrm>
          <a:prstGeom prst="rect">
            <a:avLst/>
          </a:prstGeom>
          <a:noFill/>
          <a:ln>
            <a:noFill/>
          </a:ln>
        </p:spPr>
      </p:pic>
      <p:sp>
        <p:nvSpPr>
          <p:cNvPr id="726" name="Google Shape;726;g3ea92f76692_0_9"/>
          <p:cNvSpPr/>
          <p:nvPr/>
        </p:nvSpPr>
        <p:spPr>
          <a:xfrm>
            <a:off x="5036350" y="4936700"/>
            <a:ext cx="1417800" cy="492000"/>
          </a:xfrm>
          <a:prstGeom prst="rect">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eab76226d2_0_4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ComfyUI安裝  </a:t>
            </a:r>
            <a:r>
              <a:rPr lang="zh-TW" u="sng">
                <a:solidFill>
                  <a:schemeClr val="hlink"/>
                </a:solidFill>
                <a:hlinkClick r:id="rId3"/>
              </a:rPr>
              <a:t>Download</a:t>
            </a:r>
            <a:r>
              <a:rPr lang="zh-TW"/>
              <a:t>  </a:t>
            </a:r>
            <a:endParaRPr/>
          </a:p>
        </p:txBody>
      </p:sp>
      <p:sp>
        <p:nvSpPr>
          <p:cNvPr id="732" name="Google Shape;732;g3eab76226d2_0_4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33" name="Google Shape;733;g3eab76226d2_0_4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734" name="Google Shape;734;g3eab76226d2_0_41" title="螢幕擷取畫面 2026-06-10 235743.png"/>
          <p:cNvPicPr preferRelativeResize="0"/>
          <p:nvPr/>
        </p:nvPicPr>
        <p:blipFill>
          <a:blip r:embed="rId4">
            <a:alphaModFix/>
          </a:blip>
          <a:stretch>
            <a:fillRect/>
          </a:stretch>
        </p:blipFill>
        <p:spPr>
          <a:xfrm>
            <a:off x="1071700" y="2432360"/>
            <a:ext cx="4743450" cy="3695700"/>
          </a:xfrm>
          <a:prstGeom prst="rect">
            <a:avLst/>
          </a:prstGeom>
          <a:noFill/>
          <a:ln>
            <a:noFill/>
          </a:ln>
        </p:spPr>
      </p:pic>
      <p:pic>
        <p:nvPicPr>
          <p:cNvPr id="735" name="Google Shape;735;g3eab76226d2_0_41" title="螢幕擷取畫面 2026-06-10 235751.png"/>
          <p:cNvPicPr preferRelativeResize="0"/>
          <p:nvPr/>
        </p:nvPicPr>
        <p:blipFill>
          <a:blip r:embed="rId5">
            <a:alphaModFix/>
          </a:blip>
          <a:stretch>
            <a:fillRect/>
          </a:stretch>
        </p:blipFill>
        <p:spPr>
          <a:xfrm>
            <a:off x="6316375" y="2677285"/>
            <a:ext cx="4638675" cy="3305175"/>
          </a:xfrm>
          <a:prstGeom prst="rect">
            <a:avLst/>
          </a:prstGeom>
          <a:noFill/>
          <a:ln>
            <a:noFill/>
          </a:ln>
        </p:spPr>
      </p:pic>
      <p:sp>
        <p:nvSpPr>
          <p:cNvPr id="736" name="Google Shape;736;g3eab76226d2_0_41"/>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下載好安裝檔後執行並自行選擇安裝位置</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eab76226d2_0_5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a:t>
            </a:r>
            <a:r>
              <a:rPr lang="zh-TW"/>
              <a:t> Desktop執行</a:t>
            </a:r>
            <a:endParaRPr/>
          </a:p>
        </p:txBody>
      </p:sp>
      <p:sp>
        <p:nvSpPr>
          <p:cNvPr id="742" name="Google Shape;742;g3eab76226d2_0_5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43" name="Google Shape;743;g3eab76226d2_0_5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44" name="Google Shape;744;g3eab76226d2_0_52"/>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執行comfyui desktop後新建安裝、命名與選擇安裝地點後安裝</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745" name="Google Shape;745;g3eab76226d2_0_52" title="螢幕擷取畫面 2026-06-11 000223.png"/>
          <p:cNvPicPr preferRelativeResize="0"/>
          <p:nvPr/>
        </p:nvPicPr>
        <p:blipFill>
          <a:blip r:embed="rId3">
            <a:alphaModFix/>
          </a:blip>
          <a:stretch>
            <a:fillRect/>
          </a:stretch>
        </p:blipFill>
        <p:spPr>
          <a:xfrm>
            <a:off x="572462" y="2185800"/>
            <a:ext cx="5264152" cy="3699923"/>
          </a:xfrm>
          <a:prstGeom prst="rect">
            <a:avLst/>
          </a:prstGeom>
          <a:noFill/>
          <a:ln>
            <a:noFill/>
          </a:ln>
        </p:spPr>
      </p:pic>
      <p:pic>
        <p:nvPicPr>
          <p:cNvPr id="746" name="Google Shape;746;g3eab76226d2_0_52" title="螢幕擷取畫面 2026-06-11 000234.png"/>
          <p:cNvPicPr preferRelativeResize="0"/>
          <p:nvPr/>
        </p:nvPicPr>
        <p:blipFill>
          <a:blip r:embed="rId4">
            <a:alphaModFix/>
          </a:blip>
          <a:stretch>
            <a:fillRect/>
          </a:stretch>
        </p:blipFill>
        <p:spPr>
          <a:xfrm>
            <a:off x="6001358" y="2185800"/>
            <a:ext cx="5287981" cy="3699924"/>
          </a:xfrm>
          <a:prstGeom prst="rect">
            <a:avLst/>
          </a:prstGeom>
          <a:noFill/>
          <a:ln>
            <a:noFill/>
          </a:ln>
        </p:spPr>
      </p:pic>
      <p:sp>
        <p:nvSpPr>
          <p:cNvPr id="747" name="Google Shape;747;g3eab76226d2_0_52"/>
          <p:cNvSpPr/>
          <p:nvPr/>
        </p:nvSpPr>
        <p:spPr>
          <a:xfrm>
            <a:off x="1335975" y="3993075"/>
            <a:ext cx="1261800" cy="8460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g3eab76226d2_0_52"/>
          <p:cNvSpPr/>
          <p:nvPr/>
        </p:nvSpPr>
        <p:spPr>
          <a:xfrm>
            <a:off x="7322125" y="3383500"/>
            <a:ext cx="1261800" cy="2349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g3eab76226d2_0_52"/>
          <p:cNvSpPr/>
          <p:nvPr/>
        </p:nvSpPr>
        <p:spPr>
          <a:xfrm>
            <a:off x="7385475" y="4070275"/>
            <a:ext cx="1261800" cy="2349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g3eab76226d2_0_66"/>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 Desktop執行</a:t>
            </a:r>
            <a:endParaRPr/>
          </a:p>
        </p:txBody>
      </p:sp>
      <p:sp>
        <p:nvSpPr>
          <p:cNvPr id="755" name="Google Shape;755;g3eab76226d2_0_66"/>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56" name="Google Shape;756;g3eab76226d2_0_66"/>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57" name="Google Shape;757;g3eab76226d2_0_66"/>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安裝</a:t>
            </a:r>
            <a:r>
              <a:rPr lang="zh-TW" sz="1600">
                <a:solidFill>
                  <a:srgbClr val="202122"/>
                </a:solidFill>
                <a:highlight>
                  <a:srgbClr val="FFFFFF"/>
                </a:highlight>
              </a:rPr>
              <a:t>完後的運行畫面</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758" name="Google Shape;758;g3eab76226d2_0_66" title="螢幕擷取畫面 2026-06-11 000442.png"/>
          <p:cNvPicPr preferRelativeResize="0"/>
          <p:nvPr/>
        </p:nvPicPr>
        <p:blipFill>
          <a:blip r:embed="rId3">
            <a:alphaModFix/>
          </a:blip>
          <a:stretch>
            <a:fillRect/>
          </a:stretch>
        </p:blipFill>
        <p:spPr>
          <a:xfrm>
            <a:off x="2085024" y="2077075"/>
            <a:ext cx="7415224" cy="405157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eab76226d2_0_7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 Desktop執行</a:t>
            </a:r>
            <a:endParaRPr/>
          </a:p>
        </p:txBody>
      </p:sp>
      <p:sp>
        <p:nvSpPr>
          <p:cNvPr id="764" name="Google Shape;764;g3eab76226d2_0_7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65" name="Google Shape;765;g3eab76226d2_0_7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66" name="Google Shape;766;g3eab76226d2_0_79"/>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找範本-&gt;影片-&gt;LTX-2.3導入工作流</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767" name="Google Shape;767;g3eab76226d2_0_79" title="螢幕擷取畫面 2026-06-11 000656.png"/>
          <p:cNvPicPr preferRelativeResize="0"/>
          <p:nvPr/>
        </p:nvPicPr>
        <p:blipFill>
          <a:blip r:embed="rId3">
            <a:alphaModFix/>
          </a:blip>
          <a:stretch>
            <a:fillRect/>
          </a:stretch>
        </p:blipFill>
        <p:spPr>
          <a:xfrm>
            <a:off x="1639700" y="2075600"/>
            <a:ext cx="8831703" cy="4782399"/>
          </a:xfrm>
          <a:prstGeom prst="rect">
            <a:avLst/>
          </a:prstGeom>
          <a:noFill/>
          <a:ln>
            <a:noFill/>
          </a:ln>
        </p:spPr>
      </p:pic>
      <p:sp>
        <p:nvSpPr>
          <p:cNvPr id="768" name="Google Shape;768;g3eab76226d2_0_79"/>
          <p:cNvSpPr/>
          <p:nvPr/>
        </p:nvSpPr>
        <p:spPr>
          <a:xfrm>
            <a:off x="3681875" y="4311325"/>
            <a:ext cx="651600" cy="178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9" name="Google Shape;769;g3eab76226d2_0_79"/>
          <p:cNvSpPr/>
          <p:nvPr/>
        </p:nvSpPr>
        <p:spPr>
          <a:xfrm>
            <a:off x="4508250" y="3299550"/>
            <a:ext cx="922800" cy="1295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3eab76226d2_0_9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ComfyUI Desktop執行</a:t>
            </a:r>
            <a:endParaRPr/>
          </a:p>
        </p:txBody>
      </p:sp>
      <p:sp>
        <p:nvSpPr>
          <p:cNvPr id="775" name="Google Shape;775;g3eab76226d2_0_9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76" name="Google Shape;776;g3eab76226d2_0_9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77" name="Google Shape;777;g3eab76226d2_0_90"/>
          <p:cNvSpPr txBox="1"/>
          <p:nvPr>
            <p:ph idx="2" type="body"/>
          </p:nvPr>
        </p:nvSpPr>
        <p:spPr>
          <a:xfrm>
            <a:off x="947750" y="1755075"/>
            <a:ext cx="9966300" cy="72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zh-TW" sz="1600">
                <a:solidFill>
                  <a:srgbClr val="202122"/>
                </a:solidFill>
                <a:highlight>
                  <a:srgbClr val="FFFFFF"/>
                </a:highlight>
              </a:rPr>
              <a:t>工作流出現紅框是正常，1.是未載入圖片，中間是打提示詞的地方，下面則是照圖放模型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a:p>
            <a:pPr indent="0" lvl="0" marL="0" rtl="0" algn="l">
              <a:lnSpc>
                <a:spcPct val="150000"/>
              </a:lnSpc>
              <a:spcBef>
                <a:spcPts val="0"/>
              </a:spcBef>
              <a:spcAft>
                <a:spcPts val="0"/>
              </a:spcAft>
              <a:buNone/>
            </a:pPr>
            <a:r>
              <a:t/>
            </a:r>
            <a:endParaRPr sz="1600">
              <a:solidFill>
                <a:srgbClr val="202122"/>
              </a:solidFill>
              <a:highlight>
                <a:srgbClr val="FFFFFF"/>
              </a:highlight>
            </a:endParaRPr>
          </a:p>
        </p:txBody>
      </p:sp>
      <p:pic>
        <p:nvPicPr>
          <p:cNvPr id="778" name="Google Shape;778;g3eab76226d2_0_90" title="螢幕擷取畫面 2026-06-11 003121.png"/>
          <p:cNvPicPr preferRelativeResize="0"/>
          <p:nvPr/>
        </p:nvPicPr>
        <p:blipFill>
          <a:blip r:embed="rId3">
            <a:alphaModFix/>
          </a:blip>
          <a:stretch>
            <a:fillRect/>
          </a:stretch>
        </p:blipFill>
        <p:spPr>
          <a:xfrm>
            <a:off x="1867800" y="2063200"/>
            <a:ext cx="8108800" cy="437907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eaab6a97c8_0_33"/>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模型下載</a:t>
            </a:r>
            <a:r>
              <a:rPr lang="zh-TW"/>
              <a:t>   </a:t>
            </a:r>
            <a:endParaRPr/>
          </a:p>
        </p:txBody>
      </p:sp>
      <p:sp>
        <p:nvSpPr>
          <p:cNvPr id="784" name="Google Shape;784;g3eaab6a97c8_0_33"/>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785" name="Google Shape;785;g3eaab6a97c8_0_33"/>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786" name="Google Shape;786;g3eaab6a97c8_0_33"/>
          <p:cNvSpPr txBox="1"/>
          <p:nvPr/>
        </p:nvSpPr>
        <p:spPr>
          <a:xfrm>
            <a:off x="606775" y="1569125"/>
            <a:ext cx="113598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zh-TW" u="sng">
                <a:solidFill>
                  <a:schemeClr val="hlink"/>
                </a:solidFill>
                <a:hlinkClick r:id="rId3"/>
              </a:rPr>
              <a:t>https://huggingface.co/SulphurAI/Sulphur-2-base/blob/main/prompt_enhancer/sulphur_prompt_enhancer_model-q8_0.gguf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u="sng">
                <a:solidFill>
                  <a:schemeClr val="hlink"/>
                </a:solidFill>
                <a:hlinkClick r:id="rId4"/>
              </a:rPr>
              <a:t>https://huggingface.co/SulphurAI/Sulphur-2-base/blob/main/sulphur_dev_fp8mixed.safetensors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u="sng">
                <a:solidFill>
                  <a:schemeClr val="hlink"/>
                </a:solidFill>
                <a:hlinkClick r:id="rId5"/>
              </a:rPr>
              <a:t>https://huggingface.co/Comfy-Org/ltx-2/blob/main/split_files/text_encoders/gemma_3_12B_it_fp4_mixed.safetensors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u="sng">
                <a:solidFill>
                  <a:schemeClr val="hlink"/>
                </a:solidFill>
                <a:hlinkClick r:id="rId6"/>
              </a:rPr>
              <a:t>https://huggingface.co/Comfy-Org/ltx-2/blob/main/split_files/loras/gemma-3-12b-it-abliterated_lora_rank64_bf16.safetensors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u="sng">
                <a:solidFill>
                  <a:schemeClr val="hlink"/>
                </a:solidFill>
                <a:hlinkClick r:id="rId7"/>
              </a:rPr>
              <a:t>https://huggingface.co/Kijai/LTX2.3_comfy/blob/main/loras/ltx-2.3-22b-distilled-1.1_lora-dynamic_fro09_avg_rank_111_bf16.safetensors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u="sng">
                <a:solidFill>
                  <a:schemeClr val="hlink"/>
                </a:solidFill>
                <a:hlinkClick r:id="rId8"/>
              </a:rPr>
              <a:t>https://huggingface.co/Lightricks/LTX-2.3/blob/main/ltx-2.3-spatial-upscaler-x2-1.1.safetensors</a:t>
            </a:r>
            <a:endParaRPr/>
          </a:p>
          <a:p>
            <a:pPr indent="0" lvl="0" marL="0" rtl="0" algn="l">
              <a:spcBef>
                <a:spcPts val="0"/>
              </a:spcBef>
              <a:spcAft>
                <a:spcPts val="0"/>
              </a:spcAft>
              <a:buNone/>
            </a:pPr>
            <a:r>
              <a:t/>
            </a:r>
            <a:endParaRPr/>
          </a:p>
        </p:txBody>
      </p:sp>
      <p:sp>
        <p:nvSpPr>
          <p:cNvPr id="787" name="Google Shape;787;g3eaab6a97c8_0_33"/>
          <p:cNvSpPr txBox="1"/>
          <p:nvPr/>
        </p:nvSpPr>
        <p:spPr>
          <a:xfrm>
            <a:off x="953350" y="4509625"/>
            <a:ext cx="7581900" cy="78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accent2"/>
              </a:buClr>
              <a:buSzPts val="4300"/>
              <a:buFont typeface="Microsoft JhengHei"/>
              <a:buNone/>
            </a:pPr>
            <a:r>
              <a:rPr b="1" lang="zh-TW" sz="4300">
                <a:latin typeface="Microsoft JhengHei"/>
                <a:ea typeface="Microsoft JhengHei"/>
                <a:cs typeface="Microsoft JhengHei"/>
                <a:sym typeface="Microsoft JhengHei"/>
              </a:rPr>
              <a:t>教學影片  </a:t>
            </a:r>
            <a:r>
              <a:rPr b="1" lang="zh-TW" sz="4300" u="sng">
                <a:solidFill>
                  <a:schemeClr val="hlink"/>
                </a:solidFill>
                <a:latin typeface="Microsoft JhengHei"/>
                <a:ea typeface="Microsoft JhengHei"/>
                <a:cs typeface="Microsoft JhengHei"/>
                <a:sym typeface="Microsoft JhengHei"/>
                <a:hlinkClick r:id="rId9"/>
              </a:rPr>
              <a:t>link</a:t>
            </a:r>
            <a:endParaRPr/>
          </a:p>
        </p:txBody>
      </p:sp>
      <p:pic>
        <p:nvPicPr>
          <p:cNvPr id="788" name="Google Shape;788;g3eaab6a97c8_0_33" title="螢幕擷取畫面 2026-06-11 010926.png"/>
          <p:cNvPicPr preferRelativeResize="0"/>
          <p:nvPr/>
        </p:nvPicPr>
        <p:blipFill>
          <a:blip r:embed="rId10">
            <a:alphaModFix/>
          </a:blip>
          <a:stretch>
            <a:fillRect/>
          </a:stretch>
        </p:blipFill>
        <p:spPr>
          <a:xfrm>
            <a:off x="3880550" y="797675"/>
            <a:ext cx="3623169" cy="601446"/>
          </a:xfrm>
          <a:prstGeom prst="rect">
            <a:avLst/>
          </a:prstGeom>
          <a:noFill/>
          <a:ln>
            <a:noFill/>
          </a:ln>
        </p:spPr>
      </p:pic>
      <p:pic>
        <p:nvPicPr>
          <p:cNvPr id="789" name="Google Shape;789;g3eaab6a97c8_0_33" title="螢幕擷取畫面 2026-06-11 011109.png"/>
          <p:cNvPicPr preferRelativeResize="0"/>
          <p:nvPr/>
        </p:nvPicPr>
        <p:blipFill>
          <a:blip r:embed="rId11">
            <a:alphaModFix/>
          </a:blip>
          <a:stretch>
            <a:fillRect/>
          </a:stretch>
        </p:blipFill>
        <p:spPr>
          <a:xfrm>
            <a:off x="8285875" y="2071375"/>
            <a:ext cx="1057275" cy="219075"/>
          </a:xfrm>
          <a:prstGeom prst="rect">
            <a:avLst/>
          </a:prstGeom>
          <a:noFill/>
          <a:ln>
            <a:noFill/>
          </a:ln>
        </p:spPr>
      </p:pic>
      <p:pic>
        <p:nvPicPr>
          <p:cNvPr id="790" name="Google Shape;790;g3eaab6a97c8_0_33" title="螢幕擷取畫面 2026-06-11 011114.png"/>
          <p:cNvPicPr preferRelativeResize="0"/>
          <p:nvPr/>
        </p:nvPicPr>
        <p:blipFill>
          <a:blip r:embed="rId12">
            <a:alphaModFix/>
          </a:blip>
          <a:stretch>
            <a:fillRect/>
          </a:stretch>
        </p:blipFill>
        <p:spPr>
          <a:xfrm>
            <a:off x="10458430" y="1662075"/>
            <a:ext cx="857250" cy="219075"/>
          </a:xfrm>
          <a:prstGeom prst="rect">
            <a:avLst/>
          </a:prstGeom>
          <a:noFill/>
          <a:ln>
            <a:noFill/>
          </a:ln>
        </p:spPr>
      </p:pic>
      <p:pic>
        <p:nvPicPr>
          <p:cNvPr id="791" name="Google Shape;791;g3eaab6a97c8_0_33" title="螢幕擷取畫面 2026-06-11 011120.png"/>
          <p:cNvPicPr preferRelativeResize="0"/>
          <p:nvPr/>
        </p:nvPicPr>
        <p:blipFill>
          <a:blip r:embed="rId13">
            <a:alphaModFix/>
          </a:blip>
          <a:stretch>
            <a:fillRect/>
          </a:stretch>
        </p:blipFill>
        <p:spPr>
          <a:xfrm>
            <a:off x="8248650" y="3797750"/>
            <a:ext cx="1695450" cy="238125"/>
          </a:xfrm>
          <a:prstGeom prst="rect">
            <a:avLst/>
          </a:prstGeom>
          <a:noFill/>
          <a:ln>
            <a:noFill/>
          </a:ln>
        </p:spPr>
      </p:pic>
      <p:pic>
        <p:nvPicPr>
          <p:cNvPr id="792" name="Google Shape;792;g3eaab6a97c8_0_33" title="螢幕擷取畫面 2026-06-11 011123.png"/>
          <p:cNvPicPr preferRelativeResize="0"/>
          <p:nvPr/>
        </p:nvPicPr>
        <p:blipFill>
          <a:blip r:embed="rId14">
            <a:alphaModFix/>
          </a:blip>
          <a:stretch>
            <a:fillRect/>
          </a:stretch>
        </p:blipFill>
        <p:spPr>
          <a:xfrm>
            <a:off x="11412430" y="3336400"/>
            <a:ext cx="809625" cy="247650"/>
          </a:xfrm>
          <a:prstGeom prst="rect">
            <a:avLst/>
          </a:prstGeom>
          <a:noFill/>
          <a:ln>
            <a:noFill/>
          </a:ln>
        </p:spPr>
      </p:pic>
      <p:pic>
        <p:nvPicPr>
          <p:cNvPr id="793" name="Google Shape;793;g3eaab6a97c8_0_33" title="螢幕擷取畫面 2026-06-11 011129.png"/>
          <p:cNvPicPr preferRelativeResize="0"/>
          <p:nvPr/>
        </p:nvPicPr>
        <p:blipFill>
          <a:blip r:embed="rId15">
            <a:alphaModFix/>
          </a:blip>
          <a:stretch>
            <a:fillRect/>
          </a:stretch>
        </p:blipFill>
        <p:spPr>
          <a:xfrm>
            <a:off x="9984900" y="2518038"/>
            <a:ext cx="1076325" cy="200025"/>
          </a:xfrm>
          <a:prstGeom prst="rect">
            <a:avLst/>
          </a:prstGeom>
          <a:noFill/>
          <a:ln>
            <a:noFill/>
          </a:ln>
        </p:spPr>
      </p:pic>
      <p:pic>
        <p:nvPicPr>
          <p:cNvPr id="794" name="Google Shape;794;g3eaab6a97c8_0_33" title="螢幕擷取畫面 2026-06-11 011123.png"/>
          <p:cNvPicPr preferRelativeResize="0"/>
          <p:nvPr/>
        </p:nvPicPr>
        <p:blipFill>
          <a:blip r:embed="rId14">
            <a:alphaModFix/>
          </a:blip>
          <a:stretch>
            <a:fillRect/>
          </a:stretch>
        </p:blipFill>
        <p:spPr>
          <a:xfrm>
            <a:off x="10482243" y="2938150"/>
            <a:ext cx="809625" cy="2476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3eaab6a97c8_0_1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   </a:t>
            </a:r>
            <a:r>
              <a:rPr lang="zh-TW" u="sng">
                <a:solidFill>
                  <a:schemeClr val="hlink"/>
                </a:solidFill>
                <a:hlinkClick r:id="rId3"/>
              </a:rPr>
              <a:t>登記表</a:t>
            </a:r>
            <a:endParaRPr/>
          </a:p>
        </p:txBody>
      </p:sp>
      <p:sp>
        <p:nvSpPr>
          <p:cNvPr id="800" name="Google Shape;800;g3eaab6a97c8_0_1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01" name="Google Shape;801;g3eaab6a97c8_0_1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02" name="Google Shape;802;g3eaab6a97c8_0_15" title="img1.png"/>
          <p:cNvPicPr preferRelativeResize="0"/>
          <p:nvPr/>
        </p:nvPicPr>
        <p:blipFill>
          <a:blip r:embed="rId4">
            <a:alphaModFix/>
          </a:blip>
          <a:stretch>
            <a:fillRect/>
          </a:stretch>
        </p:blipFill>
        <p:spPr>
          <a:xfrm>
            <a:off x="1505405" y="1551535"/>
            <a:ext cx="3602749" cy="4503437"/>
          </a:xfrm>
          <a:prstGeom prst="rect">
            <a:avLst/>
          </a:prstGeom>
          <a:noFill/>
          <a:ln>
            <a:noFill/>
          </a:ln>
        </p:spPr>
      </p:pic>
      <p:pic>
        <p:nvPicPr>
          <p:cNvPr id="803" name="Google Shape;803;g3eaab6a97c8_0_15" title="img1.mp4">
            <a:hlinkClick r:id="rId5"/>
          </p:cNvPr>
          <p:cNvPicPr preferRelativeResize="0"/>
          <p:nvPr/>
        </p:nvPicPr>
        <p:blipFill>
          <a:blip r:embed="rId6">
            <a:alphaModFix/>
          </a:blip>
          <a:stretch>
            <a:fillRect/>
          </a:stretch>
        </p:blipFill>
        <p:spPr>
          <a:xfrm>
            <a:off x="6621954" y="1551535"/>
            <a:ext cx="3602749" cy="45034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1000"/>
                                        <p:tgtEl>
                                          <p:spTgt spid="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a92f76692_0_2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09" name="Google Shape;809;g3ea92f76692_0_2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10" name="Google Shape;810;g3ea92f76692_0_2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11" name="Google Shape;811;g3ea92f76692_0_21" title="img2.png"/>
          <p:cNvPicPr preferRelativeResize="0"/>
          <p:nvPr/>
        </p:nvPicPr>
        <p:blipFill>
          <a:blip r:embed="rId3">
            <a:alphaModFix/>
          </a:blip>
          <a:stretch>
            <a:fillRect/>
          </a:stretch>
        </p:blipFill>
        <p:spPr>
          <a:xfrm>
            <a:off x="0" y="1913925"/>
            <a:ext cx="5644827" cy="3131574"/>
          </a:xfrm>
          <a:prstGeom prst="rect">
            <a:avLst/>
          </a:prstGeom>
          <a:noFill/>
          <a:ln>
            <a:noFill/>
          </a:ln>
        </p:spPr>
      </p:pic>
      <p:pic>
        <p:nvPicPr>
          <p:cNvPr id="812" name="Google Shape;812;g3ea92f76692_0_21" title="img2.mp4">
            <a:hlinkClick r:id="rId4"/>
          </p:cNvPr>
          <p:cNvPicPr preferRelativeResize="0"/>
          <p:nvPr/>
        </p:nvPicPr>
        <p:blipFill>
          <a:blip r:embed="rId5">
            <a:alphaModFix/>
          </a:blip>
          <a:stretch>
            <a:fillRect/>
          </a:stretch>
        </p:blipFill>
        <p:spPr>
          <a:xfrm>
            <a:off x="5928850" y="1863212"/>
            <a:ext cx="6263150" cy="3131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1000"/>
                                        <p:tgtEl>
                                          <p:spTgt spid="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ea92f76692_0_35"/>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18" name="Google Shape;818;g3ea92f76692_0_35"/>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19" name="Google Shape;819;g3ea92f76692_0_35"/>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20" name="Google Shape;820;g3ea92f76692_0_35" title="img3.png"/>
          <p:cNvPicPr preferRelativeResize="0"/>
          <p:nvPr/>
        </p:nvPicPr>
        <p:blipFill>
          <a:blip r:embed="rId3">
            <a:alphaModFix/>
          </a:blip>
          <a:stretch>
            <a:fillRect/>
          </a:stretch>
        </p:blipFill>
        <p:spPr>
          <a:xfrm>
            <a:off x="0" y="1594050"/>
            <a:ext cx="5581068" cy="3085726"/>
          </a:xfrm>
          <a:prstGeom prst="rect">
            <a:avLst/>
          </a:prstGeom>
          <a:noFill/>
          <a:ln>
            <a:noFill/>
          </a:ln>
        </p:spPr>
      </p:pic>
      <p:pic>
        <p:nvPicPr>
          <p:cNvPr id="821" name="Google Shape;821;g3ea92f76692_0_35" title="img3.mp4">
            <a:hlinkClick r:id="rId4"/>
          </p:cNvPr>
          <p:cNvPicPr preferRelativeResize="0"/>
          <p:nvPr/>
        </p:nvPicPr>
        <p:blipFill>
          <a:blip r:embed="rId5">
            <a:alphaModFix/>
          </a:blip>
          <a:stretch>
            <a:fillRect/>
          </a:stretch>
        </p:blipFill>
        <p:spPr>
          <a:xfrm>
            <a:off x="6020575" y="1594050"/>
            <a:ext cx="6171424" cy="3085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ea92f76692_0_4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27" name="Google Shape;827;g3ea92f76692_0_4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28" name="Google Shape;828;g3ea92f76692_0_4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29" name="Google Shape;829;g3ea92f76692_0_47" title="img4.jpg"/>
          <p:cNvPicPr preferRelativeResize="0"/>
          <p:nvPr/>
        </p:nvPicPr>
        <p:blipFill>
          <a:blip r:embed="rId3">
            <a:alphaModFix/>
          </a:blip>
          <a:stretch>
            <a:fillRect/>
          </a:stretch>
        </p:blipFill>
        <p:spPr>
          <a:xfrm>
            <a:off x="0" y="1721700"/>
            <a:ext cx="5953500" cy="3348872"/>
          </a:xfrm>
          <a:prstGeom prst="rect">
            <a:avLst/>
          </a:prstGeom>
          <a:noFill/>
          <a:ln>
            <a:noFill/>
          </a:ln>
        </p:spPr>
      </p:pic>
      <p:pic>
        <p:nvPicPr>
          <p:cNvPr id="830" name="Google Shape;830;g3ea92f76692_0_47" title="img4.mp4">
            <a:hlinkClick r:id="rId4"/>
          </p:cNvPr>
          <p:cNvPicPr preferRelativeResize="0"/>
          <p:nvPr/>
        </p:nvPicPr>
        <p:blipFill>
          <a:blip r:embed="rId5">
            <a:alphaModFix/>
          </a:blip>
          <a:stretch>
            <a:fillRect/>
          </a:stretch>
        </p:blipFill>
        <p:spPr>
          <a:xfrm>
            <a:off x="6052417" y="1721700"/>
            <a:ext cx="6139582" cy="3348875"/>
          </a:xfrm>
          <a:prstGeom prst="rect">
            <a:avLst/>
          </a:prstGeom>
          <a:noFill/>
          <a:ln>
            <a:noFill/>
          </a:ln>
        </p:spPr>
      </p:pic>
      <p:sp>
        <p:nvSpPr>
          <p:cNvPr id="831" name="Google Shape;831;g3ea92f76692_0_47"/>
          <p:cNvSpPr txBox="1"/>
          <p:nvPr/>
        </p:nvSpPr>
        <p:spPr>
          <a:xfrm>
            <a:off x="897775" y="5424050"/>
            <a:ext cx="1098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一個女人坐在水邊，背後是湍流的瀑布，水波蕩漾，微風吹過女人的頭髮帶起飄逸，女人看向鏡頭，伸出一隻手揮舞</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1000"/>
                                        <p:tgtEl>
                                          <p:spTgt spid="8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ea92f76692_0_60"/>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37" name="Google Shape;837;g3ea92f76692_0_60"/>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38" name="Google Shape;838;g3ea92f76692_0_6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39" name="Google Shape;839;g3ea92f76692_0_60" title="img5.jpg"/>
          <p:cNvPicPr preferRelativeResize="0"/>
          <p:nvPr/>
        </p:nvPicPr>
        <p:blipFill>
          <a:blip r:embed="rId3">
            <a:alphaModFix/>
          </a:blip>
          <a:stretch>
            <a:fillRect/>
          </a:stretch>
        </p:blipFill>
        <p:spPr>
          <a:xfrm>
            <a:off x="280025" y="1636622"/>
            <a:ext cx="5344200" cy="4005025"/>
          </a:xfrm>
          <a:prstGeom prst="rect">
            <a:avLst/>
          </a:prstGeom>
          <a:noFill/>
          <a:ln>
            <a:noFill/>
          </a:ln>
        </p:spPr>
      </p:pic>
      <p:pic>
        <p:nvPicPr>
          <p:cNvPr id="840" name="Google Shape;840;g3ea92f76692_0_60" title="img5.mp4">
            <a:hlinkClick r:id="rId4"/>
          </p:cNvPr>
          <p:cNvPicPr preferRelativeResize="0"/>
          <p:nvPr/>
        </p:nvPicPr>
        <p:blipFill>
          <a:blip r:embed="rId5">
            <a:alphaModFix/>
          </a:blip>
          <a:stretch>
            <a:fillRect/>
          </a:stretch>
        </p:blipFill>
        <p:spPr>
          <a:xfrm>
            <a:off x="6576425" y="1636622"/>
            <a:ext cx="4806030" cy="4005025"/>
          </a:xfrm>
          <a:prstGeom prst="rect">
            <a:avLst/>
          </a:prstGeom>
          <a:noFill/>
          <a:ln>
            <a:noFill/>
          </a:ln>
        </p:spPr>
      </p:pic>
      <p:sp>
        <p:nvSpPr>
          <p:cNvPr id="841" name="Google Shape;841;g3ea92f76692_0_60"/>
          <p:cNvSpPr txBox="1"/>
          <p:nvPr/>
        </p:nvSpPr>
        <p:spPr>
          <a:xfrm>
            <a:off x="1084800" y="5739863"/>
            <a:ext cx="7182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四個人在雪山前合照，各自比出不同的pose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ea92f76692_0_72"/>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47" name="Google Shape;847;g3ea92f76692_0_72"/>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48" name="Google Shape;848;g3ea92f76692_0_72"/>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49" name="Google Shape;849;g3ea92f76692_0_72" title="img6.png"/>
          <p:cNvPicPr preferRelativeResize="0"/>
          <p:nvPr/>
        </p:nvPicPr>
        <p:blipFill>
          <a:blip r:embed="rId3">
            <a:alphaModFix/>
          </a:blip>
          <a:stretch>
            <a:fillRect/>
          </a:stretch>
        </p:blipFill>
        <p:spPr>
          <a:xfrm>
            <a:off x="2322230" y="1551535"/>
            <a:ext cx="2628949" cy="4503436"/>
          </a:xfrm>
          <a:prstGeom prst="rect">
            <a:avLst/>
          </a:prstGeom>
          <a:noFill/>
          <a:ln>
            <a:noFill/>
          </a:ln>
        </p:spPr>
      </p:pic>
      <p:pic>
        <p:nvPicPr>
          <p:cNvPr id="850" name="Google Shape;850;g3ea92f76692_0_72" title="img6.mp4">
            <a:hlinkClick r:id="rId4"/>
          </p:cNvPr>
          <p:cNvPicPr preferRelativeResize="0"/>
          <p:nvPr/>
        </p:nvPicPr>
        <p:blipFill>
          <a:blip r:embed="rId5">
            <a:alphaModFix/>
          </a:blip>
          <a:stretch>
            <a:fillRect/>
          </a:stretch>
        </p:blipFill>
        <p:spPr>
          <a:xfrm>
            <a:off x="7247754" y="1551535"/>
            <a:ext cx="2501909" cy="4503436"/>
          </a:xfrm>
          <a:prstGeom prst="rect">
            <a:avLst/>
          </a:prstGeom>
          <a:noFill/>
          <a:ln>
            <a:noFill/>
          </a:ln>
        </p:spPr>
      </p:pic>
      <p:sp>
        <p:nvSpPr>
          <p:cNvPr id="851" name="Google Shape;851;g3ea92f76692_0_72"/>
          <p:cNvSpPr txBox="1"/>
          <p:nvPr/>
        </p:nvSpPr>
        <p:spPr>
          <a:xfrm>
            <a:off x="2322225" y="359375"/>
            <a:ext cx="854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Anime Chainsaw man 角色 Reze，紫色頭髮個可愛動漫女孩，正在自由的跳舞並擺出可愛的表情。</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ea92f76692_0_84"/>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57" name="Google Shape;857;g3ea92f76692_0_84"/>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58" name="Google Shape;858;g3ea92f76692_0_84"/>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59" name="Google Shape;859;g3ea92f76692_0_84" title="img7.png"/>
          <p:cNvPicPr preferRelativeResize="0"/>
          <p:nvPr/>
        </p:nvPicPr>
        <p:blipFill>
          <a:blip r:embed="rId3">
            <a:alphaModFix/>
          </a:blip>
          <a:stretch>
            <a:fillRect/>
          </a:stretch>
        </p:blipFill>
        <p:spPr>
          <a:xfrm>
            <a:off x="2407330" y="1551535"/>
            <a:ext cx="2642545" cy="4503436"/>
          </a:xfrm>
          <a:prstGeom prst="rect">
            <a:avLst/>
          </a:prstGeom>
          <a:noFill/>
          <a:ln>
            <a:noFill/>
          </a:ln>
        </p:spPr>
      </p:pic>
      <p:pic>
        <p:nvPicPr>
          <p:cNvPr id="860" name="Google Shape;860;g3ea92f76692_0_84" title="img7.mp4">
            <a:hlinkClick r:id="rId4"/>
          </p:cNvPr>
          <p:cNvPicPr preferRelativeResize="0"/>
          <p:nvPr/>
        </p:nvPicPr>
        <p:blipFill>
          <a:blip r:embed="rId5">
            <a:alphaModFix/>
          </a:blip>
          <a:stretch>
            <a:fillRect/>
          </a:stretch>
        </p:blipFill>
        <p:spPr>
          <a:xfrm>
            <a:off x="7261400" y="1551535"/>
            <a:ext cx="2649080" cy="4503436"/>
          </a:xfrm>
          <a:prstGeom prst="rect">
            <a:avLst/>
          </a:prstGeom>
          <a:noFill/>
          <a:ln>
            <a:noFill/>
          </a:ln>
        </p:spPr>
      </p:pic>
      <p:sp>
        <p:nvSpPr>
          <p:cNvPr id="861" name="Google Shape;861;g3ea92f76692_0_84"/>
          <p:cNvSpPr txBox="1"/>
          <p:nvPr/>
        </p:nvSpPr>
        <p:spPr>
          <a:xfrm>
            <a:off x="2419000" y="461350"/>
            <a:ext cx="7182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純色背景，紫色中短頭髮的可愛動漫女孩，川著白色襯衫黑色短褲黑色絲襪，脖子上有頸圈，正在自由的跳舞並擺出可愛的表情。</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ea92f76692_0_9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67" name="Google Shape;867;g3ea92f76692_0_9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68" name="Google Shape;868;g3ea92f76692_0_9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69" name="Google Shape;869;g3ea92f76692_0_97" title="img8.jpg"/>
          <p:cNvPicPr preferRelativeResize="0"/>
          <p:nvPr/>
        </p:nvPicPr>
        <p:blipFill>
          <a:blip r:embed="rId3">
            <a:alphaModFix/>
          </a:blip>
          <a:stretch>
            <a:fillRect/>
          </a:stretch>
        </p:blipFill>
        <p:spPr>
          <a:xfrm>
            <a:off x="1" y="1911803"/>
            <a:ext cx="5722575" cy="3218950"/>
          </a:xfrm>
          <a:prstGeom prst="rect">
            <a:avLst/>
          </a:prstGeom>
          <a:noFill/>
          <a:ln>
            <a:noFill/>
          </a:ln>
        </p:spPr>
      </p:pic>
      <p:pic>
        <p:nvPicPr>
          <p:cNvPr id="870" name="Google Shape;870;g3ea92f76692_0_97" title="img8.mp4">
            <a:hlinkClick r:id="rId4"/>
          </p:cNvPr>
          <p:cNvPicPr preferRelativeResize="0"/>
          <p:nvPr/>
        </p:nvPicPr>
        <p:blipFill>
          <a:blip r:embed="rId5">
            <a:alphaModFix/>
          </a:blip>
          <a:stretch>
            <a:fillRect/>
          </a:stretch>
        </p:blipFill>
        <p:spPr>
          <a:xfrm>
            <a:off x="6248397" y="1787475"/>
            <a:ext cx="5943603" cy="3343275"/>
          </a:xfrm>
          <a:prstGeom prst="rect">
            <a:avLst/>
          </a:prstGeom>
          <a:noFill/>
          <a:ln>
            <a:noFill/>
          </a:ln>
        </p:spPr>
      </p:pic>
      <p:sp>
        <p:nvSpPr>
          <p:cNvPr id="871" name="Google Shape;871;g3ea92f76692_0_97"/>
          <p:cNvSpPr txBox="1"/>
          <p:nvPr/>
        </p:nvSpPr>
        <p:spPr>
          <a:xfrm>
            <a:off x="2419000" y="5648500"/>
            <a:ext cx="7182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一隻在草地上的犀牛，牠正在奔跑，這時他轉頭朝向鏡頭，然後朝鏡頭方向奔跑過來</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ea92f76692_0_10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77" name="Google Shape;877;g3ea92f76692_0_10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78" name="Google Shape;878;g3ea92f76692_0_10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79" name="Google Shape;879;g3ea92f76692_0_109" title="img9.png"/>
          <p:cNvPicPr preferRelativeResize="0"/>
          <p:nvPr/>
        </p:nvPicPr>
        <p:blipFill>
          <a:blip r:embed="rId3">
            <a:alphaModFix/>
          </a:blip>
          <a:stretch>
            <a:fillRect/>
          </a:stretch>
        </p:blipFill>
        <p:spPr>
          <a:xfrm>
            <a:off x="2262675" y="1506712"/>
            <a:ext cx="2987175" cy="4593074"/>
          </a:xfrm>
          <a:prstGeom prst="rect">
            <a:avLst/>
          </a:prstGeom>
          <a:noFill/>
          <a:ln>
            <a:noFill/>
          </a:ln>
        </p:spPr>
      </p:pic>
      <p:pic>
        <p:nvPicPr>
          <p:cNvPr id="880" name="Google Shape;880;g3ea92f76692_0_109" title="img9.mp4">
            <a:hlinkClick r:id="rId4"/>
          </p:cNvPr>
          <p:cNvPicPr preferRelativeResize="0"/>
          <p:nvPr/>
        </p:nvPicPr>
        <p:blipFill>
          <a:blip r:embed="rId5">
            <a:alphaModFix/>
          </a:blip>
          <a:stretch>
            <a:fillRect/>
          </a:stretch>
        </p:blipFill>
        <p:spPr>
          <a:xfrm>
            <a:off x="7129325" y="1506712"/>
            <a:ext cx="3062051" cy="4593076"/>
          </a:xfrm>
          <a:prstGeom prst="rect">
            <a:avLst/>
          </a:prstGeom>
          <a:noFill/>
          <a:ln>
            <a:noFill/>
          </a:ln>
        </p:spPr>
      </p:pic>
      <p:sp>
        <p:nvSpPr>
          <p:cNvPr id="881" name="Google Shape;881;g3ea92f76692_0_109"/>
          <p:cNvSpPr txBox="1"/>
          <p:nvPr/>
        </p:nvSpPr>
        <p:spPr>
          <a:xfrm>
            <a:off x="1770250" y="353950"/>
            <a:ext cx="793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一位戴著眼鏡與牛仔帽，穿著黑色皮衣黑色皮褲的西格瑪男人，蹲下身子撫摸小孩的頭，並將手中的冰淇淋遞給小孩，並展露出微笑</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ea92f76692_0_12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endParaRPr/>
          </a:p>
        </p:txBody>
      </p:sp>
      <p:sp>
        <p:nvSpPr>
          <p:cNvPr id="887" name="Google Shape;887;g3ea92f76692_0_12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88" name="Google Shape;888;g3ea92f76692_0_12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89" name="Google Shape;889;g3ea92f76692_0_121" title="img10.png"/>
          <p:cNvPicPr preferRelativeResize="0"/>
          <p:nvPr/>
        </p:nvPicPr>
        <p:blipFill>
          <a:blip r:embed="rId3">
            <a:alphaModFix/>
          </a:blip>
          <a:stretch>
            <a:fillRect/>
          </a:stretch>
        </p:blipFill>
        <p:spPr>
          <a:xfrm>
            <a:off x="2509425" y="1551525"/>
            <a:ext cx="2765950" cy="4694851"/>
          </a:xfrm>
          <a:prstGeom prst="rect">
            <a:avLst/>
          </a:prstGeom>
          <a:noFill/>
          <a:ln>
            <a:noFill/>
          </a:ln>
        </p:spPr>
      </p:pic>
      <p:pic>
        <p:nvPicPr>
          <p:cNvPr id="890" name="Google Shape;890;g3ea92f76692_0_121" title="img10.mp4">
            <a:hlinkClick r:id="rId4"/>
          </p:cNvPr>
          <p:cNvPicPr preferRelativeResize="0"/>
          <p:nvPr/>
        </p:nvPicPr>
        <p:blipFill>
          <a:blip r:embed="rId5">
            <a:alphaModFix/>
          </a:blip>
          <a:stretch>
            <a:fillRect/>
          </a:stretch>
        </p:blipFill>
        <p:spPr>
          <a:xfrm>
            <a:off x="7110650" y="1551525"/>
            <a:ext cx="2711375" cy="4744900"/>
          </a:xfrm>
          <a:prstGeom prst="rect">
            <a:avLst/>
          </a:prstGeom>
          <a:noFill/>
          <a:ln>
            <a:noFill/>
          </a:ln>
        </p:spPr>
      </p:pic>
      <p:sp>
        <p:nvSpPr>
          <p:cNvPr id="891" name="Google Shape;891;g3ea92f76692_0_121"/>
          <p:cNvSpPr txBox="1"/>
          <p:nvPr/>
        </p:nvSpPr>
        <p:spPr>
          <a:xfrm>
            <a:off x="3092325" y="411475"/>
            <a:ext cx="7182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zh-TW" sz="1200">
                <a:solidFill>
                  <a:schemeClr val="dk1"/>
                </a:solidFill>
                <a:latin typeface="Calibri"/>
                <a:ea typeface="Calibri"/>
                <a:cs typeface="Calibri"/>
                <a:sym typeface="Calibri"/>
              </a:rPr>
              <a:t>一位戴著眼鏡與牛仔帽，穿著黑色皮衣黑色皮褲的西格瑪男人，身處於地下停車場中，正對著鏡頭，透過腳步變換與手部擺動，展現他那自信、奔放不羈的舞姿</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eaab6a97c8_2_7"/>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a:t>
            </a:r>
            <a:r>
              <a:rPr lang="zh-TW"/>
              <a:t> 06/10</a:t>
            </a:r>
            <a:endParaRPr/>
          </a:p>
        </p:txBody>
      </p:sp>
      <p:sp>
        <p:nvSpPr>
          <p:cNvPr id="897" name="Google Shape;897;g3eaab6a97c8_2_7"/>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898" name="Google Shape;898;g3eaab6a97c8_2_7"/>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899" name="Google Shape;899;g3eaab6a97c8_2_7" title="t.jpg"/>
          <p:cNvPicPr preferRelativeResize="0"/>
          <p:nvPr/>
        </p:nvPicPr>
        <p:blipFill>
          <a:blip r:embed="rId3">
            <a:alphaModFix/>
          </a:blip>
          <a:stretch>
            <a:fillRect/>
          </a:stretch>
        </p:blipFill>
        <p:spPr>
          <a:xfrm>
            <a:off x="1" y="1476701"/>
            <a:ext cx="5924674" cy="3954050"/>
          </a:xfrm>
          <a:prstGeom prst="rect">
            <a:avLst/>
          </a:prstGeom>
          <a:noFill/>
          <a:ln>
            <a:noFill/>
          </a:ln>
        </p:spPr>
      </p:pic>
      <p:pic>
        <p:nvPicPr>
          <p:cNvPr id="900" name="Google Shape;900;g3eaab6a97c8_2_7" title="LTX_2.3_i2v_00003_.mp4">
            <a:hlinkClick r:id="rId4"/>
          </p:cNvPr>
          <p:cNvPicPr preferRelativeResize="0"/>
          <p:nvPr/>
        </p:nvPicPr>
        <p:blipFill>
          <a:blip r:embed="rId5">
            <a:alphaModFix/>
          </a:blip>
          <a:stretch>
            <a:fillRect/>
          </a:stretch>
        </p:blipFill>
        <p:spPr>
          <a:xfrm>
            <a:off x="6005275" y="1476700"/>
            <a:ext cx="6150720" cy="395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1000"/>
                                        <p:tgtEl>
                                          <p:spTgt spid="9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eab76226d2_0_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 </a:t>
            </a:r>
            <a:r>
              <a:rPr lang="zh-TW"/>
              <a:t> 06/10</a:t>
            </a:r>
            <a:endParaRPr/>
          </a:p>
        </p:txBody>
      </p:sp>
      <p:sp>
        <p:nvSpPr>
          <p:cNvPr id="906" name="Google Shape;906;g3eab76226d2_0_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907" name="Google Shape;907;g3eab76226d2_0_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908" name="Google Shape;908;g3eab76226d2_0_1" title="LTX_2.3_i2v_00001_.mp4">
            <a:hlinkClick r:id="rId3"/>
          </p:cNvPr>
          <p:cNvPicPr preferRelativeResize="0"/>
          <p:nvPr/>
        </p:nvPicPr>
        <p:blipFill>
          <a:blip r:embed="rId4">
            <a:alphaModFix/>
          </a:blip>
          <a:stretch>
            <a:fillRect/>
          </a:stretch>
        </p:blipFill>
        <p:spPr>
          <a:xfrm>
            <a:off x="3544275" y="1328836"/>
            <a:ext cx="4404775" cy="4404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g3eab76226d2_0_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 </a:t>
            </a:r>
            <a:r>
              <a:rPr lang="zh-TW"/>
              <a:t> 06/10</a:t>
            </a:r>
            <a:endParaRPr/>
          </a:p>
        </p:txBody>
      </p:sp>
      <p:sp>
        <p:nvSpPr>
          <p:cNvPr id="914" name="Google Shape;914;g3eab76226d2_0_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915" name="Google Shape;915;g3eab76226d2_0_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916" name="Google Shape;916;g3eab76226d2_0_9" title="s1.mp4">
            <a:hlinkClick r:id="rId3"/>
          </p:cNvPr>
          <p:cNvPicPr preferRelativeResize="0"/>
          <p:nvPr/>
        </p:nvPicPr>
        <p:blipFill>
          <a:blip r:embed="rId4">
            <a:alphaModFix/>
          </a:blip>
          <a:stretch>
            <a:fillRect/>
          </a:stretch>
        </p:blipFill>
        <p:spPr>
          <a:xfrm>
            <a:off x="5536330" y="1447635"/>
            <a:ext cx="3602749" cy="45034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1000"/>
                                        <p:tgtEl>
                                          <p:spTgt spid="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eab76226d2_0_1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 </a:t>
            </a:r>
            <a:r>
              <a:rPr lang="zh-TW"/>
              <a:t> 06/10</a:t>
            </a:r>
            <a:endParaRPr/>
          </a:p>
        </p:txBody>
      </p:sp>
      <p:sp>
        <p:nvSpPr>
          <p:cNvPr id="922" name="Google Shape;922;g3eab76226d2_0_1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923" name="Google Shape;923;g3eab76226d2_0_1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924" name="Google Shape;924;g3eab76226d2_0_19" title="s2.mp4">
            <a:hlinkClick r:id="rId3"/>
          </p:cNvPr>
          <p:cNvPicPr preferRelativeResize="0"/>
          <p:nvPr/>
        </p:nvPicPr>
        <p:blipFill>
          <a:blip r:embed="rId4">
            <a:alphaModFix/>
          </a:blip>
          <a:stretch>
            <a:fillRect/>
          </a:stretch>
        </p:blipFill>
        <p:spPr>
          <a:xfrm>
            <a:off x="6579900" y="1759714"/>
            <a:ext cx="5095025" cy="3821275"/>
          </a:xfrm>
          <a:prstGeom prst="rect">
            <a:avLst/>
          </a:prstGeom>
          <a:noFill/>
          <a:ln>
            <a:noFill/>
          </a:ln>
        </p:spPr>
      </p:pic>
      <p:pic>
        <p:nvPicPr>
          <p:cNvPr id="925" name="Google Shape;925;g3eab76226d2_0_19" title="薩摩耶2.jpg"/>
          <p:cNvPicPr preferRelativeResize="0"/>
          <p:nvPr/>
        </p:nvPicPr>
        <p:blipFill>
          <a:blip r:embed="rId5">
            <a:alphaModFix/>
          </a:blip>
          <a:stretch>
            <a:fillRect/>
          </a:stretch>
        </p:blipFill>
        <p:spPr>
          <a:xfrm>
            <a:off x="716475" y="1781601"/>
            <a:ext cx="5154750" cy="3777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1000"/>
                                        <p:tgtEl>
                                          <p:spTgt spid="9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eab76226d2_0_29"/>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2"/>
              </a:buClr>
              <a:buSzPts val="4300"/>
              <a:buFont typeface="Microsoft JhengHei"/>
              <a:buNone/>
            </a:pPr>
            <a:r>
              <a:rPr lang="zh-TW"/>
              <a:t>Sample  06/10</a:t>
            </a:r>
            <a:endParaRPr/>
          </a:p>
        </p:txBody>
      </p:sp>
      <p:sp>
        <p:nvSpPr>
          <p:cNvPr id="931" name="Google Shape;931;g3eab76226d2_0_29"/>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932" name="Google Shape;932;g3eab76226d2_0_29"/>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pic>
        <p:nvPicPr>
          <p:cNvPr id="933" name="Google Shape;933;g3eab76226d2_0_29" title="螢幕擷取畫面 2026-06-10 235558.png"/>
          <p:cNvPicPr preferRelativeResize="0"/>
          <p:nvPr/>
        </p:nvPicPr>
        <p:blipFill>
          <a:blip r:embed="rId3">
            <a:alphaModFix/>
          </a:blip>
          <a:stretch>
            <a:fillRect/>
          </a:stretch>
        </p:blipFill>
        <p:spPr>
          <a:xfrm>
            <a:off x="1016255" y="1648010"/>
            <a:ext cx="2997369" cy="4503436"/>
          </a:xfrm>
          <a:prstGeom prst="rect">
            <a:avLst/>
          </a:prstGeom>
          <a:noFill/>
          <a:ln>
            <a:noFill/>
          </a:ln>
        </p:spPr>
      </p:pic>
      <p:pic>
        <p:nvPicPr>
          <p:cNvPr id="934" name="Google Shape;934;g3eab76226d2_0_29" title="s3.mp4">
            <a:hlinkClick r:id="rId4"/>
          </p:cNvPr>
          <p:cNvPicPr preferRelativeResize="0"/>
          <p:nvPr/>
        </p:nvPicPr>
        <p:blipFill>
          <a:blip r:embed="rId5">
            <a:alphaModFix/>
          </a:blip>
          <a:stretch>
            <a:fillRect/>
          </a:stretch>
        </p:blipFill>
        <p:spPr>
          <a:xfrm>
            <a:off x="4759799" y="1929898"/>
            <a:ext cx="6812202" cy="37467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
                                        </p:tgtEl>
                                        <p:attrNameLst>
                                          <p:attrName>style.visibility</p:attrName>
                                        </p:attrNameLst>
                                      </p:cBhvr>
                                      <p:to>
                                        <p:strVal val="visible"/>
                                      </p:to>
                                    </p:set>
                                    <p:animEffect filter="fade" transition="in">
                                      <p:cBhvr>
                                        <p:cTn dur="1000"/>
                                        <p:tgtEl>
                                          <p:spTgt spid="9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g3ea92f76692_0_0"/>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940" name="Google Shape;940;g3ea92f76692_0_0"/>
          <p:cNvSpPr txBox="1"/>
          <p:nvPr>
            <p:ph type="ctrTitle"/>
          </p:nvPr>
        </p:nvSpPr>
        <p:spPr>
          <a:xfrm>
            <a:off x="966788" y="2241418"/>
            <a:ext cx="6356400" cy="292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4300"/>
              <a:buFont typeface="Microsoft JhengHei"/>
              <a:buNone/>
            </a:pPr>
            <a:r>
              <a:rPr lang="zh-TW"/>
              <a:t>繳交資訊</a:t>
            </a:r>
            <a:endParaRPr/>
          </a:p>
        </p:txBody>
      </p:sp>
      <p:sp>
        <p:nvSpPr>
          <p:cNvPr id="941" name="Google Shape;941;g3ea92f76692_0_0"/>
          <p:cNvSpPr txBox="1"/>
          <p:nvPr>
            <p:ph idx="1" type="body"/>
          </p:nvPr>
        </p:nvSpPr>
        <p:spPr>
          <a:xfrm>
            <a:off x="966788" y="808035"/>
            <a:ext cx="3748200" cy="1030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5800"/>
              <a:buFont typeface="Arial"/>
              <a:buNone/>
            </a:pPr>
            <a:r>
              <a:rPr lang="zh-TW"/>
              <a:t>08</a:t>
            </a:r>
            <a:endParaRPr/>
          </a:p>
        </p:txBody>
      </p:sp>
      <p:sp>
        <p:nvSpPr>
          <p:cNvPr id="942" name="Google Shape;942;g3ea92f76692_0_0"/>
          <p:cNvSpPr txBox="1"/>
          <p:nvPr>
            <p:ph idx="2"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lt1"/>
              </a:buClr>
              <a:buSzPts val="1200"/>
              <a:buFont typeface="Arial"/>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346be64357_0_31"/>
          <p:cNvSpPr txBox="1"/>
          <p:nvPr>
            <p:ph type="ctrTitle"/>
          </p:nvPr>
        </p:nvSpPr>
        <p:spPr>
          <a:xfrm>
            <a:off x="953359" y="824935"/>
            <a:ext cx="8747400" cy="574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300"/>
              <a:buFont typeface="Arial"/>
              <a:buNone/>
            </a:pPr>
            <a:r>
              <a:rPr lang="zh-TW"/>
              <a:t>Regulations</a:t>
            </a:r>
            <a:endParaRPr/>
          </a:p>
        </p:txBody>
      </p:sp>
      <p:sp>
        <p:nvSpPr>
          <p:cNvPr id="948" name="Google Shape;948;g3346be64357_0_31"/>
          <p:cNvSpPr txBox="1"/>
          <p:nvPr>
            <p:ph idx="1" type="body"/>
          </p:nvPr>
        </p:nvSpPr>
        <p:spPr>
          <a:xfrm>
            <a:off x="1242282" y="6207371"/>
            <a:ext cx="10369800" cy="2349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1200"/>
              <a:buFont typeface="Arial"/>
              <a:buNone/>
            </a:pPr>
            <a:r>
              <a:t/>
            </a:r>
            <a:endParaRPr/>
          </a:p>
        </p:txBody>
      </p:sp>
      <p:sp>
        <p:nvSpPr>
          <p:cNvPr id="949" name="Google Shape;949;g3346be64357_0_31"/>
          <p:cNvSpPr txBox="1"/>
          <p:nvPr>
            <p:ph idx="2" type="body"/>
          </p:nvPr>
        </p:nvSpPr>
        <p:spPr>
          <a:xfrm>
            <a:off x="954088" y="1618596"/>
            <a:ext cx="10102800" cy="4089000"/>
          </a:xfrm>
          <a:prstGeom prst="rect">
            <a:avLst/>
          </a:prstGeom>
          <a:noFill/>
          <a:ln>
            <a:noFill/>
          </a:ln>
        </p:spPr>
        <p:txBody>
          <a:bodyPr anchorCtr="0" anchor="t" bIns="45700" lIns="91425" spcFirstLastPara="1" rIns="91425" wrap="square" tIns="45700">
            <a:noAutofit/>
          </a:bodyPr>
          <a:lstStyle/>
          <a:p>
            <a:pPr indent="-457200" lvl="0" marL="457200" rtl="0" algn="l">
              <a:lnSpc>
                <a:spcPct val="130000"/>
              </a:lnSpc>
              <a:spcBef>
                <a:spcPts val="1400"/>
              </a:spcBef>
              <a:spcAft>
                <a:spcPts val="0"/>
              </a:spcAft>
              <a:buClr>
                <a:srgbClr val="FF0000"/>
              </a:buClr>
              <a:buSzPts val="3600"/>
              <a:buChar char="•"/>
            </a:pPr>
            <a:r>
              <a:rPr b="1" lang="zh-TW" sz="2400">
                <a:solidFill>
                  <a:srgbClr val="FF0000"/>
                </a:solidFill>
              </a:rPr>
              <a:t>You should finish your homework on your own. </a:t>
            </a:r>
            <a:endParaRPr sz="2400">
              <a:solidFill>
                <a:srgbClr val="FF0000"/>
              </a:solidFill>
            </a:endParaRPr>
          </a:p>
          <a:p>
            <a:pPr indent="-457200" lvl="0" marL="457200" rtl="0" algn="l">
              <a:lnSpc>
                <a:spcPct val="130000"/>
              </a:lnSpc>
              <a:spcBef>
                <a:spcPts val="1400"/>
              </a:spcBef>
              <a:spcAft>
                <a:spcPts val="0"/>
              </a:spcAft>
              <a:buClr>
                <a:srgbClr val="FF0000"/>
              </a:buClr>
              <a:buSzPts val="3600"/>
              <a:buChar char="•"/>
            </a:pPr>
            <a:r>
              <a:rPr b="1" lang="zh-TW" sz="2400">
                <a:solidFill>
                  <a:srgbClr val="FF0000"/>
                </a:solidFill>
              </a:rPr>
              <a:t>Do not share your codes with any living creatures. </a:t>
            </a:r>
            <a:endParaRPr sz="2400">
              <a:solidFill>
                <a:srgbClr val="FF0000"/>
              </a:solidFill>
            </a:endParaRPr>
          </a:p>
          <a:p>
            <a:pPr indent="-457200" lvl="0" marL="457200" rtl="0" algn="l">
              <a:lnSpc>
                <a:spcPct val="130000"/>
              </a:lnSpc>
              <a:spcBef>
                <a:spcPts val="1400"/>
              </a:spcBef>
              <a:spcAft>
                <a:spcPts val="0"/>
              </a:spcAft>
              <a:buClr>
                <a:srgbClr val="FF0000"/>
              </a:buClr>
              <a:buSzPts val="3600"/>
              <a:buChar char="•"/>
            </a:pPr>
            <a:r>
              <a:rPr b="1" lang="zh-TW" sz="2400">
                <a:solidFill>
                  <a:srgbClr val="FF0000"/>
                </a:solidFill>
              </a:rPr>
              <a:t>Your HW will get 0 pt if you violate any of the above rules. </a:t>
            </a:r>
            <a:endParaRPr sz="2400">
              <a:solidFill>
                <a:srgbClr val="FF0000"/>
              </a:solidFill>
            </a:endParaRPr>
          </a:p>
          <a:p>
            <a:pPr indent="-457200" lvl="0" marL="457200" rtl="0" algn="l">
              <a:lnSpc>
                <a:spcPct val="130000"/>
              </a:lnSpc>
              <a:spcBef>
                <a:spcPts val="1400"/>
              </a:spcBef>
              <a:spcAft>
                <a:spcPts val="0"/>
              </a:spcAft>
              <a:buClr>
                <a:srgbClr val="FF0000"/>
              </a:buClr>
              <a:buSzPts val="3600"/>
              <a:buChar char="•"/>
            </a:pPr>
            <a:r>
              <a:rPr b="1" lang="zh-TW" sz="2400">
                <a:solidFill>
                  <a:srgbClr val="FF0000"/>
                </a:solidFill>
              </a:rPr>
              <a:t>Professor &amp; TAs preserve the rights to change the rules &amp; grades.</a:t>
            </a:r>
            <a:endParaRPr/>
          </a:p>
          <a:p>
            <a:pPr indent="-285750" lvl="0" marL="685800" rtl="0" algn="l">
              <a:lnSpc>
                <a:spcPct val="100000"/>
              </a:lnSpc>
              <a:spcBef>
                <a:spcPts val="1400"/>
              </a:spcBef>
              <a:spcAft>
                <a:spcPts val="0"/>
              </a:spcAft>
              <a:buSzPts val="2700"/>
              <a:buFont typeface="Arial"/>
              <a:buNone/>
            </a:pPr>
            <a:r>
              <a:t/>
            </a:r>
            <a:endParaRPr/>
          </a:p>
        </p:txBody>
      </p:sp>
      <p:sp>
        <p:nvSpPr>
          <p:cNvPr id="950" name="Google Shape;950;g3346be64357_0_31"/>
          <p:cNvSpPr txBox="1"/>
          <p:nvPr>
            <p:ph idx="12" type="sldNum"/>
          </p:nvPr>
        </p:nvSpPr>
        <p:spPr>
          <a:xfrm>
            <a:off x="677505" y="6196171"/>
            <a:ext cx="564900" cy="23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62"/>
          <p:cNvSpPr txBox="1"/>
          <p:nvPr>
            <p:ph type="ctrTitle"/>
          </p:nvPr>
        </p:nvSpPr>
        <p:spPr>
          <a:xfrm>
            <a:off x="967109" y="2419102"/>
            <a:ext cx="10191320" cy="57416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300"/>
              <a:buFont typeface="Microsoft JhengHei"/>
              <a:buNone/>
            </a:pPr>
            <a:r>
              <a:rPr lang="zh-TW"/>
              <a:t>助教聯絡資訊</a:t>
            </a:r>
            <a:endParaRPr/>
          </a:p>
        </p:txBody>
      </p:sp>
      <p:sp>
        <p:nvSpPr>
          <p:cNvPr id="956" name="Google Shape;956;p62"/>
          <p:cNvSpPr txBox="1"/>
          <p:nvPr>
            <p:ph idx="1" type="body"/>
          </p:nvPr>
        </p:nvSpPr>
        <p:spPr>
          <a:xfrm>
            <a:off x="1242282" y="6207371"/>
            <a:ext cx="10369910" cy="23489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200"/>
              <a:buNone/>
            </a:pPr>
            <a:r>
              <a:rPr lang="zh-TW"/>
              <a:t>章節07</a:t>
            </a:r>
            <a:endParaRPr/>
          </a:p>
        </p:txBody>
      </p:sp>
      <p:sp>
        <p:nvSpPr>
          <p:cNvPr id="957" name="Google Shape;957;p62"/>
          <p:cNvSpPr txBox="1"/>
          <p:nvPr>
            <p:ph idx="2" type="body"/>
          </p:nvPr>
        </p:nvSpPr>
        <p:spPr>
          <a:xfrm>
            <a:off x="966788" y="808035"/>
            <a:ext cx="3748087" cy="10302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5800"/>
              <a:buNone/>
            </a:pPr>
            <a:r>
              <a:rPr lang="zh-TW"/>
              <a:t>05</a:t>
            </a:r>
            <a:endParaRPr/>
          </a:p>
        </p:txBody>
      </p:sp>
      <p:sp>
        <p:nvSpPr>
          <p:cNvPr id="958" name="Google Shape;958;p62"/>
          <p:cNvSpPr txBox="1"/>
          <p:nvPr>
            <p:ph idx="12" type="sldNum"/>
          </p:nvPr>
        </p:nvSpPr>
        <p:spPr>
          <a:xfrm>
            <a:off x="677505" y="6196171"/>
            <a:ext cx="564777" cy="23489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r>
              <a:rPr lang="zh-TW"/>
              <a:t>P.</a:t>
            </a:r>
            <a:fld id="{00000000-1234-1234-1234-123412341234}" type="slidenum">
              <a:rPr lang="zh-TW"/>
              <a:t>‹#›</a:t>
            </a:fld>
            <a:endParaRPr/>
          </a:p>
        </p:txBody>
      </p:sp>
      <p:sp>
        <p:nvSpPr>
          <p:cNvPr id="959" name="Google Shape;959;p62"/>
          <p:cNvSpPr txBox="1"/>
          <p:nvPr>
            <p:ph idx="3" type="body"/>
          </p:nvPr>
        </p:nvSpPr>
        <p:spPr>
          <a:xfrm>
            <a:off x="967109" y="3124542"/>
            <a:ext cx="10191320" cy="18920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Mulish"/>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3e40051db1f_4_44"/>
          <p:cNvSpPr txBox="1"/>
          <p:nvPr>
            <p:ph type="ctrTitle"/>
          </p:nvPr>
        </p:nvSpPr>
        <p:spPr>
          <a:xfrm>
            <a:off x="953359" y="824935"/>
            <a:ext cx="8747700" cy="573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4300"/>
              <a:buNone/>
            </a:pPr>
            <a:r>
              <a:rPr lang="zh-TW"/>
              <a:t>助教聯絡資訊</a:t>
            </a:r>
            <a:endParaRPr/>
          </a:p>
        </p:txBody>
      </p:sp>
      <p:sp>
        <p:nvSpPr>
          <p:cNvPr id="966" name="Google Shape;966;g3e40051db1f_4_44"/>
          <p:cNvSpPr txBox="1"/>
          <p:nvPr>
            <p:ph idx="1" type="body"/>
          </p:nvPr>
        </p:nvSpPr>
        <p:spPr>
          <a:xfrm>
            <a:off x="1242281" y="6207371"/>
            <a:ext cx="10370100" cy="23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100"/>
              </a:spcBef>
              <a:spcAft>
                <a:spcPts val="0"/>
              </a:spcAft>
              <a:buSzPts val="1200"/>
              <a:buNone/>
            </a:pPr>
            <a:r>
              <a:t/>
            </a:r>
            <a:endParaRPr/>
          </a:p>
        </p:txBody>
      </p:sp>
      <p:sp>
        <p:nvSpPr>
          <p:cNvPr id="967" name="Google Shape;967;g3e40051db1f_4_44"/>
          <p:cNvSpPr txBox="1"/>
          <p:nvPr>
            <p:ph idx="2" type="body"/>
          </p:nvPr>
        </p:nvSpPr>
        <p:spPr>
          <a:xfrm>
            <a:off x="954088" y="1618596"/>
            <a:ext cx="10102800" cy="4089300"/>
          </a:xfrm>
          <a:prstGeom prst="rect">
            <a:avLst/>
          </a:prstGeom>
          <a:noFill/>
          <a:ln>
            <a:noFill/>
          </a:ln>
        </p:spPr>
        <p:txBody>
          <a:bodyPr anchorCtr="0" anchor="t" bIns="45700" lIns="91425" spcFirstLastPara="1" rIns="91425" wrap="square" tIns="45700">
            <a:noAutofit/>
          </a:bodyPr>
          <a:lstStyle/>
          <a:p>
            <a:pPr indent="-476250" lvl="0" marL="609600" rtl="0" algn="l">
              <a:lnSpc>
                <a:spcPct val="200000"/>
              </a:lnSpc>
              <a:spcBef>
                <a:spcPts val="1500"/>
              </a:spcBef>
              <a:spcAft>
                <a:spcPts val="0"/>
              </a:spcAft>
              <a:buSzPts val="2700"/>
              <a:buChar char="●"/>
            </a:pPr>
            <a:r>
              <a:rPr lang="zh-TW"/>
              <a:t>TA Email</a:t>
            </a:r>
            <a:endParaRPr/>
          </a:p>
          <a:p>
            <a:pPr indent="-457200" lvl="1" marL="1219200" rtl="0" algn="l">
              <a:lnSpc>
                <a:spcPct val="200000"/>
              </a:lnSpc>
              <a:spcBef>
                <a:spcPts val="0"/>
              </a:spcBef>
              <a:spcAft>
                <a:spcPts val="0"/>
              </a:spcAft>
              <a:buSzPts val="2400"/>
              <a:buFont typeface="Microsoft JhengHei"/>
              <a:buChar char="○"/>
            </a:pPr>
            <a:r>
              <a:rPr lang="zh-TW">
                <a:latin typeface="Microsoft JhengHei"/>
                <a:ea typeface="Microsoft JhengHei"/>
                <a:cs typeface="Microsoft JhengHei"/>
                <a:sym typeface="Microsoft JhengHei"/>
              </a:rPr>
              <a:t>賴秋彤 </a:t>
            </a:r>
            <a:r>
              <a:rPr lang="zh-TW" sz="2100" u="sng">
                <a:solidFill>
                  <a:schemeClr val="hlink"/>
                </a:solidFill>
                <a:latin typeface="Microsoft JhengHei"/>
                <a:ea typeface="Microsoft JhengHei"/>
                <a:cs typeface="Microsoft JhengHei"/>
                <a:sym typeface="Microsoft JhengHei"/>
                <a:hlinkClick r:id="rId3"/>
              </a:rPr>
              <a:t>t114598033@ntut.org.tw</a:t>
            </a:r>
            <a:endParaRPr/>
          </a:p>
          <a:p>
            <a:pPr indent="-476250" lvl="0" marL="609600" rtl="0" algn="l">
              <a:lnSpc>
                <a:spcPct val="200000"/>
              </a:lnSpc>
              <a:spcBef>
                <a:spcPts val="0"/>
              </a:spcBef>
              <a:spcAft>
                <a:spcPts val="0"/>
              </a:spcAft>
              <a:buSzPts val="2700"/>
              <a:buChar char="●"/>
            </a:pPr>
            <a:r>
              <a:rPr lang="zh-TW">
                <a:latin typeface="Microsoft JhengHei"/>
                <a:ea typeface="Microsoft JhengHei"/>
                <a:cs typeface="Microsoft JhengHei"/>
                <a:sym typeface="Microsoft JhengHei"/>
              </a:rPr>
              <a:t>Email 標題(</a:t>
            </a:r>
            <a:r>
              <a:rPr lang="zh-TW"/>
              <a:t>主旨)</a:t>
            </a:r>
            <a:endParaRPr/>
          </a:p>
          <a:p>
            <a:pPr indent="-457200" lvl="1" marL="1219200" rtl="0" algn="l">
              <a:lnSpc>
                <a:spcPct val="200000"/>
              </a:lnSpc>
              <a:spcBef>
                <a:spcPts val="0"/>
              </a:spcBef>
              <a:spcAft>
                <a:spcPts val="0"/>
              </a:spcAft>
              <a:buSzPts val="2400"/>
              <a:buChar char="○"/>
            </a:pPr>
            <a:r>
              <a:rPr lang="zh-TW">
                <a:latin typeface="Microsoft JhengHei"/>
                <a:ea typeface="Microsoft JhengHei"/>
                <a:cs typeface="Microsoft JhengHei"/>
                <a:sym typeface="Microsoft JhengHei"/>
              </a:rPr>
              <a:t>請按照此格式(X為作業編號)</a:t>
            </a:r>
            <a:r>
              <a:rPr lang="zh-TW"/>
              <a:t>：</a:t>
            </a:r>
            <a:r>
              <a:rPr lang="zh-TW">
                <a:latin typeface="Microsoft JhengHei"/>
                <a:ea typeface="Microsoft JhengHei"/>
                <a:cs typeface="Microsoft JhengHei"/>
                <a:sym typeface="Microsoft JhengHei"/>
              </a:rPr>
              <a:t> </a:t>
            </a:r>
            <a:r>
              <a:rPr lang="zh-TW">
                <a:solidFill>
                  <a:srgbClr val="FF0000"/>
                </a:solidFill>
                <a:latin typeface="Microsoft JhengHei"/>
                <a:ea typeface="Microsoft JhengHei"/>
                <a:cs typeface="Microsoft JhengHei"/>
                <a:sym typeface="Microsoft JhengHei"/>
              </a:rPr>
              <a:t>[ai2026s-hwX-學號]</a:t>
            </a:r>
            <a:endParaRPr>
              <a:solidFill>
                <a:srgbClr val="FF0000"/>
              </a:solidFill>
              <a:latin typeface="Microsoft JhengHei"/>
              <a:ea typeface="Microsoft JhengHei"/>
              <a:cs typeface="Microsoft JhengHei"/>
              <a:sym typeface="Microsoft JhengHei"/>
            </a:endParaRPr>
          </a:p>
        </p:txBody>
      </p:sp>
      <p:sp>
        <p:nvSpPr>
          <p:cNvPr id="968" name="Google Shape;968;g3e40051db1f_4_44"/>
          <p:cNvSpPr txBox="1"/>
          <p:nvPr>
            <p:ph idx="12" type="sldNum"/>
          </p:nvPr>
        </p:nvSpPr>
        <p:spPr>
          <a:xfrm>
            <a:off x="701467" y="6153567"/>
            <a:ext cx="540900" cy="288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zh-TW"/>
              <a:t>P.</a:t>
            </a: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章節頁_章節N">
  <a:themeElements>
    <a:clrScheme name="新興智慧顯示科技應用">
      <a:dk1>
        <a:srgbClr val="000000"/>
      </a:dk1>
      <a:lt1>
        <a:srgbClr val="FFFFFF"/>
      </a:lt1>
      <a:dk2>
        <a:srgbClr val="5C5C5C"/>
      </a:dk2>
      <a:lt2>
        <a:srgbClr val="E7E6E6"/>
      </a:lt2>
      <a:accent1>
        <a:srgbClr val="7B67E6"/>
      </a:accent1>
      <a:accent2>
        <a:srgbClr val="432FA6"/>
      </a:accent2>
      <a:accent3>
        <a:srgbClr val="ED2C39"/>
      </a:accent3>
      <a:accent4>
        <a:srgbClr val="FFC000"/>
      </a:accent4>
      <a:accent5>
        <a:srgbClr val="429AEB"/>
      </a:accent5>
      <a:accent6>
        <a:srgbClr val="3CA43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內容頁">
  <a:themeElements>
    <a:clrScheme name="新興智慧顯示科技應用">
      <a:dk1>
        <a:srgbClr val="000000"/>
      </a:dk1>
      <a:lt1>
        <a:srgbClr val="FFFFFF"/>
      </a:lt1>
      <a:dk2>
        <a:srgbClr val="5C5C5C"/>
      </a:dk2>
      <a:lt2>
        <a:srgbClr val="E7E6E6"/>
      </a:lt2>
      <a:accent1>
        <a:srgbClr val="7B67E6"/>
      </a:accent1>
      <a:accent2>
        <a:srgbClr val="432FA6"/>
      </a:accent2>
      <a:accent3>
        <a:srgbClr val="ED2C39"/>
      </a:accent3>
      <a:accent4>
        <a:srgbClr val="FFC000"/>
      </a:accent4>
      <a:accent5>
        <a:srgbClr val="429AEB"/>
      </a:accent5>
      <a:accent6>
        <a:srgbClr val="3CA43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首頁">
  <a:themeElements>
    <a:clrScheme name="新興智慧顯示科技應用">
      <a:dk1>
        <a:srgbClr val="000000"/>
      </a:dk1>
      <a:lt1>
        <a:srgbClr val="FFFFFF"/>
      </a:lt1>
      <a:dk2>
        <a:srgbClr val="5C5C5C"/>
      </a:dk2>
      <a:lt2>
        <a:srgbClr val="E7E6E6"/>
      </a:lt2>
      <a:accent1>
        <a:srgbClr val="7B67E6"/>
      </a:accent1>
      <a:accent2>
        <a:srgbClr val="432FA6"/>
      </a:accent2>
      <a:accent3>
        <a:srgbClr val="ED2C39"/>
      </a:accent3>
      <a:accent4>
        <a:srgbClr val="FFC000"/>
      </a:accent4>
      <a:accent5>
        <a:srgbClr val="429AEB"/>
      </a:accent5>
      <a:accent6>
        <a:srgbClr val="3CA43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章節頁_章節1">
  <a:themeElements>
    <a:clrScheme name="新興智慧顯示科技應用">
      <a:dk1>
        <a:srgbClr val="000000"/>
      </a:dk1>
      <a:lt1>
        <a:srgbClr val="FFFFFF"/>
      </a:lt1>
      <a:dk2>
        <a:srgbClr val="5C5C5C"/>
      </a:dk2>
      <a:lt2>
        <a:srgbClr val="E7E6E6"/>
      </a:lt2>
      <a:accent1>
        <a:srgbClr val="7B67E6"/>
      </a:accent1>
      <a:accent2>
        <a:srgbClr val="432FA6"/>
      </a:accent2>
      <a:accent3>
        <a:srgbClr val="ED2C39"/>
      </a:accent3>
      <a:accent4>
        <a:srgbClr val="FFC000"/>
      </a:accent4>
      <a:accent5>
        <a:srgbClr val="429AEB"/>
      </a:accent5>
      <a:accent6>
        <a:srgbClr val="3CA43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內容頁">
  <a:themeElements>
    <a:clrScheme name="新興智慧顯示科技應用">
      <a:dk1>
        <a:srgbClr val="000000"/>
      </a:dk1>
      <a:lt1>
        <a:srgbClr val="FFFFFF"/>
      </a:lt1>
      <a:dk2>
        <a:srgbClr val="5C5C5C"/>
      </a:dk2>
      <a:lt2>
        <a:srgbClr val="E7E6E6"/>
      </a:lt2>
      <a:accent1>
        <a:srgbClr val="7B67E6"/>
      </a:accent1>
      <a:accent2>
        <a:srgbClr val="432FA6"/>
      </a:accent2>
      <a:accent3>
        <a:srgbClr val="ED2C39"/>
      </a:accent3>
      <a:accent4>
        <a:srgbClr val="FFC000"/>
      </a:accent4>
      <a:accent5>
        <a:srgbClr val="429AEB"/>
      </a:accent5>
      <a:accent6>
        <a:srgbClr val="3CA43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2021-11-03T01:57:43Z</dcterms:created>
  <dc:creator>Microsoft Office User</dc:creator>
</cp:coreProperties>
</file>