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2" r:id="rId6"/>
    <p:sldMasterId id="2147483656" r:id="rId7"/>
    <p:sldMasterId id="2147483666" r:id="rId8"/>
    <p:sldMasterId id="2147483670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</p:sldIdLst>
  <p:sldSz cy="5143500" cx="9144000"/>
  <p:notesSz cx="6858000" cy="9144000"/>
  <p:embeddedFontLst>
    <p:embeddedFont>
      <p:font typeface="Mulish ExtraLight"/>
      <p:regular r:id="rId40"/>
      <p:bold r:id="rId41"/>
      <p:italic r:id="rId42"/>
      <p:boldItalic r:id="rId43"/>
    </p:embeddedFont>
    <p:embeddedFont>
      <p:font typeface="Mulish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8" roundtripDataSignature="AMtx7miJ9woFsfTg74NqEL0OaXcM/a3E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410E12-826C-4918-96CD-11D3D3D48652}">
  <a:tblStyle styleId="{A3410E12-826C-4918-96CD-11D3D3D486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ulishExtraLight-regular.fntdata"/><Relationship Id="rId20" Type="http://schemas.openxmlformats.org/officeDocument/2006/relationships/slide" Target="slides/slide10.xml"/><Relationship Id="rId42" Type="http://schemas.openxmlformats.org/officeDocument/2006/relationships/font" Target="fonts/MulishExtraLight-italic.fntdata"/><Relationship Id="rId41" Type="http://schemas.openxmlformats.org/officeDocument/2006/relationships/font" Target="fonts/MulishExtraLight-bold.fntdata"/><Relationship Id="rId22" Type="http://schemas.openxmlformats.org/officeDocument/2006/relationships/slide" Target="slides/slide12.xml"/><Relationship Id="rId44" Type="http://schemas.openxmlformats.org/officeDocument/2006/relationships/font" Target="fonts/Mulish-regular.fntdata"/><Relationship Id="rId21" Type="http://schemas.openxmlformats.org/officeDocument/2006/relationships/slide" Target="slides/slide11.xml"/><Relationship Id="rId43" Type="http://schemas.openxmlformats.org/officeDocument/2006/relationships/font" Target="fonts/MulishExtraLight-boldItalic.fntdata"/><Relationship Id="rId24" Type="http://schemas.openxmlformats.org/officeDocument/2006/relationships/slide" Target="slides/slide14.xml"/><Relationship Id="rId46" Type="http://schemas.openxmlformats.org/officeDocument/2006/relationships/font" Target="fonts/Mulish-italic.fntdata"/><Relationship Id="rId23" Type="http://schemas.openxmlformats.org/officeDocument/2006/relationships/slide" Target="slides/slide13.xml"/><Relationship Id="rId45" Type="http://schemas.openxmlformats.org/officeDocument/2006/relationships/font" Target="fonts/Mulish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6.xml"/><Relationship Id="rId48" Type="http://customschemas.google.com/relationships/presentationmetadata" Target="metadata"/><Relationship Id="rId25" Type="http://schemas.openxmlformats.org/officeDocument/2006/relationships/slide" Target="slides/slide15.xml"/><Relationship Id="rId47" Type="http://schemas.openxmlformats.org/officeDocument/2006/relationships/font" Target="fonts/Mulish-boldItalic.fntdata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slide" Target="slides/slide25.xml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37" Type="http://schemas.openxmlformats.org/officeDocument/2006/relationships/slide" Target="slides/slide27.xml"/><Relationship Id="rId14" Type="http://schemas.openxmlformats.org/officeDocument/2006/relationships/slide" Target="slides/slide4.xml"/><Relationship Id="rId36" Type="http://schemas.openxmlformats.org/officeDocument/2006/relationships/slide" Target="slides/slide26.xml"/><Relationship Id="rId17" Type="http://schemas.openxmlformats.org/officeDocument/2006/relationships/slide" Target="slides/slide7.xml"/><Relationship Id="rId39" Type="http://schemas.openxmlformats.org/officeDocument/2006/relationships/slide" Target="slides/slide29.xml"/><Relationship Id="rId16" Type="http://schemas.openxmlformats.org/officeDocument/2006/relationships/slide" Target="slides/slide6.xml"/><Relationship Id="rId38" Type="http://schemas.openxmlformats.org/officeDocument/2006/relationships/slide" Target="slides/slide28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b="1" lang="zh-TW" sz="3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圖形識別</a:t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7027216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7027216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7027216b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7027216b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7027216b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7027216b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7027216b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7027216b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7027216b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7027216b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7027216b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e7027216b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4eba6ef8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c4eba6ef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4eba6ef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c4eba6ef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d3a2b9f5f_1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bd3a2b9f5f_1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bd3a2b9f5f_1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4"/>
          <p:cNvSpPr txBox="1"/>
          <p:nvPr>
            <p:ph type="ctrTitle"/>
          </p:nvPr>
        </p:nvSpPr>
        <p:spPr>
          <a:xfrm>
            <a:off x="725332" y="1705871"/>
            <a:ext cx="7643490" cy="430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" type="body"/>
          </p:nvPr>
        </p:nvSpPr>
        <p:spPr>
          <a:xfrm>
            <a:off x="725332" y="2255322"/>
            <a:ext cx="7643490" cy="8653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2" type="body"/>
          </p:nvPr>
        </p:nvSpPr>
        <p:spPr>
          <a:xfrm>
            <a:off x="725331" y="3429000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3" type="body"/>
          </p:nvPr>
        </p:nvSpPr>
        <p:spPr>
          <a:xfrm>
            <a:off x="725331" y="3768755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8"/>
          <p:cNvSpPr txBox="1"/>
          <p:nvPr>
            <p:ph type="ctrTitle"/>
          </p:nvPr>
        </p:nvSpPr>
        <p:spPr>
          <a:xfrm>
            <a:off x="725332" y="1606130"/>
            <a:ext cx="4767360" cy="1414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" type="body"/>
          </p:nvPr>
        </p:nvSpPr>
        <p:spPr>
          <a:xfrm>
            <a:off x="725331" y="3429000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2" type="body"/>
          </p:nvPr>
        </p:nvSpPr>
        <p:spPr>
          <a:xfrm>
            <a:off x="725331" y="3768755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idx="1" type="body"/>
          </p:nvPr>
        </p:nvSpPr>
        <p:spPr>
          <a:xfrm>
            <a:off x="725332" y="1621650"/>
            <a:ext cx="4767360" cy="13936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49"/>
          <p:cNvSpPr txBox="1"/>
          <p:nvPr>
            <p:ph idx="2" type="body"/>
          </p:nvPr>
        </p:nvSpPr>
        <p:spPr>
          <a:xfrm>
            <a:off x="725331" y="3429000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9"/>
          <p:cNvSpPr txBox="1"/>
          <p:nvPr>
            <p:ph idx="3" type="body"/>
          </p:nvPr>
        </p:nvSpPr>
        <p:spPr>
          <a:xfrm>
            <a:off x="725331" y="3768755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" name="Google Shape;22;p36"/>
          <p:cNvSpPr txBox="1"/>
          <p:nvPr>
            <p:ph type="ctrTitle"/>
          </p:nvPr>
        </p:nvSpPr>
        <p:spPr>
          <a:xfrm>
            <a:off x="725091" y="1681064"/>
            <a:ext cx="4767300" cy="219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725091" y="606026"/>
            <a:ext cx="2811150" cy="772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6"/>
          <p:cNvSpPr txBox="1"/>
          <p:nvPr>
            <p:ph idx="2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0"/>
          <p:cNvSpPr txBox="1"/>
          <p:nvPr>
            <p:ph type="ctrTitle"/>
          </p:nvPr>
        </p:nvSpPr>
        <p:spPr>
          <a:xfrm>
            <a:off x="725332" y="1814327"/>
            <a:ext cx="7643475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0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0"/>
          <p:cNvSpPr txBox="1"/>
          <p:nvPr>
            <p:ph idx="2" type="body"/>
          </p:nvPr>
        </p:nvSpPr>
        <p:spPr>
          <a:xfrm>
            <a:off x="725091" y="606026"/>
            <a:ext cx="2811150" cy="772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0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50"/>
          <p:cNvSpPr txBox="1"/>
          <p:nvPr>
            <p:ph idx="3" type="body"/>
          </p:nvPr>
        </p:nvSpPr>
        <p:spPr>
          <a:xfrm>
            <a:off x="725332" y="2343406"/>
            <a:ext cx="7643475" cy="14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1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51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1"/>
          <p:cNvSpPr txBox="1"/>
          <p:nvPr>
            <p:ph idx="2" type="body"/>
          </p:nvPr>
        </p:nvSpPr>
        <p:spPr>
          <a:xfrm>
            <a:off x="725091" y="606026"/>
            <a:ext cx="2811150" cy="772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1"/>
          <p:cNvSpPr txBox="1"/>
          <p:nvPr>
            <p:ph idx="3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4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4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4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4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4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6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4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6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5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66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6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6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7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67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67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8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6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6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6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7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70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7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9" name="Google Shape;79;p47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47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1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7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71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7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7" name="Google Shape;87;p71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0" name="Google Shape;90;p72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72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72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3a2b9f5f_1_69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bd3a2b9f5f_1_6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bd3a2b9f5f_1_69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g3bd3a2b9f5f_1_6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3a2b9f5f_1_74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g3bd3a2b9f5f_1_7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g3bd3a2b9f5f_1_7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3a2b9f5f_1_78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bd3a2b9f5f_1_7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g3bd3a2b9f5f_1_78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g3bd3a2b9f5f_1_7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d3a2b9f5f_1_83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3bd3a2b9f5f_1_8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3a2b9f5f_1_86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g3bd3a2b9f5f_1_86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bd3a2b9f5f_1_86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g3bd3a2b9f5f_1_8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3a2b9f5f_1_91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g3bd3a2b9f5f_1_91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bd3a2b9f5f_1_9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1" name="Google Shape;121;g3bd3a2b9f5f_1_91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3a2b9f5f_1_96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g3bd3a2b9f5f_1_9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g3bd3a2b9f5f_1_9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3a2b9f5f_1_10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g3bd3a2b9f5f_1_10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d3a2b9f5f_1_10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g3bd3a2b9f5f_1_10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g3bd3a2b9f5f_1_10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g3bd3a2b9f5f_1_10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3a2b9f5f_1_10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6" name="Google Shape;136;g3bd3a2b9f5f_1_108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g3bd3a2b9f5f_1_108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g3bd3a2b9f5f_1_108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  <p:sldLayoutId id="2147483668" r:id="rId3"/>
    <p:sldLayoutId id="214748366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d3a2b9f5f_1_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drive/folders/1fnne5G31725MxpTPT2OaBNRHSXx6Kzyx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lctung/compare-similarity.git" TargetMode="External"/><Relationship Id="rId4" Type="http://schemas.openxmlformats.org/officeDocument/2006/relationships/hyperlink" Target="https://github.com/lctung/compare-similarity.git" TargetMode="External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lctung/ai2026s/tree/main/hw04" TargetMode="External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hyperlink" Target="https://github.com/lctung/compare-similarity.gi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en.wikipedia.org/wiki/Turing_test" TargetMode="External"/><Relationship Id="rId4" Type="http://schemas.openxmlformats.org/officeDocument/2006/relationships/hyperlink" Target="https://www.wict.pku.edu.cn/zlian/easyfont/index.htm" TargetMode="External"/><Relationship Id="rId5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hyperlink" Target="mailto:t114598033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ctrTitle"/>
          </p:nvPr>
        </p:nvSpPr>
        <p:spPr>
          <a:xfrm>
            <a:off x="725332" y="1737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144" name="Google Shape;144;p1"/>
          <p:cNvSpPr txBox="1"/>
          <p:nvPr>
            <p:ph idx="1" type="body"/>
          </p:nvPr>
        </p:nvSpPr>
        <p:spPr>
          <a:xfrm>
            <a:off x="725332" y="2255322"/>
            <a:ext cx="7643490" cy="8653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sh"/>
              <a:buNone/>
            </a:pPr>
            <a:r>
              <a:rPr lang="zh-TW"/>
              <a:t>相似度分析 - FFG</a:t>
            </a:r>
            <a:endParaRPr/>
          </a:p>
        </p:txBody>
      </p:sp>
      <p:sp>
        <p:nvSpPr>
          <p:cNvPr id="145" name="Google Shape;145;p1"/>
          <p:cNvSpPr txBox="1"/>
          <p:nvPr>
            <p:ph idx="2" type="body"/>
          </p:nvPr>
        </p:nvSpPr>
        <p:spPr>
          <a:xfrm>
            <a:off x="725331" y="3429000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賴秋彤-</a:t>
            </a:r>
            <a:r>
              <a:rPr lang="zh-TW"/>
              <a:t>林家弘-王俞喬</a:t>
            </a:r>
            <a:endParaRPr/>
          </a:p>
        </p:txBody>
      </p:sp>
      <p:sp>
        <p:nvSpPr>
          <p:cNvPr id="146" name="Google Shape;146;p1"/>
          <p:cNvSpPr txBox="1"/>
          <p:nvPr>
            <p:ph idx="3" type="body"/>
          </p:nvPr>
        </p:nvSpPr>
        <p:spPr>
          <a:xfrm>
            <a:off x="725331" y="3768755"/>
            <a:ext cx="498757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2" name="Google Shape;152;p2"/>
          <p:cNvSpPr txBox="1"/>
          <p:nvPr>
            <p:ph type="ctrTitle"/>
          </p:nvPr>
        </p:nvSpPr>
        <p:spPr>
          <a:xfrm>
            <a:off x="725091" y="1681064"/>
            <a:ext cx="4767300" cy="219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圖像相似度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725091" y="606026"/>
            <a:ext cx="2811150" cy="772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t/>
            </a:r>
            <a:endParaRPr/>
          </a:p>
        </p:txBody>
      </p:sp>
      <p:sp>
        <p:nvSpPr>
          <p:cNvPr id="154" name="Google Shape;154;p2"/>
          <p:cNvSpPr txBox="1"/>
          <p:nvPr>
            <p:ph idx="2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ctrTitle"/>
          </p:nvPr>
        </p:nvSpPr>
        <p:spPr>
          <a:xfrm>
            <a:off x="715019" y="618701"/>
            <a:ext cx="6560550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圖像相似度</a:t>
            </a:r>
            <a:endParaRPr/>
          </a:p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 txBox="1"/>
          <p:nvPr>
            <p:ph idx="2" type="body"/>
          </p:nvPr>
        </p:nvSpPr>
        <p:spPr>
          <a:xfrm>
            <a:off x="715566" y="1213947"/>
            <a:ext cx="7577100" cy="30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5207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zh-TW"/>
              <a:t>MSE (Mean Squared Error)：均方誤差</a:t>
            </a:r>
            <a:endParaRPr/>
          </a:p>
          <a:p>
            <a:pPr indent="-342900" lvl="0" marL="5207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zh-TW"/>
              <a:t>SSIM (Structural Similarity Index)：結構相似性指標</a:t>
            </a:r>
            <a:endParaRPr/>
          </a:p>
          <a:p>
            <a:pPr indent="-342900" lvl="0" marL="5207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zh-TW"/>
              <a:t>LPIPS (Learned Perceptual Image Patch Similarity)：學習感知圖像塊相似性指標</a:t>
            </a:r>
            <a:endParaRPr/>
          </a:p>
        </p:txBody>
      </p:sp>
      <p:sp>
        <p:nvSpPr>
          <p:cNvPr id="162" name="Google Shape;162;p5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>
            <p:ph type="ctrTitle"/>
          </p:nvPr>
        </p:nvSpPr>
        <p:spPr>
          <a:xfrm>
            <a:off x="715019" y="618701"/>
            <a:ext cx="6560550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MSE</a:t>
            </a:r>
            <a:endParaRPr/>
          </a:p>
        </p:txBody>
      </p:sp>
      <p:sp>
        <p:nvSpPr>
          <p:cNvPr id="168" name="Google Shape;168;p3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 txBox="1"/>
          <p:nvPr>
            <p:ph idx="2" type="body"/>
          </p:nvPr>
        </p:nvSpPr>
        <p:spPr>
          <a:xfrm>
            <a:off x="715566" y="1213947"/>
            <a:ext cx="7577100" cy="30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又稱為「L2 損失 (L2 loss)」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一種常用的評估兩個圖像之間差異的指標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計算兩個圖像</a:t>
            </a:r>
            <a:r>
              <a:rPr b="1" lang="zh-TW">
                <a:solidFill>
                  <a:srgbClr val="FF0000"/>
                </a:solidFill>
              </a:rPr>
              <a:t>對應像素值</a:t>
            </a:r>
            <a:r>
              <a:rPr lang="zh-TW"/>
              <a:t>的差異平方的平均值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MSE </a:t>
            </a:r>
            <a:r>
              <a:rPr b="1" lang="zh-TW">
                <a:solidFill>
                  <a:srgbClr val="FF0000"/>
                </a:solidFill>
              </a:rPr>
              <a:t>越小</a:t>
            </a:r>
            <a:r>
              <a:rPr lang="zh-TW"/>
              <a:t>表示兩個圖像</a:t>
            </a:r>
            <a:r>
              <a:rPr b="1" lang="zh-TW">
                <a:solidFill>
                  <a:srgbClr val="FF0000"/>
                </a:solidFill>
              </a:rPr>
              <a:t>越相似</a:t>
            </a:r>
            <a:endParaRPr/>
          </a:p>
        </p:txBody>
      </p:sp>
      <p:sp>
        <p:nvSpPr>
          <p:cNvPr id="170" name="Google Shape;170;p3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1" name="Google Shape;171;p3"/>
          <p:cNvPicPr preferRelativeResize="0"/>
          <p:nvPr/>
        </p:nvPicPr>
        <p:blipFill rotWithShape="1">
          <a:blip r:embed="rId3">
            <a:alphaModFix/>
          </a:blip>
          <a:srcRect b="26196" l="3683" r="3067" t="28992"/>
          <a:stretch/>
        </p:blipFill>
        <p:spPr>
          <a:xfrm>
            <a:off x="2748000" y="3538556"/>
            <a:ext cx="3116063" cy="84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/>
          <p:nvPr/>
        </p:nvSpPr>
        <p:spPr>
          <a:xfrm>
            <a:off x="3816375" y="3513994"/>
            <a:ext cx="774000" cy="866925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4694550" y="3699600"/>
            <a:ext cx="924525" cy="374625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5723250" y="3699600"/>
            <a:ext cx="140850" cy="242100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3816375" y="3203750"/>
            <a:ext cx="65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zh-TW" sz="13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endParaRPr b="1" i="0" sz="13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4694550" y="3420825"/>
            <a:ext cx="55125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zh-TW" sz="1300" u="none" cap="none" strike="noStrike">
                <a:solidFill>
                  <a:srgbClr val="8E7CC3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 b="1" i="0" sz="1300" u="none" cap="none" strike="noStrike">
              <a:solidFill>
                <a:srgbClr val="8E7C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5552355" y="3420844"/>
            <a:ext cx="8307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zh-TW" sz="13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Squared</a:t>
            </a:r>
            <a:endParaRPr b="1" i="0" sz="13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1000181" y="972225"/>
            <a:ext cx="2189925" cy="2393550"/>
          </a:xfrm>
          <a:prstGeom prst="rect">
            <a:avLst/>
          </a:prstGeom>
          <a:solidFill>
            <a:srgbClr val="B7B7B7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1463044" y="2874019"/>
            <a:ext cx="162900" cy="176175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409163" y="972225"/>
            <a:ext cx="2189925" cy="2393550"/>
          </a:xfrm>
          <a:prstGeom prst="rect">
            <a:avLst/>
          </a:prstGeom>
          <a:solidFill>
            <a:srgbClr val="B7B7B7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872025" y="2874019"/>
            <a:ext cx="162900" cy="176175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4"/>
          <p:cNvCxnSpPr/>
          <p:nvPr/>
        </p:nvCxnSpPr>
        <p:spPr>
          <a:xfrm>
            <a:off x="1625944" y="2874019"/>
            <a:ext cx="2246625" cy="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0" name="Google Shape;190;p4"/>
          <p:cNvCxnSpPr/>
          <p:nvPr/>
        </p:nvCxnSpPr>
        <p:spPr>
          <a:xfrm>
            <a:off x="1625944" y="3050194"/>
            <a:ext cx="2246625" cy="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1" name="Google Shape;191;p4"/>
          <p:cNvSpPr txBox="1"/>
          <p:nvPr/>
        </p:nvSpPr>
        <p:spPr>
          <a:xfrm>
            <a:off x="4203525" y="622575"/>
            <a:ext cx="601200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圖 B</a:t>
            </a:r>
            <a:endParaRPr b="1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1794544" y="622575"/>
            <a:ext cx="601200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圖 A</a:t>
            </a:r>
            <a:endParaRPr b="1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2325562" y="3658463"/>
            <a:ext cx="2055300" cy="400200"/>
          </a:xfrm>
          <a:prstGeom prst="rect">
            <a:avLst/>
          </a:prstGeom>
          <a:solidFill>
            <a:srgbClr val="FFF2CC"/>
          </a:solidFill>
          <a:ln cap="flat" cmpd="sng" w="762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(對應像素值的差異)</a:t>
            </a:r>
            <a:endParaRPr b="1" i="0" sz="1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4"/>
          <p:cNvCxnSpPr/>
          <p:nvPr/>
        </p:nvCxnSpPr>
        <p:spPr>
          <a:xfrm>
            <a:off x="2191838" y="3059625"/>
            <a:ext cx="651825" cy="5908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4"/>
          <p:cNvSpPr txBox="1"/>
          <p:nvPr/>
        </p:nvSpPr>
        <p:spPr>
          <a:xfrm>
            <a:off x="1969969" y="3324356"/>
            <a:ext cx="601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計算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6633525" y="3658463"/>
            <a:ext cx="1012950" cy="392400"/>
          </a:xfrm>
          <a:prstGeom prst="rect">
            <a:avLst/>
          </a:prstGeom>
          <a:solidFill>
            <a:srgbClr val="FFF2CC"/>
          </a:solidFill>
          <a:ln cap="flat" cmpd="sng" w="762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取平均值</a:t>
            </a:r>
            <a:endParaRPr b="1" i="0" sz="1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4"/>
          <p:cNvCxnSpPr>
            <a:stCxn id="193" idx="3"/>
            <a:endCxn id="196" idx="1"/>
          </p:cNvCxnSpPr>
          <p:nvPr/>
        </p:nvCxnSpPr>
        <p:spPr>
          <a:xfrm flipH="1" rot="10800000">
            <a:off x="4380862" y="3854663"/>
            <a:ext cx="2252700" cy="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4"/>
          <p:cNvSpPr txBox="1"/>
          <p:nvPr/>
        </p:nvSpPr>
        <p:spPr>
          <a:xfrm>
            <a:off x="5219681" y="3519413"/>
            <a:ext cx="517725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1/n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 rot="-970711">
            <a:off x="1499164" y="1582767"/>
            <a:ext cx="896347" cy="776089"/>
          </a:xfrm>
          <a:prstGeom prst="smileyFace">
            <a:avLst>
              <a:gd fmla="val 4653" name="adj"/>
            </a:avLst>
          </a:prstGeom>
          <a:solidFill>
            <a:srgbClr val="F3F3F3"/>
          </a:solidFill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 rot="-970711">
            <a:off x="3908145" y="1582767"/>
            <a:ext cx="896347" cy="776089"/>
          </a:xfrm>
          <a:prstGeom prst="smileyFace">
            <a:avLst>
              <a:gd fmla="val 4653" name="adj"/>
            </a:avLst>
          </a:prstGeom>
          <a:solidFill>
            <a:srgbClr val="434343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4400634" y="3519413"/>
            <a:ext cx="517725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ctrTitle"/>
          </p:nvPr>
        </p:nvSpPr>
        <p:spPr>
          <a:xfrm>
            <a:off x="715019" y="618701"/>
            <a:ext cx="6560550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SSIM</a:t>
            </a:r>
            <a:endParaRPr/>
          </a:p>
        </p:txBody>
      </p:sp>
      <p:sp>
        <p:nvSpPr>
          <p:cNvPr id="207" name="Google Shape;207;p6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>
            <p:ph idx="2" type="body"/>
          </p:nvPr>
        </p:nvSpPr>
        <p:spPr>
          <a:xfrm>
            <a:off x="715566" y="1213947"/>
            <a:ext cx="7577100" cy="30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SSIM 是一種用於衡量兩個圖像</a:t>
            </a:r>
            <a:r>
              <a:rPr b="1" lang="zh-TW">
                <a:solidFill>
                  <a:srgbClr val="FF0000"/>
                </a:solidFill>
              </a:rPr>
              <a:t>結構相似性</a:t>
            </a:r>
            <a:r>
              <a:rPr lang="zh-TW"/>
              <a:t>的指標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基於人類視覺系統對於</a:t>
            </a:r>
            <a:r>
              <a:rPr b="1" lang="zh-TW"/>
              <a:t>亮度</a:t>
            </a:r>
            <a:r>
              <a:rPr lang="zh-TW"/>
              <a:t>、</a:t>
            </a:r>
            <a:r>
              <a:rPr b="1" lang="zh-TW"/>
              <a:t>對比度</a:t>
            </a:r>
            <a:r>
              <a:rPr lang="zh-TW"/>
              <a:t>和</a:t>
            </a:r>
            <a:r>
              <a:rPr b="1" lang="zh-TW"/>
              <a:t>結構訊息</a:t>
            </a:r>
            <a:r>
              <a:rPr lang="zh-TW"/>
              <a:t>的感知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考慮了亮度、對比度和結構三個方面的相似性，並生成一個介於 0 和 1 之間的分數，</a:t>
            </a:r>
            <a:r>
              <a:rPr b="1" lang="zh-TW">
                <a:solidFill>
                  <a:srgbClr val="FF0000"/>
                </a:solidFill>
              </a:rPr>
              <a:t>越接近 1 </a:t>
            </a:r>
            <a:r>
              <a:rPr lang="zh-TW"/>
              <a:t>表示兩個圖像</a:t>
            </a:r>
            <a:r>
              <a:rPr b="1" lang="zh-TW">
                <a:solidFill>
                  <a:srgbClr val="FF0000"/>
                </a:solidFill>
              </a:rPr>
              <a:t>越相似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SSIM </a:t>
            </a:r>
            <a:r>
              <a:rPr b="1" lang="zh-TW">
                <a:solidFill>
                  <a:srgbClr val="FF0000"/>
                </a:solidFill>
              </a:rPr>
              <a:t>越大</a:t>
            </a:r>
            <a:r>
              <a:rPr lang="zh-TW"/>
              <a:t>表示兩個圖像</a:t>
            </a:r>
            <a:r>
              <a:rPr b="1" lang="zh-TW">
                <a:solidFill>
                  <a:srgbClr val="FF0000"/>
                </a:solidFill>
              </a:rPr>
              <a:t>越相似</a:t>
            </a:r>
            <a:endParaRPr/>
          </a:p>
        </p:txBody>
      </p:sp>
      <p:sp>
        <p:nvSpPr>
          <p:cNvPr id="209" name="Google Shape;209;p6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0" name="Google Shape;2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8063" y="3225450"/>
            <a:ext cx="2639082" cy="31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5181" y="3687712"/>
            <a:ext cx="4971732" cy="7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/>
          <p:nvPr/>
        </p:nvSpPr>
        <p:spPr>
          <a:xfrm>
            <a:off x="4009331" y="3793331"/>
            <a:ext cx="265500" cy="2286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3760463" y="3538331"/>
            <a:ext cx="596475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x均值</a:t>
            </a:r>
            <a:endParaRPr b="1" i="0" sz="11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295081" y="3793331"/>
            <a:ext cx="251100" cy="2286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470238" y="3793331"/>
            <a:ext cx="362025" cy="2286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263069" y="4071938"/>
            <a:ext cx="283275" cy="285750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832263" y="4071938"/>
            <a:ext cx="283275" cy="312975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4214119" y="3538331"/>
            <a:ext cx="567900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y均值</a:t>
            </a:r>
            <a:endParaRPr b="1" i="0" sz="11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4904775" y="4332729"/>
            <a:ext cx="75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x變異數</a:t>
            </a:r>
            <a:endParaRPr b="1" i="0" sz="11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5703577" y="4350604"/>
            <a:ext cx="75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y變異數</a:t>
            </a:r>
            <a:endParaRPr b="1" i="0" sz="11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5321374" y="3538325"/>
            <a:ext cx="12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8E7CC3"/>
                </a:solidFill>
                <a:latin typeface="Arial"/>
                <a:ea typeface="Arial"/>
                <a:cs typeface="Arial"/>
                <a:sym typeface="Arial"/>
              </a:rPr>
              <a:t>x和y的共變異數</a:t>
            </a:r>
            <a:endParaRPr b="1" i="0" sz="1100" u="none" cap="none" strike="noStrike">
              <a:solidFill>
                <a:srgbClr val="8E7CC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/>
          <p:nvPr>
            <p:ph type="ctrTitle"/>
          </p:nvPr>
        </p:nvSpPr>
        <p:spPr>
          <a:xfrm>
            <a:off x="715019" y="618701"/>
            <a:ext cx="6560550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 txBox="1"/>
          <p:nvPr>
            <p:ph idx="2" type="body"/>
          </p:nvPr>
        </p:nvSpPr>
        <p:spPr>
          <a:xfrm>
            <a:off x="715566" y="1213947"/>
            <a:ext cx="7577100" cy="30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1" name="Google Shape;231;p7"/>
          <p:cNvPicPr preferRelativeResize="0"/>
          <p:nvPr/>
        </p:nvPicPr>
        <p:blipFill rotWithShape="1">
          <a:blip r:embed="rId3">
            <a:alphaModFix/>
          </a:blip>
          <a:srcRect b="5778" l="0" r="0" t="10475"/>
          <a:stretch/>
        </p:blipFill>
        <p:spPr>
          <a:xfrm>
            <a:off x="721069" y="618700"/>
            <a:ext cx="7566105" cy="3450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13" y="618694"/>
            <a:ext cx="1778887" cy="177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050" y="618694"/>
            <a:ext cx="1778887" cy="177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1288" y="618694"/>
            <a:ext cx="1778887" cy="177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6525" y="618694"/>
            <a:ext cx="1778887" cy="17788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8"/>
          <p:cNvGraphicFramePr/>
          <p:nvPr/>
        </p:nvGraphicFramePr>
        <p:xfrm>
          <a:off x="714375" y="302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{A3410E12-826C-4918-96CD-11D3D3D48652}</a:tableStyleId>
              </a:tblPr>
              <a:tblGrid>
                <a:gridCol w="1894275"/>
                <a:gridCol w="1894275"/>
                <a:gridCol w="1894275"/>
                <a:gridCol w="1894275"/>
              </a:tblGrid>
              <a:tr h="41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MSE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4443.170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5445.344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4592.340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SSIM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0.744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0.713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solidFill>
                            <a:srgbClr val="FF0000"/>
                          </a:solidFill>
                        </a:rPr>
                        <a:t>0.047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68575" marB="68575" marR="68575" marL="6857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8"/>
          <p:cNvSpPr txBox="1"/>
          <p:nvPr/>
        </p:nvSpPr>
        <p:spPr>
          <a:xfrm>
            <a:off x="1299657" y="2363963"/>
            <a:ext cx="601200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原圖</a:t>
            </a:r>
            <a:endParaRPr b="1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3244894" y="2363963"/>
            <a:ext cx="601200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圖 1</a:t>
            </a:r>
            <a:endParaRPr b="1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5190132" y="2363963"/>
            <a:ext cx="601200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圖 2</a:t>
            </a:r>
            <a:endParaRPr b="1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7135369" y="2363963"/>
            <a:ext cx="601200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圖 3</a:t>
            </a:r>
            <a:endParaRPr b="1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311700" y="3086100"/>
            <a:ext cx="1045125" cy="3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無法區別➩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689869" y="3791138"/>
            <a:ext cx="1287225" cy="3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⇧⇧區別很大⇧⇧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 txBox="1"/>
          <p:nvPr>
            <p:ph type="ctrTitle"/>
          </p:nvPr>
        </p:nvSpPr>
        <p:spPr>
          <a:xfrm>
            <a:off x="715019" y="618701"/>
            <a:ext cx="6560550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LPIPS</a:t>
            </a:r>
            <a:endParaRPr/>
          </a:p>
        </p:txBody>
      </p:sp>
      <p:sp>
        <p:nvSpPr>
          <p:cNvPr id="255" name="Google Shape;255;p9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 txBox="1"/>
          <p:nvPr>
            <p:ph idx="2" type="body"/>
          </p:nvPr>
        </p:nvSpPr>
        <p:spPr>
          <a:xfrm>
            <a:off x="715575" y="1213950"/>
            <a:ext cx="7933725" cy="30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又稱為「感知損失 (perceptual loss)」。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一種基於深度學習模型的圖像相似性指標。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使用預訓練的深度學習模型（例如 AlexNet 或 VGG）來提取圖像的特徵表示，並計算這些</a:t>
            </a:r>
            <a:r>
              <a:rPr b="1" lang="zh-TW">
                <a:solidFill>
                  <a:srgbClr val="FF0000"/>
                </a:solidFill>
              </a:rPr>
              <a:t>特徵之間的差異</a:t>
            </a:r>
            <a:r>
              <a:rPr lang="zh-TW"/>
              <a:t>。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考慮了感知上的差異，能更好地捕捉人類主觀感知的圖像差異。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LPIPS 的</a:t>
            </a:r>
            <a:r>
              <a:rPr b="1" lang="zh-TW">
                <a:solidFill>
                  <a:srgbClr val="FF0000"/>
                </a:solidFill>
              </a:rPr>
              <a:t>分數越小</a:t>
            </a:r>
            <a:r>
              <a:rPr lang="zh-TW"/>
              <a:t>表示兩個圖像</a:t>
            </a:r>
            <a:r>
              <a:rPr b="1" lang="zh-TW">
                <a:solidFill>
                  <a:srgbClr val="FF0000"/>
                </a:solidFill>
              </a:rPr>
              <a:t>越相似</a:t>
            </a:r>
            <a:r>
              <a:rPr lang="zh-TW"/>
              <a:t>。</a:t>
            </a:r>
            <a:endParaRPr/>
          </a:p>
        </p:txBody>
      </p:sp>
      <p:sp>
        <p:nvSpPr>
          <p:cNvPr id="257" name="Google Shape;257;p9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64" name="Google Shape;264;p10"/>
          <p:cNvGraphicFramePr/>
          <p:nvPr/>
        </p:nvGraphicFramePr>
        <p:xfrm>
          <a:off x="2231438" y="618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{A3410E12-826C-4918-96CD-11D3D3D48652}</a:tableStyleId>
              </a:tblPr>
              <a:tblGrid>
                <a:gridCol w="813275"/>
                <a:gridCol w="1855000"/>
                <a:gridCol w="1855000"/>
                <a:gridCol w="1855000"/>
              </a:tblGrid>
              <a:tr h="41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同學A手寫體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源樣黑體_EL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</a:rPr>
                        <a:t>源樣明體_EL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MSE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solidFill>
                            <a:srgbClr val="FF0000"/>
                          </a:solidFill>
                        </a:rPr>
                        <a:t>0.15971</a:t>
                      </a:r>
                      <a:endParaRPr b="1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</a:rPr>
                        <a:t>0.25472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0.28015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SSIM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solidFill>
                            <a:srgbClr val="FF0000"/>
                          </a:solidFill>
                        </a:rPr>
                        <a:t>0.78551</a:t>
                      </a:r>
                      <a:endParaRPr b="1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</a:rPr>
                        <a:t>0.66654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0.63820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LPIPS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solidFill>
                            <a:srgbClr val="FF0000"/>
                          </a:solidFill>
                        </a:rPr>
                        <a:t>0.38494</a:t>
                      </a:r>
                      <a:endParaRPr b="1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</a:rPr>
                        <a:t>0.52781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/>
                        <a:t>0.54601</a:t>
                      </a:r>
                      <a:endParaRPr sz="18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5106" y="1156800"/>
            <a:ext cx="1786519" cy="1786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6975" y="1156800"/>
            <a:ext cx="1786519" cy="1786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906" y="1156800"/>
            <a:ext cx="1786519" cy="178651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 txBox="1"/>
          <p:nvPr/>
        </p:nvSpPr>
        <p:spPr>
          <a:xfrm>
            <a:off x="435056" y="3212063"/>
            <a:ext cx="1448775" cy="3809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CircleFont.ttf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272044" y="605344"/>
            <a:ext cx="1448775" cy="443925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6555919" y="2943319"/>
            <a:ext cx="423675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1" i="0" sz="3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6555919" y="3777994"/>
            <a:ext cx="423675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1" i="0" sz="3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4254900" y="3525769"/>
            <a:ext cx="711000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更接近1</a:t>
            </a:r>
            <a:endParaRPr b="1" i="0" sz="1100" u="sng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10"/>
          <p:cNvCxnSpPr>
            <a:stCxn id="269" idx="0"/>
            <a:endCxn id="267" idx="0"/>
          </p:cNvCxnSpPr>
          <p:nvPr/>
        </p:nvCxnSpPr>
        <p:spPr>
          <a:xfrm rot="5400000">
            <a:off x="2292132" y="-547556"/>
            <a:ext cx="551400" cy="2857200"/>
          </a:xfrm>
          <a:prstGeom prst="curvedConnector3">
            <a:avLst>
              <a:gd fmla="val -32385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p10"/>
          <p:cNvSpPr txBox="1"/>
          <p:nvPr/>
        </p:nvSpPr>
        <p:spPr>
          <a:xfrm>
            <a:off x="487922" y="423638"/>
            <a:ext cx="1078425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更相似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310755" y="3608963"/>
            <a:ext cx="1786500" cy="3809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（你的手寫字體）</a:t>
            </a:r>
            <a:endParaRPr b="1" i="0" sz="160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4665694" y="2958356"/>
            <a:ext cx="423675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1" i="0" sz="3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4665694" y="3793031"/>
            <a:ext cx="423675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1" i="0" sz="3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78867" y="1156823"/>
            <a:ext cx="1786500" cy="1786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86" name="Google Shape;286;p11"/>
          <p:cNvGraphicFramePr/>
          <p:nvPr/>
        </p:nvGraphicFramePr>
        <p:xfrm>
          <a:off x="644600" y="1049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{A3410E12-826C-4918-96CD-11D3D3D48652}</a:tableStyleId>
              </a:tblPr>
              <a:tblGrid>
                <a:gridCol w="1980100"/>
                <a:gridCol w="2918550"/>
                <a:gridCol w="2956125"/>
              </a:tblGrid>
              <a:tr h="46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深度學習模型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AlexNet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VGG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捕捉特徵</a:t>
                      </a:r>
                      <a:endParaRPr b="1" sz="2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zh-TW" sz="1400" u="none" cap="none" strike="noStrike"/>
                        <a:t>（結構、權重）</a:t>
                      </a:r>
                      <a:endParaRPr b="1" sz="14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邊緣、紋理</a:t>
                      </a:r>
                      <a:r>
                        <a:rPr b="1" lang="zh-TW" sz="2300" u="none" cap="none" strike="noStrike">
                          <a:solidFill>
                            <a:schemeClr val="dk1"/>
                          </a:solidFill>
                        </a:rPr>
                        <a:t>、顏色、形狀、類別等等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邊緣</a:t>
                      </a:r>
                      <a:r>
                        <a:rPr b="1" lang="zh-TW" sz="2300" u="none" cap="none" strike="noStrike">
                          <a:solidFill>
                            <a:schemeClr val="dk1"/>
                          </a:solidFill>
                        </a:rPr>
                        <a:t>、紋理、細節、形狀、外觀等等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用途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用於衡量圖像之間的相似性或距離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55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差異</a:t>
                      </a:r>
                      <a:endParaRPr b="1" sz="2300" u="none" cap="none" strike="noStrike"/>
                    </a:p>
                  </a:txBody>
                  <a:tcPr marT="68575" marB="68575" marR="68575" marL="68575">
                    <a:lnL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zh-TW" sz="2300" u="none" cap="none" strike="noStrike"/>
                        <a:t>與 AlexNet 不同，VGG 模型具有更深的網路結構，因此它可以提取</a:t>
                      </a:r>
                      <a:r>
                        <a:rPr b="1" lang="zh-TW" sz="2300" u="none" cap="none" strike="noStrike">
                          <a:solidFill>
                            <a:srgbClr val="FF0000"/>
                          </a:solidFill>
                        </a:rPr>
                        <a:t>更多層次</a:t>
                      </a:r>
                      <a:r>
                        <a:rPr b="1" lang="zh-TW" sz="2300" u="none" cap="none" strike="noStrike"/>
                        <a:t>的特徵。具體來說，VGG 的深層卷積層學習到的特徵更加</a:t>
                      </a:r>
                      <a:r>
                        <a:rPr b="1" lang="zh-TW" sz="2300" u="none" cap="none" strike="noStrike">
                          <a:solidFill>
                            <a:srgbClr val="FF0000"/>
                          </a:solidFill>
                        </a:rPr>
                        <a:t>抽象</a:t>
                      </a:r>
                      <a:endParaRPr b="1"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E7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 txBox="1"/>
          <p:nvPr>
            <p:ph type="ctrTitle"/>
          </p:nvPr>
        </p:nvSpPr>
        <p:spPr>
          <a:xfrm>
            <a:off x="715019" y="618701"/>
            <a:ext cx="6560550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圖像相似度 – 結論</a:t>
            </a:r>
            <a:endParaRPr/>
          </a:p>
        </p:txBody>
      </p:sp>
      <p:sp>
        <p:nvSpPr>
          <p:cNvPr id="292" name="Google Shape;292;p12"/>
          <p:cNvSpPr txBox="1"/>
          <p:nvPr>
            <p:ph idx="1" type="body"/>
          </p:nvPr>
        </p:nvSpPr>
        <p:spPr>
          <a:xfrm>
            <a:off x="931711" y="465552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 txBox="1"/>
          <p:nvPr>
            <p:ph idx="2" type="body"/>
          </p:nvPr>
        </p:nvSpPr>
        <p:spPr>
          <a:xfrm>
            <a:off x="715566" y="1213947"/>
            <a:ext cx="7577100" cy="30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☆推薦程度☆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No.1  LPIPS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No.2  SSIM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No.3  MSE</a:t>
            </a:r>
            <a:endParaRPr/>
          </a:p>
        </p:txBody>
      </p:sp>
      <p:sp>
        <p:nvSpPr>
          <p:cNvPr id="294" name="Google Shape;294;p12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301" name="Google Shape;301;p13"/>
          <p:cNvGraphicFramePr/>
          <p:nvPr/>
        </p:nvGraphicFramePr>
        <p:xfrm>
          <a:off x="713425" y="4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{A3410E12-826C-4918-96CD-11D3D3D48652}</a:tableStyleId>
              </a:tblPr>
              <a:tblGrid>
                <a:gridCol w="2934925"/>
                <a:gridCol w="4782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zh-TW" sz="1400" u="none" cap="none" strike="noStrike">
                          <a:solidFill>
                            <a:schemeClr val="dk1"/>
                          </a:solidFill>
                        </a:rPr>
                        <a:t>論文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zh-TW" sz="1400" u="none" cap="none" strike="noStrike">
                          <a:solidFill>
                            <a:schemeClr val="dk1"/>
                          </a:solidFill>
                        </a:rPr>
                        <a:t>量測工具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CF-Font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（浙江大學－CVPR2023）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L1、RMSE、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SSIM、LPIPS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、FID、User Study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VQ-Font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（武漢科技大學－ICCV2023）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SSIM、LPIPS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、RMSE、FID、User Study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FS-Font</a:t>
                      </a:r>
                      <a:b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（加利福尼亞大學－ CVPR2022）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L1、RMSE、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SSIM、LPIPS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、User Study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DG-Font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（華東師範大學－CVPR2021）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L1、RMSE、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SSIM、LPIPS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、FID、User Study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Font-RL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（北京大學－AAAI2021）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L1、IoU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DS-Font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（西安電子科技大學）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L1、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LPIPS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、RMSE、Acc、FID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XMP-Font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（北京大學－CVPR2022）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L1、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SSIM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、PSNR、FID、Stroke Loss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308" name="Google Shape;308;p14"/>
          <p:cNvGraphicFramePr/>
          <p:nvPr/>
        </p:nvGraphicFramePr>
        <p:xfrm>
          <a:off x="713425" y="12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{A3410E12-826C-4918-96CD-11D3D3D48652}</a:tableStyleId>
              </a:tblPr>
              <a:tblGrid>
                <a:gridCol w="2795050"/>
                <a:gridCol w="4922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38761D"/>
                          </a:solidFill>
                        </a:rPr>
                        <a:t>論文</a:t>
                      </a:r>
                      <a:endParaRPr b="1" sz="14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38761D"/>
                          </a:solidFill>
                        </a:rPr>
                        <a:t>量測工具</a:t>
                      </a:r>
                      <a:endParaRPr b="1" sz="14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Easy Font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（中國IBM）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MSE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、R ( Correlation coefficient)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Write Like You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（華南大學－CGF2021）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Content and Style Score、User Preference Study、</a:t>
                      </a:r>
                      <a:r>
                        <a:rPr lang="zh-TW" sz="1400" u="none" cap="none" strike="noStrike">
                          <a:solidFill>
                            <a:srgbClr val="4A86E8"/>
                          </a:solidFill>
                        </a:rPr>
                        <a:t>DTW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Zi2zi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無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筱媛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MSE</a:t>
                      </a:r>
                      <a:r>
                        <a:rPr lang="zh-TW" sz="1400" u="none" cap="none" strike="noStrike"/>
                        <a:t>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SSIM</a:t>
                      </a:r>
                      <a:r>
                        <a:rPr lang="zh-TW" sz="1400" u="none" cap="none" strike="noStrike"/>
                        <a:t>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LPIPS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MX-Font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（延世大學－ICCV2021）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Content and Style Score、User Preference Study、</a:t>
                      </a:r>
                      <a:r>
                        <a:rPr lang="zh-TW" sz="1400" u="none" cap="none" strike="noStrike">
                          <a:solidFill>
                            <a:srgbClr val="FF0000"/>
                          </a:solidFill>
                        </a:rPr>
                        <a:t>LPIPS</a:t>
                      </a:r>
                      <a:r>
                        <a:rPr lang="zh-TW" sz="1400" u="none" cap="none" strike="noStrike">
                          <a:solidFill>
                            <a:schemeClr val="dk1"/>
                          </a:solidFill>
                        </a:rPr>
                        <a:t>、FID(H-harmonic mean)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SDT - 花子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（華南大學－CVPR2023）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FID、Content and Style Score、User Preference Study、</a:t>
                      </a:r>
                      <a:r>
                        <a:rPr lang="zh-TW" sz="1400" u="none" cap="none" strike="noStrike">
                          <a:solidFill>
                            <a:srgbClr val="3C78D8"/>
                          </a:solidFill>
                        </a:rPr>
                        <a:t>DTW</a:t>
                      </a:r>
                      <a:endParaRPr sz="1400" u="none" cap="none" strike="noStrike">
                        <a:solidFill>
                          <a:srgbClr val="3C78D8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Deep Imitator</a:t>
                      </a:r>
                      <a:br>
                        <a:rPr lang="zh-TW" sz="1400" u="none" cap="none" strike="noStrike"/>
                      </a:br>
                      <a:r>
                        <a:rPr lang="zh-TW" sz="1400" u="none" cap="none" strike="noStrike"/>
                        <a:t>（中國模型識別實驗室）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Energy Function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FontRNN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（北京大學－CGF2019）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cap="none" strike="noStrike"/>
                        <a:t>Euclidean Distance、</a:t>
                      </a:r>
                      <a:r>
                        <a:rPr lang="zh-TW" sz="1400" u="none" cap="none" strike="noStrike">
                          <a:solidFill>
                            <a:srgbClr val="4A86E8"/>
                          </a:solidFill>
                        </a:rPr>
                        <a:t>DTW</a:t>
                      </a:r>
                      <a:r>
                        <a:rPr lang="zh-TW" sz="1400" u="none" cap="none" strike="noStrike"/>
                        <a:t>、style classification accuracy.、User Study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4" name="Google Shape;314;p15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操作說明</a:t>
            </a:r>
            <a:endParaRPr/>
          </a:p>
        </p:txBody>
      </p:sp>
      <p:sp>
        <p:nvSpPr>
          <p:cNvPr id="315" name="Google Shape;315;p15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 txBox="1"/>
          <p:nvPr>
            <p:ph type="ctrTitle"/>
          </p:nvPr>
        </p:nvSpPr>
        <p:spPr>
          <a:xfrm>
            <a:off x="715019" y="618701"/>
            <a:ext cx="6560550" cy="43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獲取其他字體圖形檔</a:t>
            </a:r>
            <a:endParaRPr/>
          </a:p>
        </p:txBody>
      </p:sp>
      <p:sp>
        <p:nvSpPr>
          <p:cNvPr id="322" name="Google Shape;322;p16"/>
          <p:cNvSpPr txBox="1"/>
          <p:nvPr>
            <p:ph idx="1" type="body"/>
          </p:nvPr>
        </p:nvSpPr>
        <p:spPr>
          <a:xfrm>
            <a:off x="931711" y="4712678"/>
            <a:ext cx="7777350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>
            <p:ph idx="2" type="body"/>
          </p:nvPr>
        </p:nvSpPr>
        <p:spPr>
          <a:xfrm>
            <a:off x="715575" y="1213950"/>
            <a:ext cx="73197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請將手寫字體圖檔名</a:t>
            </a:r>
            <a:r>
              <a:rPr lang="zh-TW">
                <a:solidFill>
                  <a:srgbClr val="FF0000"/>
                </a:solidFill>
              </a:rPr>
              <a:t>「</a:t>
            </a:r>
            <a:r>
              <a:rPr lang="zh-TW">
                <a:solidFill>
                  <a:srgbClr val="FF0000"/>
                </a:solidFill>
              </a:rPr>
              <a:t>秋</a:t>
            </a:r>
            <a:r>
              <a:rPr lang="zh-TW">
                <a:solidFill>
                  <a:srgbClr val="FF0000"/>
                </a:solidFill>
              </a:rPr>
              <a:t>」</a:t>
            </a:r>
            <a:r>
              <a:rPr lang="zh-TW"/>
              <a:t>(</a:t>
            </a:r>
            <a:r>
              <a:rPr lang="zh-TW"/>
              <a:t>Ｕ</a:t>
            </a:r>
            <a:r>
              <a:rPr lang="zh-TW"/>
              <a:t>+</a:t>
            </a:r>
            <a:r>
              <a:rPr lang="zh-TW"/>
              <a:t>79CB</a:t>
            </a:r>
            <a:r>
              <a:rPr lang="zh-TW"/>
              <a:t>)改為</a:t>
            </a:r>
            <a:r>
              <a:rPr lang="zh-TW" u="sng"/>
              <a:t>自己的學號</a:t>
            </a:r>
            <a:r>
              <a:rPr lang="zh-TW"/>
              <a:t>交至google雲端資料夾</a:t>
            </a:r>
            <a:endParaRPr/>
          </a:p>
          <a:p>
            <a:pPr indent="-342900" lvl="1" marL="9144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https://drive.google.com/drive/folders/1fnne5G31725MxpTPT2OaBNRHSXx6Kzyx?usp=sharing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</p:txBody>
      </p:sp>
      <p:sp>
        <p:nvSpPr>
          <p:cNvPr id="324" name="Google Shape;324;p16"/>
          <p:cNvSpPr txBox="1"/>
          <p:nvPr>
            <p:ph idx="12" type="sldNum"/>
          </p:nvPr>
        </p:nvSpPr>
        <p:spPr>
          <a:xfrm>
            <a:off x="508129" y="4647128"/>
            <a:ext cx="423675" cy="176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7027216b3_0_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專案下載</a:t>
            </a:r>
            <a:endParaRPr/>
          </a:p>
        </p:txBody>
      </p:sp>
      <p:sp>
        <p:nvSpPr>
          <p:cNvPr id="330" name="Google Shape;330;g3e7027216b3_0_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7027216b3_0_0"/>
          <p:cNvSpPr txBox="1"/>
          <p:nvPr>
            <p:ph idx="2" type="body"/>
          </p:nvPr>
        </p:nvSpPr>
        <p:spPr>
          <a:xfrm>
            <a:off x="499150" y="1224800"/>
            <a:ext cx="8375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開啟 </a:t>
            </a:r>
            <a:r>
              <a:rPr lang="zh-TW" sz="1800"/>
              <a:t>Anaconda Prompt</a:t>
            </a:r>
            <a:endParaRPr sz="1800"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啟動虛擬環境：</a:t>
            </a:r>
            <a:r>
              <a:rPr lang="zh-TW" sz="17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conda activate fontenv</a:t>
            </a:r>
            <a:endParaRPr sz="17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下載專案：</a:t>
            </a:r>
            <a:r>
              <a:rPr lang="zh-TW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git clone </a:t>
            </a:r>
            <a:r>
              <a:rPr lang="zh-TW" sz="1600" u="sng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https://github.com/lctung/compare-similarity.git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或者 </a:t>
            </a:r>
            <a:r>
              <a:rPr lang="zh-TW" sz="1700" u="sng">
                <a:solidFill>
                  <a:schemeClr val="hlink"/>
                </a:solidFill>
                <a:hlinkClick r:id="rId4"/>
              </a:rPr>
              <a:t>https://github.com/lctung/compare-similarity.git</a:t>
            </a:r>
            <a:r>
              <a:rPr lang="zh-TW" sz="1700"/>
              <a:t> </a:t>
            </a:r>
            <a:r>
              <a:rPr lang="zh-TW"/>
              <a:t>進入連結下載</a:t>
            </a:r>
            <a:endParaRPr sz="2300"/>
          </a:p>
        </p:txBody>
      </p:sp>
      <p:pic>
        <p:nvPicPr>
          <p:cNvPr id="332" name="Google Shape;332;g3e7027216b3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600" y="3381000"/>
            <a:ext cx="8734799" cy="7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7027216b3_0_9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專案下載</a:t>
            </a:r>
            <a:endParaRPr/>
          </a:p>
        </p:txBody>
      </p:sp>
      <p:sp>
        <p:nvSpPr>
          <p:cNvPr id="338" name="Google Shape;338;g3e7027216b3_0_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e7027216b3_0_9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移動至專案資料夾：</a:t>
            </a:r>
            <a:r>
              <a:rPr lang="zh-TW" sz="17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cd compare-similarity</a:t>
            </a:r>
            <a:r>
              <a:rPr lang="zh-TW"/>
              <a:t> </a:t>
            </a:r>
            <a:endParaRPr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安裝套件：</a:t>
            </a:r>
            <a:r>
              <a:rPr lang="zh-TW" sz="17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pip install -r requirements.txt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40" name="Google Shape;340;g3e7027216b3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50" y="2835125"/>
            <a:ext cx="8804350" cy="7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7027216b3_0_17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獲取資料</a:t>
            </a:r>
            <a:endParaRPr/>
          </a:p>
        </p:txBody>
      </p:sp>
      <p:sp>
        <p:nvSpPr>
          <p:cNvPr id="346" name="Google Shape;346;g3e7027216b3_0_1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e7027216b3_0_17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下載所有同學的手寫字檔案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將</a:t>
            </a:r>
            <a:r>
              <a:rPr b="1" lang="zh-TW"/>
              <a:t>自己</a:t>
            </a:r>
            <a:r>
              <a:rPr lang="zh-TW"/>
              <a:t>和</a:t>
            </a:r>
            <a:r>
              <a:rPr b="1" lang="zh-TW"/>
              <a:t>同學</a:t>
            </a:r>
            <a:r>
              <a:rPr lang="zh-TW"/>
              <a:t>的「秋」放在 📂79CB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附圖為去年範例「陳」</a:t>
            </a:r>
            <a:endParaRPr/>
          </a:p>
        </p:txBody>
      </p:sp>
      <p:pic>
        <p:nvPicPr>
          <p:cNvPr id="348" name="Google Shape;348;g3e7027216b3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656" y="2422650"/>
            <a:ext cx="5231698" cy="25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獲取資料</a:t>
            </a:r>
            <a:endParaRPr/>
          </a:p>
        </p:txBody>
      </p:sp>
      <p:sp>
        <p:nvSpPr>
          <p:cNvPr id="354" name="Google Shape;354;p18"/>
          <p:cNvSpPr txBox="1"/>
          <p:nvPr>
            <p:ph idx="1" type="body"/>
          </p:nvPr>
        </p:nvSpPr>
        <p:spPr>
          <a:xfrm>
            <a:off x="931711" y="471267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 txBox="1"/>
          <p:nvPr>
            <p:ph idx="2" type="body"/>
          </p:nvPr>
        </p:nvSpPr>
        <p:spPr>
          <a:xfrm>
            <a:off x="715016" y="1221722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7465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300"/>
              <a:buChar char="●"/>
            </a:pPr>
            <a:r>
              <a:rPr lang="zh-TW" sz="2300"/>
              <a:t>另外，</a:t>
            </a:r>
            <a:r>
              <a:rPr lang="zh-TW" sz="2300"/>
              <a:t>將</a:t>
            </a:r>
            <a:r>
              <a:rPr lang="zh-TW" sz="2300"/>
              <a:t>自己</a:t>
            </a:r>
            <a:r>
              <a:rPr lang="zh-TW" sz="2300"/>
              <a:t>的手寫字資料放在資料夾 </a:t>
            </a:r>
            <a:r>
              <a:rPr lang="zh-TW" sz="2300"/>
              <a:t>📂</a:t>
            </a:r>
            <a:r>
              <a:rPr lang="zh-TW" sz="2300"/>
              <a:t>mine</a:t>
            </a:r>
            <a:endParaRPr sz="2300"/>
          </a:p>
        </p:txBody>
      </p:sp>
      <p:sp>
        <p:nvSpPr>
          <p:cNvPr id="356" name="Google Shape;356;p1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57" name="Google Shape;35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100" y="1893975"/>
            <a:ext cx="5857799" cy="22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程式碼修改</a:t>
            </a:r>
            <a:endParaRPr/>
          </a:p>
        </p:txBody>
      </p:sp>
      <p:sp>
        <p:nvSpPr>
          <p:cNvPr id="363" name="Google Shape;363;p21"/>
          <p:cNvSpPr txBox="1"/>
          <p:nvPr>
            <p:ph idx="1" type="body"/>
          </p:nvPr>
        </p:nvSpPr>
        <p:spPr>
          <a:xfrm>
            <a:off x="931711" y="471267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4" name="Google Shape;364;p21"/>
          <p:cNvSpPr txBox="1"/>
          <p:nvPr>
            <p:ph idx="2" type="body"/>
          </p:nvPr>
        </p:nvSpPr>
        <p:spPr>
          <a:xfrm>
            <a:off x="715016" y="1221722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將 c1_excel.py 裡的路徑改為自己檔案的路徑（第86</a:t>
            </a:r>
            <a:r>
              <a:rPr lang="zh-TW"/>
              <a:t>、87行 )</a:t>
            </a:r>
            <a:endParaRPr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執行 </a:t>
            </a:r>
            <a:r>
              <a:rPr lang="zh-TW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python c1_excel.py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生成那個字比較的 excel 檔</a:t>
            </a:r>
            <a:endParaRPr/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預設檔名: </a:t>
            </a:r>
            <a:r>
              <a:rPr lang="zh-TW"/>
              <a:t>results.csv</a:t>
            </a:r>
            <a:endParaRPr/>
          </a:p>
        </p:txBody>
      </p:sp>
      <p:sp>
        <p:nvSpPr>
          <p:cNvPr id="365" name="Google Shape;365;p2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66" name="Google Shape;3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2601" y="417974"/>
            <a:ext cx="5932025" cy="63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1"/>
          <p:cNvPicPr preferRelativeResize="0"/>
          <p:nvPr/>
        </p:nvPicPr>
        <p:blipFill rotWithShape="1">
          <a:blip r:embed="rId4">
            <a:alphaModFix/>
          </a:blip>
          <a:srcRect b="0" l="0" r="0" t="36082"/>
          <a:stretch/>
        </p:blipFill>
        <p:spPr>
          <a:xfrm>
            <a:off x="4658800" y="1768750"/>
            <a:ext cx="3566450" cy="278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7027216b3_0_28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更新作業網站</a:t>
            </a:r>
            <a:endParaRPr/>
          </a:p>
        </p:txBody>
      </p:sp>
      <p:sp>
        <p:nvSpPr>
          <p:cNvPr id="373" name="Google Shape;373;g3e7027216b3_0_2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e7027216b3_0_28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請</a:t>
            </a:r>
            <a:r>
              <a:rPr lang="zh-TW" sz="1800"/>
              <a:t>參考</a:t>
            </a:r>
            <a:r>
              <a:rPr lang="zh-TW" sz="1800"/>
              <a:t> </a:t>
            </a:r>
            <a:r>
              <a:rPr lang="zh-TW" sz="1800" u="sng">
                <a:solidFill>
                  <a:schemeClr val="hlink"/>
                </a:solidFill>
                <a:hlinkClick r:id="rId3"/>
              </a:rPr>
              <a:t>https://github.com/lctung/ai2026s/tree/main/hw04</a:t>
            </a:r>
            <a:r>
              <a:rPr lang="zh-TW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複製或下載 hover.html ，放在 </a:t>
            </a:r>
            <a:r>
              <a:rPr lang="zh-TW" sz="1800"/>
              <a:t>ai2026s/hw04</a:t>
            </a:r>
            <a:r>
              <a:rPr lang="zh-TW" sz="1800"/>
              <a:t> </a:t>
            </a:r>
            <a:endParaRPr sz="1800"/>
          </a:p>
        </p:txBody>
      </p:sp>
      <p:pic>
        <p:nvPicPr>
          <p:cNvPr id="375" name="Google Shape;375;g3e7027216b3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638" y="1982675"/>
            <a:ext cx="4612977" cy="274847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e7027216b3_0_28"/>
          <p:cNvSpPr/>
          <p:nvPr/>
        </p:nvSpPr>
        <p:spPr>
          <a:xfrm>
            <a:off x="2219353" y="3700450"/>
            <a:ext cx="1833900" cy="330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7027216b3_0_36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更新作業網站</a:t>
            </a:r>
            <a:endParaRPr/>
          </a:p>
        </p:txBody>
      </p:sp>
      <p:sp>
        <p:nvSpPr>
          <p:cNvPr id="382" name="Google Shape;382;g3e7027216b3_0_3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e7027216b3_0_36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將 c1_excel 輸出的 results.csv 複製到 ai2026s/hw04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將放置「秋」字的📂79CB 改為📂img，放到 ai2026s/hw04</a:t>
            </a:r>
            <a:endParaRPr sz="1800"/>
          </a:p>
        </p:txBody>
      </p:sp>
      <p:pic>
        <p:nvPicPr>
          <p:cNvPr id="384" name="Google Shape;384;g3e7027216b3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126" y="1985451"/>
            <a:ext cx="6279752" cy="299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7027216b3_0_46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更新作業網站</a:t>
            </a:r>
            <a:endParaRPr/>
          </a:p>
        </p:txBody>
      </p:sp>
      <p:sp>
        <p:nvSpPr>
          <p:cNvPr id="390" name="Google Shape;390;g3e7027216b3_0_4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7027216b3_0_46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在 </a:t>
            </a:r>
            <a:r>
              <a:rPr lang="zh-TW" sz="1800"/>
              <a:t>medium.html 和 strong.html 中設定自己字的檔名</a:t>
            </a:r>
            <a:endParaRPr sz="18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上傳更新好的 ai2026s 至 Github，完成本次作業</a:t>
            </a:r>
            <a:endParaRPr sz="1800"/>
          </a:p>
        </p:txBody>
      </p:sp>
      <p:pic>
        <p:nvPicPr>
          <p:cNvPr id="392" name="Google Shape;392;g3e7027216b3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700" y="1703650"/>
            <a:ext cx="3954600" cy="8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程式碼修改</a:t>
            </a:r>
            <a:endParaRPr/>
          </a:p>
        </p:txBody>
      </p:sp>
      <p:sp>
        <p:nvSpPr>
          <p:cNvPr id="398" name="Google Shape;398;p22"/>
          <p:cNvSpPr txBox="1"/>
          <p:nvPr>
            <p:ph idx="1" type="body"/>
          </p:nvPr>
        </p:nvSpPr>
        <p:spPr>
          <a:xfrm>
            <a:off x="931711" y="471267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9" name="Google Shape;399;p22"/>
          <p:cNvSpPr txBox="1"/>
          <p:nvPr>
            <p:ph idx="2" type="body"/>
          </p:nvPr>
        </p:nvSpPr>
        <p:spPr>
          <a:xfrm>
            <a:off x="715016" y="1260772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7465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300"/>
              <a:buChar char="●"/>
            </a:pPr>
            <a:r>
              <a:rPr lang="zh-TW" sz="2300"/>
              <a:t>將 c2_plot 裡的路徑改為自己檔案的路徑（第7行）</a:t>
            </a:r>
            <a:endParaRPr sz="2300"/>
          </a:p>
          <a:p>
            <a:pPr indent="-3746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zh-TW" sz="2300"/>
              <a:t>執行 </a:t>
            </a:r>
            <a:r>
              <a:rPr lang="zh-TW" sz="1800">
                <a:solidFill>
                  <a:srgbClr val="FF0000"/>
                </a:solidFill>
                <a:highlight>
                  <a:srgbClr val="EFEFEF"/>
                </a:highlight>
              </a:rPr>
              <a:t>python c2_plot.py</a:t>
            </a:r>
            <a:endParaRPr sz="1800">
              <a:solidFill>
                <a:srgbClr val="FF0000"/>
              </a:solidFill>
            </a:endParaRPr>
          </a:p>
          <a:p>
            <a:pPr indent="-3746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zh-TW" sz="2300"/>
              <a:t>生成比較圖</a:t>
            </a:r>
            <a:endParaRPr sz="2300"/>
          </a:p>
        </p:txBody>
      </p:sp>
      <p:sp>
        <p:nvSpPr>
          <p:cNvPr id="400" name="Google Shape;400;p2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01" name="Google Shape;4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295" y="449245"/>
            <a:ext cx="3108725" cy="5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2" title="resul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4875" y="1734625"/>
            <a:ext cx="4810301" cy="333292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2"/>
          <p:cNvSpPr txBox="1"/>
          <p:nvPr/>
        </p:nvSpPr>
        <p:spPr>
          <a:xfrm>
            <a:off x="0" y="0"/>
            <a:ext cx="648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17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/>
              </a:rPr>
              <a:t>https://github.com/lctung/compare-similarity.git</a:t>
            </a:r>
            <a:r>
              <a:rPr lang="zh-TW" sz="1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4eba6ef8b_0_8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圖靈測試</a:t>
            </a:r>
            <a:endParaRPr/>
          </a:p>
        </p:txBody>
      </p:sp>
      <p:sp>
        <p:nvSpPr>
          <p:cNvPr id="409" name="Google Shape;409;g3c4eba6ef8b_0_8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410" name="Google Shape;410;g3c4eba6ef8b_0_8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4eba6ef8b_0_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圖靈測試</a:t>
            </a:r>
            <a:endParaRPr/>
          </a:p>
        </p:txBody>
      </p:sp>
      <p:sp>
        <p:nvSpPr>
          <p:cNvPr id="416" name="Google Shape;416;g3c4eba6ef8b_0_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c4eba6ef8b_0_0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亦稱為「模仿遊戲」（imitation game），這個實驗的流程是由一位詢問者寫下自己的問題，隨後將問題傳送給在另一個房間中的一個人與一台機器，由詢問者根據他們所作的回答來判斷哪一個是真人，哪一個是機器，所有測試者都會被單獨分開，對話以純文字形式透過螢幕傳輸。</a:t>
            </a:r>
            <a:endParaRPr sz="18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1500" u="sng">
                <a:solidFill>
                  <a:schemeClr val="hlink"/>
                </a:solidFill>
                <a:hlinkClick r:id="rId3"/>
              </a:rPr>
              <a:t>https://en.wikipedia.org/wiki/Turing_test</a:t>
            </a:r>
            <a:r>
              <a:rPr lang="zh-TW" sz="1500"/>
              <a:t> </a:t>
            </a:r>
            <a:endParaRPr sz="15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1500" u="sng">
                <a:solidFill>
                  <a:schemeClr val="hlink"/>
                </a:solidFill>
                <a:hlinkClick r:id="rId4"/>
              </a:rPr>
              <a:t>https://www.wict.pku.edu.cn/zlian/easyfont/index.htm</a:t>
            </a:r>
            <a:endParaRPr sz="15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g3c4eba6ef8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3962" y="2668675"/>
            <a:ext cx="2381263" cy="18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聯絡資訊</a:t>
            </a:r>
            <a:endParaRPr/>
          </a:p>
        </p:txBody>
      </p:sp>
      <p:sp>
        <p:nvSpPr>
          <p:cNvPr id="424" name="Google Shape;424;p3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425" name="Google Shape;425;p3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26" name="Google Shape;426;p3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d3a2b9f5f_1_59"/>
          <p:cNvSpPr txBox="1"/>
          <p:nvPr>
            <p:ph type="ctrTitle"/>
          </p:nvPr>
        </p:nvSpPr>
        <p:spPr>
          <a:xfrm>
            <a:off x="536264" y="464026"/>
            <a:ext cx="4920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433" name="Google Shape;433;g3bd3a2b9f5f_1_59"/>
          <p:cNvSpPr txBox="1"/>
          <p:nvPr>
            <p:ph idx="1" type="body"/>
          </p:nvPr>
        </p:nvSpPr>
        <p:spPr>
          <a:xfrm>
            <a:off x="964958" y="4621850"/>
            <a:ext cx="7871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434" name="Google Shape;434;g3bd3a2b9f5f_1_59"/>
          <p:cNvSpPr txBox="1"/>
          <p:nvPr>
            <p:ph idx="12" type="sldNum"/>
          </p:nvPr>
        </p:nvSpPr>
        <p:spPr>
          <a:xfrm>
            <a:off x="536276" y="4615550"/>
            <a:ext cx="4287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5" name="Google Shape;435;g3bd3a2b9f5f_1_59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 Email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lang="zh-TW" sz="1600" u="sng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t114598033@ntut.org.tw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Email 標題(主旨)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lang="zh-TW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：</a:t>
            </a: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 sz="1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