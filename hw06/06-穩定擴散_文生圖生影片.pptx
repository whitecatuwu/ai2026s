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4" r:id="rId6"/>
    <p:sldMasterId id="2147483664" r:id="rId7"/>
    <p:sldMasterId id="2147483668" r:id="rId8"/>
    <p:sldMasterId id="2147483672" r:id="rId9"/>
    <p:sldMasterId id="2147483680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</p:sldIdLst>
  <p:sldSz cy="6858000" cx="12192000"/>
  <p:notesSz cx="6858000" cy="9144000"/>
  <p:embeddedFontLst>
    <p:embeddedFont>
      <p:font typeface="Mulish ExtraLight"/>
      <p:regular r:id="rId54"/>
      <p:bold r:id="rId55"/>
      <p:italic r:id="rId56"/>
      <p:boldItalic r:id="rId57"/>
    </p:embeddedFont>
    <p:embeddedFont>
      <p:font typeface="Mulish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59">
          <p15:clr>
            <a:srgbClr val="A4A3A4"/>
          </p15:clr>
        </p15:guide>
        <p15:guide id="2" pos="597">
          <p15:clr>
            <a:srgbClr val="A4A3A4"/>
          </p15:clr>
        </p15:guide>
        <p15:guide id="3" pos="6947">
          <p15:clr>
            <a:srgbClr val="A4A3A4"/>
          </p15:clr>
        </p15:guide>
        <p15:guide id="4" orient="horz" pos="3589">
          <p15:clr>
            <a:srgbClr val="A4A3A4"/>
          </p15:clr>
        </p15:guide>
      </p15:sldGuideLst>
    </p:ext>
    <p:ext uri="GoogleSlidesCustomDataVersion2">
      <go:slidesCustomData xmlns:go="http://customooxmlschemas.google.com/" r:id="rId62" roundtripDataSignature="AMtx7miYOlRHcu7azwyabnCnlaeCzrun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9" orient="horz"/>
        <p:guide pos="597"/>
        <p:guide pos="6947"/>
        <p:guide pos="358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9.xml"/><Relationship Id="rId42" Type="http://schemas.openxmlformats.org/officeDocument/2006/relationships/slide" Target="slides/slide31.xml"/><Relationship Id="rId41" Type="http://schemas.openxmlformats.org/officeDocument/2006/relationships/slide" Target="slides/slide30.xml"/><Relationship Id="rId44" Type="http://schemas.openxmlformats.org/officeDocument/2006/relationships/slide" Target="slides/slide33.xml"/><Relationship Id="rId43" Type="http://schemas.openxmlformats.org/officeDocument/2006/relationships/slide" Target="slides/slide32.xml"/><Relationship Id="rId46" Type="http://schemas.openxmlformats.org/officeDocument/2006/relationships/slide" Target="slides/slide35.xml"/><Relationship Id="rId45" Type="http://schemas.openxmlformats.org/officeDocument/2006/relationships/slide" Target="slides/slide34.xml"/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37.xml"/><Relationship Id="rId47" Type="http://schemas.openxmlformats.org/officeDocument/2006/relationships/slide" Target="slides/slide36.xml"/><Relationship Id="rId49" Type="http://schemas.openxmlformats.org/officeDocument/2006/relationships/slide" Target="slides/slide3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62" Type="http://customschemas.google.com/relationships/presentationmetadata" Target="metadata"/><Relationship Id="rId61" Type="http://schemas.openxmlformats.org/officeDocument/2006/relationships/font" Target="fonts/Mulish-boldItalic.fntdata"/><Relationship Id="rId20" Type="http://schemas.openxmlformats.org/officeDocument/2006/relationships/slide" Target="slides/slide9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60" Type="http://schemas.openxmlformats.org/officeDocument/2006/relationships/font" Target="fonts/Mulish-italic.fntdata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9" Type="http://schemas.openxmlformats.org/officeDocument/2006/relationships/slide" Target="slides/slide18.xml"/><Relationship Id="rId51" Type="http://schemas.openxmlformats.org/officeDocument/2006/relationships/slide" Target="slides/slide40.xml"/><Relationship Id="rId50" Type="http://schemas.openxmlformats.org/officeDocument/2006/relationships/slide" Target="slides/slide39.xml"/><Relationship Id="rId53" Type="http://schemas.openxmlformats.org/officeDocument/2006/relationships/slide" Target="slides/slide42.xml"/><Relationship Id="rId52" Type="http://schemas.openxmlformats.org/officeDocument/2006/relationships/slide" Target="slides/slide41.xml"/><Relationship Id="rId11" Type="http://schemas.openxmlformats.org/officeDocument/2006/relationships/notesMaster" Target="notesMasters/notesMaster1.xml"/><Relationship Id="rId55" Type="http://schemas.openxmlformats.org/officeDocument/2006/relationships/font" Target="fonts/MulishExtraLight-bold.fntdata"/><Relationship Id="rId10" Type="http://schemas.openxmlformats.org/officeDocument/2006/relationships/slideMaster" Target="slideMasters/slideMaster7.xml"/><Relationship Id="rId54" Type="http://schemas.openxmlformats.org/officeDocument/2006/relationships/font" Target="fonts/MulishExtraLight-regular.fntdata"/><Relationship Id="rId13" Type="http://schemas.openxmlformats.org/officeDocument/2006/relationships/slide" Target="slides/slide2.xml"/><Relationship Id="rId57" Type="http://schemas.openxmlformats.org/officeDocument/2006/relationships/font" Target="fonts/MulishExtraLight-boldItalic.fntdata"/><Relationship Id="rId12" Type="http://schemas.openxmlformats.org/officeDocument/2006/relationships/slide" Target="slides/slide1.xml"/><Relationship Id="rId56" Type="http://schemas.openxmlformats.org/officeDocument/2006/relationships/font" Target="fonts/MulishExtraLight-italic.fntdata"/><Relationship Id="rId15" Type="http://schemas.openxmlformats.org/officeDocument/2006/relationships/slide" Target="slides/slide4.xml"/><Relationship Id="rId59" Type="http://schemas.openxmlformats.org/officeDocument/2006/relationships/font" Target="fonts/Mulish-bold.fntdata"/><Relationship Id="rId14" Type="http://schemas.openxmlformats.org/officeDocument/2006/relationships/slide" Target="slides/slide3.xml"/><Relationship Id="rId58" Type="http://schemas.openxmlformats.org/officeDocument/2006/relationships/font" Target="fonts/Mulish-regular.fntdata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9" Type="http://schemas.openxmlformats.org/officeDocument/2006/relationships/slide" Target="slides/slide8.xml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0c2867df0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30c2867df0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1f061ed9b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51f061ed9b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1f061ed9b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51f061ed9b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1f061ed9b_0_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51f061ed9b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1f061ed9b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51f061ed9b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1f061ed9b_0_1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51f061ed9b_0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8e9e31da2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38e9e31da2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38e9e31da2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38e9e31da2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8e9e31da2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38e9e31da2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1f061ed9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g351f061ed9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b10e61a34_8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g3eb10e61a34_8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b10e61a34_8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eb10e61a34_8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eb10e61a34_8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1f061ed9b_0_3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g351f061ed9b_0_3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1f061ed9b_0_4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51f061ed9b_0_4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1f061ed9b_0_4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g351f061ed9b_0_4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b10e61a34_8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g3eb10e61a34_8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b10e61a34_8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g3eb10e61a34_8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b10e61a34_8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g3eb10e61a34_8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51f061ed9b_0_5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51f061ed9b_0_5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b10e61a34_8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g3eb10e61a34_8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ae45797a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g3bae45797ab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5807f43829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5807f43829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5807f4382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5807f43829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ae45797ab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bae45797ab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b10e61a34_1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eb10e61a34_1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eb10e61a34_1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5ae2d2cb30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5ae2d2cb30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5689215a1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e5689215a1_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"0" :"spring day, floral skirt, wind, hair accessories, smile",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"10" :"spring day, floral skirt, wind, hair accessories, smile",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"20" :"spring day, floral skirt, wind, hair accessories, smile",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"30" :"summer day, short-sleeved dress, straw hat",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"40" :"summer day, short-sleeved dress, straw hat",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"50" :"summer day, short-sleeved dress, straw hat",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"60" :"fall day, sweater, slim jeans, wind, fallen leaves",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"70" :"fall day, sweater, slim jeans, wind, fallen leaves",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"80" :"fall day, sweater, slim jeans, wind, fallen leaves",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"90" :"winter, down jacket, woolen hat, ear protection gloves, snowflakes",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"100" :"winter, down jacket, woolen hat, ear protection gloves, snowflakes",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"110" :"winter, down jacket, woolen hat, ear protection gloves, snowflakes"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e5689215a1_6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5ae2d2cb30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g35ae2d2cb30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ae45797ab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g3bae45797ab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89b14a99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e89b14a99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e89b14a99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51f061ed9b_0_6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g351f061ed9b_0_6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e89b14a99f_1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e89b14a99f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e89b14a99f_1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e89b14a99f_1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e89b14a99f_1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e89b14a99f_1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5689215a1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8" name="Google Shape;498;g3e5689215a1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e5689215a1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e5689215a1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e5689215a1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e5689215a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e5689215a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e5689215a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e5689215a1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e5689215a1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e5689215a1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e5689215a1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e5689215a1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e5689215a1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51f061ed9b_0_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g351f061ed9b_0_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51f061ed9b_0_2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g351f061ed9b_0_2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51f061ed9b_0_2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51f061ed9b_0_2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eb10e61a34_1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g3eb10e61a34_1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eb10e61a34_1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頁">
  <p:cSld name="空白頁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英標題">
  <p:cSld name="章節1_中英標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14"/>
          <p:cNvSpPr txBox="1"/>
          <p:nvPr>
            <p:ph idx="1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2" type="body"/>
          </p:nvPr>
        </p:nvSpPr>
        <p:spPr>
          <a:xfrm>
            <a:off x="1842554" y="6207371"/>
            <a:ext cx="9762763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文標題">
  <p:cSld name="章節1_中文標題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idx="1" type="body"/>
          </p:nvPr>
        </p:nvSpPr>
        <p:spPr>
          <a:xfrm>
            <a:off x="1842554" y="6207371"/>
            <a:ext cx="9762763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" name="Google Shape;23;p19"/>
          <p:cNvSpPr txBox="1"/>
          <p:nvPr>
            <p:ph type="ctrTitle"/>
          </p:nvPr>
        </p:nvSpPr>
        <p:spPr>
          <a:xfrm>
            <a:off x="966788" y="2241418"/>
            <a:ext cx="635648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英文標題">
  <p:cSld name="章節1_英文標題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1842554" y="6207371"/>
            <a:ext cx="9762763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" name="Google Shape;27;p20"/>
          <p:cNvSpPr txBox="1"/>
          <p:nvPr>
            <p:ph idx="2" type="body"/>
          </p:nvPr>
        </p:nvSpPr>
        <p:spPr>
          <a:xfrm>
            <a:off x="967109" y="2246089"/>
            <a:ext cx="6356480" cy="25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954088" y="1618596"/>
            <a:ext cx="10102795" cy="4089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ctrTitle"/>
          </p:nvPr>
        </p:nvSpPr>
        <p:spPr>
          <a:xfrm>
            <a:off x="953359" y="728685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954088" y="1578855"/>
            <a:ext cx="10102795" cy="413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/>
          <p:nvPr>
            <p:ph idx="2" type="pic"/>
          </p:nvPr>
        </p:nvSpPr>
        <p:spPr>
          <a:xfrm>
            <a:off x="0" y="0"/>
            <a:ext cx="1200351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/>
          <p:nvPr>
            <p:ph idx="2" type="pic"/>
          </p:nvPr>
        </p:nvSpPr>
        <p:spPr>
          <a:xfrm>
            <a:off x="0" y="1189317"/>
            <a:ext cx="12002400" cy="5668682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4"/>
          <p:cNvSpPr/>
          <p:nvPr/>
        </p:nvSpPr>
        <p:spPr>
          <a:xfrm>
            <a:off x="1" y="0"/>
            <a:ext cx="11997202" cy="118931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4"/>
          <p:cNvSpPr txBox="1"/>
          <p:nvPr>
            <p:ph type="ctrTitle"/>
          </p:nvPr>
        </p:nvSpPr>
        <p:spPr>
          <a:xfrm>
            <a:off x="953359" y="359005"/>
            <a:ext cx="10455376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icrosoft JhengHei"/>
              <a:buNone/>
              <a:defRPr b="1" i="0" sz="36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/>
          <p:nvPr>
            <p:ph idx="2" type="pic"/>
          </p:nvPr>
        </p:nvSpPr>
        <p:spPr>
          <a:xfrm>
            <a:off x="0" y="1189317"/>
            <a:ext cx="12002400" cy="5668682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25"/>
          <p:cNvSpPr/>
          <p:nvPr/>
        </p:nvSpPr>
        <p:spPr>
          <a:xfrm>
            <a:off x="1" y="0"/>
            <a:ext cx="11997202" cy="118931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5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5" name="Google Shape;55;p25"/>
          <p:cNvSpPr txBox="1"/>
          <p:nvPr>
            <p:ph type="ctrTitle"/>
          </p:nvPr>
        </p:nvSpPr>
        <p:spPr>
          <a:xfrm>
            <a:off x="953359" y="360637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/>
          <p:nvPr>
            <p:ph type="ctrTitle"/>
          </p:nvPr>
        </p:nvSpPr>
        <p:spPr>
          <a:xfrm>
            <a:off x="953359" y="728685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26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26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7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8e9e31da2_0_14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5" name="Google Shape;65;g338e9e31da2_0_142"/>
          <p:cNvSpPr txBox="1"/>
          <p:nvPr>
            <p:ph type="ctrTitle"/>
          </p:nvPr>
        </p:nvSpPr>
        <p:spPr>
          <a:xfrm>
            <a:off x="966788" y="2241418"/>
            <a:ext cx="63564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g338e9e31da2_0_142"/>
          <p:cNvSpPr txBox="1"/>
          <p:nvPr>
            <p:ph idx="1" type="body"/>
          </p:nvPr>
        </p:nvSpPr>
        <p:spPr>
          <a:xfrm>
            <a:off x="966788" y="808035"/>
            <a:ext cx="37482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338e9e31da2_0_142"/>
          <p:cNvSpPr txBox="1"/>
          <p:nvPr>
            <p:ph idx="2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英標題">
  <p:cSld name="首頁_中英標題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0c2867df0_0_34"/>
          <p:cNvSpPr txBox="1"/>
          <p:nvPr>
            <p:ph type="ctrTitle"/>
          </p:nvPr>
        </p:nvSpPr>
        <p:spPr>
          <a:xfrm>
            <a:off x="967109" y="2274495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g330c2867df0_0_34"/>
          <p:cNvSpPr txBox="1"/>
          <p:nvPr>
            <p:ph idx="1" type="body"/>
          </p:nvPr>
        </p:nvSpPr>
        <p:spPr>
          <a:xfrm>
            <a:off x="967109" y="3007096"/>
            <a:ext cx="101913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g330c2867df0_0_34"/>
          <p:cNvSpPr txBox="1"/>
          <p:nvPr>
            <p:ph idx="2" type="body"/>
          </p:nvPr>
        </p:nvSpPr>
        <p:spPr>
          <a:xfrm>
            <a:off x="967108" y="4572000"/>
            <a:ext cx="6650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g330c2867df0_0_34"/>
          <p:cNvSpPr txBox="1"/>
          <p:nvPr>
            <p:ph idx="3" type="body"/>
          </p:nvPr>
        </p:nvSpPr>
        <p:spPr>
          <a:xfrm>
            <a:off x="967108" y="5025006"/>
            <a:ext cx="6650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文標題">
  <p:cSld name="首頁_中文標題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0c2867df0_0_39"/>
          <p:cNvSpPr txBox="1"/>
          <p:nvPr>
            <p:ph type="ctrTitle"/>
          </p:nvPr>
        </p:nvSpPr>
        <p:spPr>
          <a:xfrm>
            <a:off x="967109" y="2141506"/>
            <a:ext cx="6356400" cy="18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g330c2867df0_0_39"/>
          <p:cNvSpPr txBox="1"/>
          <p:nvPr>
            <p:ph idx="1" type="body"/>
          </p:nvPr>
        </p:nvSpPr>
        <p:spPr>
          <a:xfrm>
            <a:off x="967108" y="4572000"/>
            <a:ext cx="6650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g330c2867df0_0_39"/>
          <p:cNvSpPr txBox="1"/>
          <p:nvPr>
            <p:ph idx="2" type="body"/>
          </p:nvPr>
        </p:nvSpPr>
        <p:spPr>
          <a:xfrm>
            <a:off x="967108" y="5025006"/>
            <a:ext cx="6650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英文標題">
  <p:cSld name="首頁_英文標題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0c2867df0_0_43"/>
          <p:cNvSpPr txBox="1"/>
          <p:nvPr>
            <p:ph idx="1" type="body"/>
          </p:nvPr>
        </p:nvSpPr>
        <p:spPr>
          <a:xfrm>
            <a:off x="967109" y="2162200"/>
            <a:ext cx="6356400" cy="18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g330c2867df0_0_43"/>
          <p:cNvSpPr txBox="1"/>
          <p:nvPr>
            <p:ph idx="2" type="body"/>
          </p:nvPr>
        </p:nvSpPr>
        <p:spPr>
          <a:xfrm>
            <a:off x="967108" y="4572000"/>
            <a:ext cx="6650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330c2867df0_0_43"/>
          <p:cNvSpPr txBox="1"/>
          <p:nvPr>
            <p:ph idx="3" type="body"/>
          </p:nvPr>
        </p:nvSpPr>
        <p:spPr>
          <a:xfrm>
            <a:off x="967108" y="5025006"/>
            <a:ext cx="6650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1f061ed9b_0_31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5" name="Google Shape;85;g351f061ed9b_0_312"/>
          <p:cNvSpPr txBox="1"/>
          <p:nvPr>
            <p:ph type="ctrTitle"/>
          </p:nvPr>
        </p:nvSpPr>
        <p:spPr>
          <a:xfrm>
            <a:off x="966788" y="2241418"/>
            <a:ext cx="63564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51f061ed9b_0_312"/>
          <p:cNvSpPr txBox="1"/>
          <p:nvPr>
            <p:ph idx="1" type="body"/>
          </p:nvPr>
        </p:nvSpPr>
        <p:spPr>
          <a:xfrm>
            <a:off x="966788" y="808035"/>
            <a:ext cx="37482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51f061ed9b_0_312"/>
          <p:cNvSpPr txBox="1"/>
          <p:nvPr>
            <p:ph idx="2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1f061ed9b_0_317"/>
          <p:cNvSpPr txBox="1"/>
          <p:nvPr>
            <p:ph type="ctrTitle"/>
          </p:nvPr>
        </p:nvSpPr>
        <p:spPr>
          <a:xfrm>
            <a:off x="967109" y="2419102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g351f061ed9b_0_317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g351f061ed9b_0_317"/>
          <p:cNvSpPr txBox="1"/>
          <p:nvPr>
            <p:ph idx="2" type="body"/>
          </p:nvPr>
        </p:nvSpPr>
        <p:spPr>
          <a:xfrm>
            <a:off x="966788" y="808035"/>
            <a:ext cx="37482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g351f061ed9b_0_31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3" name="Google Shape;93;g351f061ed9b_0_317"/>
          <p:cNvSpPr txBox="1"/>
          <p:nvPr>
            <p:ph idx="3" type="body"/>
          </p:nvPr>
        </p:nvSpPr>
        <p:spPr>
          <a:xfrm>
            <a:off x="967109" y="3124542"/>
            <a:ext cx="101913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1f061ed9b_0_323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6" name="Google Shape;96;g351f061ed9b_0_323"/>
          <p:cNvSpPr txBox="1"/>
          <p:nvPr>
            <p:ph idx="1" type="body"/>
          </p:nvPr>
        </p:nvSpPr>
        <p:spPr>
          <a:xfrm>
            <a:off x="967109" y="2246089"/>
            <a:ext cx="6356400" cy="2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g351f061ed9b_0_323"/>
          <p:cNvSpPr txBox="1"/>
          <p:nvPr>
            <p:ph idx="2" type="body"/>
          </p:nvPr>
        </p:nvSpPr>
        <p:spPr>
          <a:xfrm>
            <a:off x="966788" y="808035"/>
            <a:ext cx="37482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g351f061ed9b_0_323"/>
          <p:cNvSpPr txBox="1"/>
          <p:nvPr>
            <p:ph idx="3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1f061ed9b_0_407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g351f061ed9b_0_407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g351f061ed9b_0_407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g351f061ed9b_0_40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1f061ed9b_0_412"/>
          <p:cNvSpPr/>
          <p:nvPr>
            <p:ph idx="2" type="pic"/>
          </p:nvPr>
        </p:nvSpPr>
        <p:spPr>
          <a:xfrm>
            <a:off x="0" y="0"/>
            <a:ext cx="120036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g351f061ed9b_0_41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1f061ed9b_0_415"/>
          <p:cNvSpPr txBox="1"/>
          <p:nvPr>
            <p:ph type="ctrTitle"/>
          </p:nvPr>
        </p:nvSpPr>
        <p:spPr>
          <a:xfrm>
            <a:off x="953359" y="728685"/>
            <a:ext cx="8829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g351f061ed9b_0_41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g351f061ed9b_0_415"/>
          <p:cNvSpPr txBox="1"/>
          <p:nvPr>
            <p:ph idx="2" type="body"/>
          </p:nvPr>
        </p:nvSpPr>
        <p:spPr>
          <a:xfrm>
            <a:off x="954088" y="1578855"/>
            <a:ext cx="10102800" cy="4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g351f061ed9b_0_41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1f061ed9b_0_420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g351f061ed9b_0_420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51f061ed9b_0_420"/>
          <p:cNvSpPr txBox="1"/>
          <p:nvPr>
            <p:ph type="ctrTitle"/>
          </p:nvPr>
        </p:nvSpPr>
        <p:spPr>
          <a:xfrm>
            <a:off x="953359" y="359005"/>
            <a:ext cx="10455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icrosoft JhengHei"/>
              <a:buNone/>
              <a:defRPr b="1" i="0" sz="36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g351f061ed9b_0_42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1f061ed9b_0_425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g351f061ed9b_0_425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51f061ed9b_0_42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2" name="Google Shape;122;g351f061ed9b_0_425"/>
          <p:cNvSpPr txBox="1"/>
          <p:nvPr>
            <p:ph type="ctrTitle"/>
          </p:nvPr>
        </p:nvSpPr>
        <p:spPr>
          <a:xfrm>
            <a:off x="953359" y="360637"/>
            <a:ext cx="8829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1f061ed9b_0_430"/>
          <p:cNvSpPr txBox="1"/>
          <p:nvPr>
            <p:ph type="ctrTitle"/>
          </p:nvPr>
        </p:nvSpPr>
        <p:spPr>
          <a:xfrm>
            <a:off x="953359" y="728685"/>
            <a:ext cx="8829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g351f061ed9b_0_43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g351f061ed9b_0_43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1f061ed9b_0_43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g351f061ed9b_0_43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b10e61a34_10_80"/>
          <p:cNvSpPr txBox="1"/>
          <p:nvPr>
            <p:ph type="ctrTitle"/>
          </p:nvPr>
        </p:nvSpPr>
        <p:spPr>
          <a:xfrm>
            <a:off x="953359" y="824935"/>
            <a:ext cx="8747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g3eb10e61a34_10_80"/>
          <p:cNvSpPr txBox="1"/>
          <p:nvPr>
            <p:ph idx="1" type="body"/>
          </p:nvPr>
        </p:nvSpPr>
        <p:spPr>
          <a:xfrm>
            <a:off x="1242281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g3eb10e61a34_10_80"/>
          <p:cNvSpPr txBox="1"/>
          <p:nvPr>
            <p:ph idx="2" type="body"/>
          </p:nvPr>
        </p:nvSpPr>
        <p:spPr>
          <a:xfrm>
            <a:off x="954088" y="1618596"/>
            <a:ext cx="10102800" cy="4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g3eb10e61a34_10_80"/>
          <p:cNvSpPr txBox="1"/>
          <p:nvPr>
            <p:ph idx="12" type="sldNum"/>
          </p:nvPr>
        </p:nvSpPr>
        <p:spPr>
          <a:xfrm>
            <a:off x="701467" y="6153567"/>
            <a:ext cx="540900" cy="28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lvl="2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lvl="3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lvl="4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lvl="5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lvl="6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lvl="7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lvl="8" algn="l"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b10e61a34_10_85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eb10e61a34_10_85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eb10e61a34_10_85"/>
          <p:cNvSpPr txBox="1"/>
          <p:nvPr>
            <p:ph type="ctrTitle"/>
          </p:nvPr>
        </p:nvSpPr>
        <p:spPr>
          <a:xfrm>
            <a:off x="953359" y="359005"/>
            <a:ext cx="104553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icrosoft JhengHei"/>
              <a:buNone/>
              <a:defRPr b="1" i="0" sz="36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g3eb10e61a34_10_8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b10e61a34_10_90"/>
          <p:cNvSpPr txBox="1"/>
          <p:nvPr>
            <p:ph type="ctrTitle"/>
          </p:nvPr>
        </p:nvSpPr>
        <p:spPr>
          <a:xfrm>
            <a:off x="953359" y="824935"/>
            <a:ext cx="8747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g3eb10e61a34_10_90"/>
          <p:cNvSpPr txBox="1"/>
          <p:nvPr>
            <p:ph idx="1" type="body"/>
          </p:nvPr>
        </p:nvSpPr>
        <p:spPr>
          <a:xfrm>
            <a:off x="1242281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g3eb10e61a34_10_9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b10e61a34_10_94"/>
          <p:cNvSpPr/>
          <p:nvPr>
            <p:ph idx="2" type="pic"/>
          </p:nvPr>
        </p:nvSpPr>
        <p:spPr>
          <a:xfrm>
            <a:off x="0" y="0"/>
            <a:ext cx="120036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g3eb10e61a34_10_9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b10e61a34_10_97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g3eb10e61a34_10_97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b10e61a34_10_9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3" name="Google Shape;153;g3eb10e61a34_10_97"/>
          <p:cNvSpPr txBox="1"/>
          <p:nvPr>
            <p:ph type="ctrTitle"/>
          </p:nvPr>
        </p:nvSpPr>
        <p:spPr>
          <a:xfrm>
            <a:off x="953359" y="360637"/>
            <a:ext cx="88299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ulish"/>
              <a:buNone/>
              <a:defRPr b="1" i="0" sz="35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b10e61a34_10_102"/>
          <p:cNvSpPr txBox="1"/>
          <p:nvPr>
            <p:ph type="ctrTitle"/>
          </p:nvPr>
        </p:nvSpPr>
        <p:spPr>
          <a:xfrm>
            <a:off x="953359" y="728685"/>
            <a:ext cx="88299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ulish"/>
              <a:buNone/>
              <a:defRPr b="1" i="0" sz="35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g3eb10e61a34_10_102"/>
          <p:cNvSpPr txBox="1"/>
          <p:nvPr>
            <p:ph idx="1" type="body"/>
          </p:nvPr>
        </p:nvSpPr>
        <p:spPr>
          <a:xfrm>
            <a:off x="1242281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g3eb10e61a34_10_10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b10e61a34_10_106"/>
          <p:cNvSpPr txBox="1"/>
          <p:nvPr>
            <p:ph idx="1" type="body"/>
          </p:nvPr>
        </p:nvSpPr>
        <p:spPr>
          <a:xfrm>
            <a:off x="1242281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g3eb10e61a34_10_106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b10e61a34_10_109"/>
          <p:cNvSpPr txBox="1"/>
          <p:nvPr>
            <p:ph type="ctrTitle"/>
          </p:nvPr>
        </p:nvSpPr>
        <p:spPr>
          <a:xfrm>
            <a:off x="953359" y="728685"/>
            <a:ext cx="88299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ulish"/>
              <a:buNone/>
              <a:defRPr b="1" i="0" sz="35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g3eb10e61a34_10_109"/>
          <p:cNvSpPr txBox="1"/>
          <p:nvPr>
            <p:ph idx="1" type="body"/>
          </p:nvPr>
        </p:nvSpPr>
        <p:spPr>
          <a:xfrm>
            <a:off x="1242281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g3eb10e61a34_10_109"/>
          <p:cNvSpPr txBox="1"/>
          <p:nvPr>
            <p:ph idx="2" type="body"/>
          </p:nvPr>
        </p:nvSpPr>
        <p:spPr>
          <a:xfrm>
            <a:off x="954088" y="1578855"/>
            <a:ext cx="10102800" cy="41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g3eb10e61a34_10_109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6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38.jpg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theme" Target="../theme/theme7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36.jpg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theme" Target="../theme/theme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38.jpg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8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38.jpg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/>
          <p:nvPr/>
        </p:nvSpPr>
        <p:spPr>
          <a:xfrm>
            <a:off x="966788" y="717402"/>
            <a:ext cx="3515360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5800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01</a:t>
            </a:r>
            <a:endParaRPr b="0" i="0" sz="5800">
              <a:solidFill>
                <a:schemeClr val="lt1"/>
              </a:solidFill>
              <a:latin typeface="Mulish ExtraLight"/>
              <a:ea typeface="Mulish ExtraLight"/>
              <a:cs typeface="Mulish ExtraLight"/>
              <a:sym typeface="Mulish ExtraLight"/>
            </a:endParaRPr>
          </a:p>
        </p:txBody>
      </p:sp>
      <p:sp>
        <p:nvSpPr>
          <p:cNvPr id="14" name="Google Shape;14;p13"/>
          <p:cNvSpPr txBox="1"/>
          <p:nvPr/>
        </p:nvSpPr>
        <p:spPr>
          <a:xfrm>
            <a:off x="1242283" y="6179444"/>
            <a:ext cx="7377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章節 01</a:t>
            </a:r>
            <a:endParaRPr b="1" i="0" sz="12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  <p:sldLayoutId id="2147483670" r:id="rId3"/>
    <p:sldLayoutId id="214748367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b10e61a34_10_78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r">
              <a:buNone/>
              <a:defRPr sz="1700">
                <a:solidFill>
                  <a:schemeClr val="tx1"/>
                </a:solidFill>
              </a:defRPr>
            </a:lvl1pPr>
            <a:lvl2pPr lvl="1" algn="r">
              <a:buNone/>
              <a:defRPr sz="1700">
                <a:solidFill>
                  <a:schemeClr val="tx1"/>
                </a:solidFill>
              </a:defRPr>
            </a:lvl2pPr>
            <a:lvl3pPr lvl="2" algn="r">
              <a:buNone/>
              <a:defRPr sz="1700">
                <a:solidFill>
                  <a:schemeClr val="tx1"/>
                </a:solidFill>
              </a:defRPr>
            </a:lvl3pPr>
            <a:lvl4pPr lvl="3" algn="r">
              <a:buNone/>
              <a:defRPr sz="1700">
                <a:solidFill>
                  <a:schemeClr val="tx1"/>
                </a:solidFill>
              </a:defRPr>
            </a:lvl4pPr>
            <a:lvl5pPr lvl="4" algn="r">
              <a:buNone/>
              <a:defRPr sz="1700">
                <a:solidFill>
                  <a:schemeClr val="tx1"/>
                </a:solidFill>
              </a:defRPr>
            </a:lvl5pPr>
            <a:lvl6pPr lvl="5" algn="r">
              <a:buNone/>
              <a:defRPr sz="1700">
                <a:solidFill>
                  <a:schemeClr val="tx1"/>
                </a:solidFill>
              </a:defRPr>
            </a:lvl6pPr>
            <a:lvl7pPr lvl="6" algn="r">
              <a:buNone/>
              <a:defRPr sz="1700">
                <a:solidFill>
                  <a:schemeClr val="tx1"/>
                </a:solidFill>
              </a:defRPr>
            </a:lvl7pPr>
            <a:lvl8pPr lvl="7" algn="r">
              <a:buNone/>
              <a:defRPr sz="1700">
                <a:solidFill>
                  <a:schemeClr val="tx1"/>
                </a:solidFill>
              </a:defRPr>
            </a:lvl8pPr>
            <a:lvl9pPr lvl="8" algn="r">
              <a:buNone/>
              <a:defRPr sz="17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hyperlink" Target="https://civitai.com/models/61643?modelVersionId=6784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ivitai.com/models/69977/chibi-laugh" TargetMode="External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ivitai.com/models/81313/boldline" TargetMode="External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ivitai.com/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lctung/text-to-video" TargetMode="External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rive.google.com/file/d/1T4v1mrQ4bO_axSydL8AhmgWSr9_YzwWS/view?usp=sharing" TargetMode="External"/><Relationship Id="rId4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png"/><Relationship Id="rId4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2.xml"/><Relationship Id="rId3" Type="http://schemas.openxmlformats.org/officeDocument/2006/relationships/hyperlink" Target="mailto:t114598033@ntut.org.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0c2867df0_0_26"/>
          <p:cNvSpPr txBox="1"/>
          <p:nvPr>
            <p:ph type="ctrTitle"/>
          </p:nvPr>
        </p:nvSpPr>
        <p:spPr>
          <a:xfrm>
            <a:off x="967109" y="2274495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生成式人工智慧導論</a:t>
            </a:r>
            <a:endParaRPr/>
          </a:p>
        </p:txBody>
      </p:sp>
      <p:sp>
        <p:nvSpPr>
          <p:cNvPr id="171" name="Google Shape;171;g330c2867df0_0_26"/>
          <p:cNvSpPr txBox="1"/>
          <p:nvPr>
            <p:ph idx="1" type="body"/>
          </p:nvPr>
        </p:nvSpPr>
        <p:spPr>
          <a:xfrm>
            <a:off x="967109" y="3007096"/>
            <a:ext cx="101913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rPr lang="zh-TW"/>
              <a:t>06</a:t>
            </a:r>
            <a:r>
              <a:rPr lang="zh-TW"/>
              <a:t>穩定擴散</a:t>
            </a:r>
            <a:endParaRPr/>
          </a:p>
        </p:txBody>
      </p:sp>
      <p:sp>
        <p:nvSpPr>
          <p:cNvPr id="172" name="Google Shape;172;g330c2867df0_0_26"/>
          <p:cNvSpPr txBox="1"/>
          <p:nvPr>
            <p:ph idx="2" type="body"/>
          </p:nvPr>
        </p:nvSpPr>
        <p:spPr>
          <a:xfrm>
            <a:off x="967108" y="4572000"/>
            <a:ext cx="6650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zh-TW"/>
              <a:t>鄭傳脩</a:t>
            </a:r>
            <a:endParaRPr/>
          </a:p>
        </p:txBody>
      </p:sp>
      <p:sp>
        <p:nvSpPr>
          <p:cNvPr id="173" name="Google Shape;173;g330c2867df0_0_26"/>
          <p:cNvSpPr txBox="1"/>
          <p:nvPr>
            <p:ph idx="3" type="body"/>
          </p:nvPr>
        </p:nvSpPr>
        <p:spPr>
          <a:xfrm>
            <a:off x="967108" y="5025006"/>
            <a:ext cx="6650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zh-TW"/>
              <a:t>國立臺北科技大學資訊工程系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1f061ed9b_0_79"/>
          <p:cNvSpPr txBox="1"/>
          <p:nvPr>
            <p:ph type="ctrTitle"/>
          </p:nvPr>
        </p:nvSpPr>
        <p:spPr>
          <a:xfrm>
            <a:off x="967109" y="2419102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使用模型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t/>
            </a:r>
            <a:endParaRPr/>
          </a:p>
        </p:txBody>
      </p:sp>
      <p:sp>
        <p:nvSpPr>
          <p:cNvPr id="179" name="Google Shape;179;g351f061ed9b_0_79"/>
          <p:cNvSpPr txBox="1"/>
          <p:nvPr>
            <p:ph idx="1" type="body"/>
          </p:nvPr>
        </p:nvSpPr>
        <p:spPr>
          <a:xfrm>
            <a:off x="967109" y="3124542"/>
            <a:ext cx="101913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  <p:sp>
        <p:nvSpPr>
          <p:cNvPr id="180" name="Google Shape;180;g351f061ed9b_0_79"/>
          <p:cNvSpPr txBox="1"/>
          <p:nvPr>
            <p:ph idx="2" type="body"/>
          </p:nvPr>
        </p:nvSpPr>
        <p:spPr>
          <a:xfrm>
            <a:off x="1842554" y="6207371"/>
            <a:ext cx="9762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1" name="Google Shape;181;g351f061ed9b_0_79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51f061ed9b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400" y="2046575"/>
            <a:ext cx="8283203" cy="4001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51f061ed9b_0_4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Civitai</a:t>
            </a:r>
            <a:endParaRPr/>
          </a:p>
        </p:txBody>
      </p:sp>
      <p:sp>
        <p:nvSpPr>
          <p:cNvPr id="188" name="Google Shape;188;g351f061ed9b_0_4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9" name="Google Shape;189;g351f061ed9b_0_40"/>
          <p:cNvSpPr txBox="1"/>
          <p:nvPr>
            <p:ph idx="2" type="body"/>
          </p:nvPr>
        </p:nvSpPr>
        <p:spPr>
          <a:xfrm>
            <a:off x="953350" y="1618600"/>
            <a:ext cx="99663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  <a:highlight>
                  <a:srgbClr val="FFFFFF"/>
                </a:highlight>
              </a:rPr>
              <a:t>Checkpoint：</a:t>
            </a:r>
            <a:r>
              <a:rPr lang="zh-TW" sz="16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based66_v30</a:t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190" name="Google Shape;190;g351f061ed9b_0_4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1f061ed9b_0_178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Civitai</a:t>
            </a:r>
            <a:endParaRPr/>
          </a:p>
        </p:txBody>
      </p:sp>
      <p:sp>
        <p:nvSpPr>
          <p:cNvPr id="196" name="Google Shape;196;g351f061ed9b_0_178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7" name="Google Shape;197;g351f061ed9b_0_178"/>
          <p:cNvSpPr txBox="1"/>
          <p:nvPr>
            <p:ph idx="2" type="body"/>
          </p:nvPr>
        </p:nvSpPr>
        <p:spPr>
          <a:xfrm>
            <a:off x="953350" y="1618600"/>
            <a:ext cx="99663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  <a:highlight>
                  <a:srgbClr val="FFFFFF"/>
                </a:highlight>
              </a:rPr>
              <a:t>LoRA</a:t>
            </a:r>
            <a:r>
              <a:rPr lang="zh-TW" sz="1600">
                <a:solidFill>
                  <a:srgbClr val="202122"/>
                </a:solidFill>
                <a:highlight>
                  <a:srgbClr val="FFFFFF"/>
                </a:highlight>
              </a:rPr>
              <a:t>:  </a:t>
            </a:r>
            <a:r>
              <a:rPr lang="zh-TW" sz="16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chibi-laugh</a:t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198" name="Google Shape;198;g351f061ed9b_0_178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99" name="Google Shape;199;g351f061ed9b_0_1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6888" y="2011600"/>
            <a:ext cx="8138225" cy="39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51f061ed9b_0_188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Civitai</a:t>
            </a:r>
            <a:endParaRPr/>
          </a:p>
        </p:txBody>
      </p:sp>
      <p:sp>
        <p:nvSpPr>
          <p:cNvPr id="205" name="Google Shape;205;g351f061ed9b_0_188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6" name="Google Shape;206;g351f061ed9b_0_188"/>
          <p:cNvSpPr txBox="1"/>
          <p:nvPr>
            <p:ph idx="2" type="body"/>
          </p:nvPr>
        </p:nvSpPr>
        <p:spPr>
          <a:xfrm>
            <a:off x="953350" y="1618600"/>
            <a:ext cx="99663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  <a:highlight>
                  <a:srgbClr val="FFFFFF"/>
                </a:highlight>
              </a:rPr>
              <a:t>LoRA</a:t>
            </a:r>
            <a:r>
              <a:rPr lang="zh-TW" sz="1600">
                <a:solidFill>
                  <a:srgbClr val="202122"/>
                </a:solidFill>
                <a:highlight>
                  <a:srgbClr val="FFFFFF"/>
                </a:highlight>
              </a:rPr>
              <a:t>:  </a:t>
            </a:r>
            <a:r>
              <a:rPr lang="zh-TW" sz="16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boldline</a:t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207" name="Google Shape;207;g351f061ed9b_0_188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08" name="Google Shape;208;g351f061ed9b_0_1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9655" y="2082925"/>
            <a:ext cx="8953605" cy="3890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1f061ed9b_0_15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4" name="Google Shape;214;g351f061ed9b_0_152"/>
          <p:cNvSpPr txBox="1"/>
          <p:nvPr>
            <p:ph type="ctrTitle"/>
          </p:nvPr>
        </p:nvSpPr>
        <p:spPr>
          <a:xfrm>
            <a:off x="966803" y="2241425"/>
            <a:ext cx="81849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雲端運行</a:t>
            </a:r>
            <a:endParaRPr/>
          </a:p>
        </p:txBody>
      </p:sp>
      <p:sp>
        <p:nvSpPr>
          <p:cNvPr id="215" name="Google Shape;215;g351f061ed9b_0_152"/>
          <p:cNvSpPr txBox="1"/>
          <p:nvPr>
            <p:ph idx="1" type="body"/>
          </p:nvPr>
        </p:nvSpPr>
        <p:spPr>
          <a:xfrm>
            <a:off x="966788" y="808035"/>
            <a:ext cx="37482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</a:pPr>
            <a:r>
              <a:rPr lang="zh-TW"/>
              <a:t>02</a:t>
            </a:r>
            <a:endParaRPr/>
          </a:p>
        </p:txBody>
      </p:sp>
      <p:sp>
        <p:nvSpPr>
          <p:cNvPr id="216" name="Google Shape;216;g351f061ed9b_0_152"/>
          <p:cNvSpPr txBox="1"/>
          <p:nvPr>
            <p:ph idx="2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38e9e31da2_0_42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Civitai</a:t>
            </a:r>
            <a:endParaRPr/>
          </a:p>
        </p:txBody>
      </p:sp>
      <p:sp>
        <p:nvSpPr>
          <p:cNvPr id="222" name="Google Shape;222;g338e9e31da2_0_42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3" name="Google Shape;223;g338e9e31da2_0_42"/>
          <p:cNvSpPr txBox="1"/>
          <p:nvPr>
            <p:ph idx="2" type="body"/>
          </p:nvPr>
        </p:nvSpPr>
        <p:spPr>
          <a:xfrm>
            <a:off x="953350" y="1618600"/>
            <a:ext cx="99663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Civitai</a:t>
            </a:r>
            <a:r>
              <a:rPr lang="zh-TW" sz="1600">
                <a:solidFill>
                  <a:srgbClr val="202122"/>
                </a:solidFill>
                <a:highlight>
                  <a:srgbClr val="FFFFFF"/>
                </a:highlight>
              </a:rPr>
              <a:t>，一個開放模型下載的網站，可以上去下載任意你想要的模型</a:t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  <a:highlight>
                  <a:srgbClr val="FFFFFF"/>
                </a:highlight>
              </a:rPr>
              <a:t>創建帳號後，點擊頭像-&gt;Account Settings</a:t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224" name="Google Shape;224;g338e9e31da2_0_4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25" name="Google Shape;225;g338e9e31da2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6476" y="270887"/>
            <a:ext cx="2445574" cy="631622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38e9e31da2_0_42"/>
          <p:cNvSpPr/>
          <p:nvPr/>
        </p:nvSpPr>
        <p:spPr>
          <a:xfrm flipH="1">
            <a:off x="8497175" y="6055413"/>
            <a:ext cx="676500" cy="538800"/>
          </a:xfrm>
          <a:prstGeom prst="rect">
            <a:avLst/>
          </a:prstGeom>
          <a:noFill/>
          <a:ln cap="flat" cmpd="sng" w="114300">
            <a:solidFill>
              <a:srgbClr val="ED2C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8e9e31da2_0_5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Civitai</a:t>
            </a:r>
            <a:endParaRPr/>
          </a:p>
        </p:txBody>
      </p:sp>
      <p:sp>
        <p:nvSpPr>
          <p:cNvPr id="232" name="Google Shape;232;g338e9e31da2_0_5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3" name="Google Shape;233;g338e9e31da2_0_50"/>
          <p:cNvSpPr txBox="1"/>
          <p:nvPr>
            <p:ph idx="2" type="body"/>
          </p:nvPr>
        </p:nvSpPr>
        <p:spPr>
          <a:xfrm>
            <a:off x="953350" y="1618600"/>
            <a:ext cx="99663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  <a:highlight>
                  <a:srgbClr val="FFFFFF"/>
                </a:highlight>
              </a:rPr>
              <a:t>移到最下面，找到API Keys，選擇Add API Key</a:t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234" name="Google Shape;234;g338e9e31da2_0_5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35" name="Google Shape;235;g338e9e31da2_0_50" title="螢幕擷取畫面 2025-03-19 1945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9137" y="2059875"/>
            <a:ext cx="6734725" cy="400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38e9e31da2_0_50"/>
          <p:cNvSpPr/>
          <p:nvPr/>
        </p:nvSpPr>
        <p:spPr>
          <a:xfrm>
            <a:off x="6588125" y="3207050"/>
            <a:ext cx="849300" cy="2349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38e9e31da2_0_59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Civitai</a:t>
            </a:r>
            <a:endParaRPr/>
          </a:p>
        </p:txBody>
      </p:sp>
      <p:sp>
        <p:nvSpPr>
          <p:cNvPr id="242" name="Google Shape;242;g338e9e31da2_0_59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3" name="Google Shape;243;g338e9e31da2_0_59"/>
          <p:cNvSpPr txBox="1"/>
          <p:nvPr>
            <p:ph idx="2" type="body"/>
          </p:nvPr>
        </p:nvSpPr>
        <p:spPr>
          <a:xfrm>
            <a:off x="953350" y="1618600"/>
            <a:ext cx="99663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  <a:highlight>
                  <a:srgbClr val="FFFFFF"/>
                </a:highlight>
              </a:rPr>
              <a:t>隨意命名，API Key出現的時候也記得要複製</a:t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244" name="Google Shape;244;g338e9e31da2_0_59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45" name="Google Shape;245;g338e9e31da2_0_59" title="螢幕擷取畫面 2025-03-19 1947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350" y="2376700"/>
            <a:ext cx="42100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38e9e31da2_0_59" title="螢幕擷取畫面 2025-03-19 1948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0150" y="2376700"/>
            <a:ext cx="405765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38e9e31da2_0_59"/>
          <p:cNvSpPr/>
          <p:nvPr/>
        </p:nvSpPr>
        <p:spPr>
          <a:xfrm>
            <a:off x="5998475" y="3089700"/>
            <a:ext cx="3776100" cy="3969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1f061ed9b_0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Colab</a:t>
            </a:r>
            <a:endParaRPr/>
          </a:p>
        </p:txBody>
      </p:sp>
      <p:sp>
        <p:nvSpPr>
          <p:cNvPr id="253" name="Google Shape;253;g351f061ed9b_0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4" name="Google Shape;254;g351f061ed9b_0_0"/>
          <p:cNvSpPr txBox="1"/>
          <p:nvPr>
            <p:ph idx="2" type="body"/>
          </p:nvPr>
        </p:nvSpPr>
        <p:spPr>
          <a:xfrm>
            <a:off x="953350" y="1618600"/>
            <a:ext cx="99663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u="sng">
                <a:solidFill>
                  <a:schemeClr val="hlink"/>
                </a:solidFill>
                <a:hlinkClick r:id="rId3"/>
              </a:rPr>
              <a:t>Colab 程式碼下載連結</a:t>
            </a:r>
            <a:endParaRPr sz="1600">
              <a:solidFill>
                <a:srgbClr val="2021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255" name="Google Shape;255;g351f061ed9b_0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56" name="Google Shape;256;g351f061ed9b_0_0"/>
          <p:cNvPicPr preferRelativeResize="0"/>
          <p:nvPr/>
        </p:nvPicPr>
        <p:blipFill rotWithShape="1">
          <a:blip r:embed="rId4">
            <a:alphaModFix/>
          </a:blip>
          <a:srcRect b="5651" l="0" r="0" t="0"/>
          <a:stretch/>
        </p:blipFill>
        <p:spPr>
          <a:xfrm>
            <a:off x="2728008" y="2019999"/>
            <a:ext cx="7398342" cy="39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51f061ed9b_0_0"/>
          <p:cNvSpPr/>
          <p:nvPr/>
        </p:nvSpPr>
        <p:spPr>
          <a:xfrm>
            <a:off x="3081141" y="5535778"/>
            <a:ext cx="1153500" cy="348000"/>
          </a:xfrm>
          <a:prstGeom prst="rect">
            <a:avLst/>
          </a:prstGeom>
          <a:noFill/>
          <a:ln cap="flat" cmpd="sng" w="300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050" lIns="96050" spcFirstLastPara="1" rIns="96050" wrap="square" tIns="9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b10e61a34_8_103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Colab</a:t>
            </a:r>
            <a:endParaRPr/>
          </a:p>
        </p:txBody>
      </p:sp>
      <p:sp>
        <p:nvSpPr>
          <p:cNvPr id="263" name="Google Shape;263;g3eb10e61a34_8_103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4" name="Google Shape;264;g3eb10e61a34_8_103"/>
          <p:cNvSpPr txBox="1"/>
          <p:nvPr>
            <p:ph idx="2" type="body"/>
          </p:nvPr>
        </p:nvSpPr>
        <p:spPr>
          <a:xfrm>
            <a:off x="953350" y="1618600"/>
            <a:ext cx="99663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rgbClr val="202122"/>
                </a:solidFill>
                <a:highlight>
                  <a:schemeClr val="lt1"/>
                </a:highlight>
              </a:rPr>
              <a:t>安裝 Comfy UI 所需要的套件</a:t>
            </a:r>
            <a:endParaRPr sz="1600">
              <a:solidFill>
                <a:srgbClr val="2021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265" name="Google Shape;265;g3eb10e61a34_8_103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66" name="Google Shape;266;g3eb10e61a34_8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3831" y="597025"/>
            <a:ext cx="5996894" cy="531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b10e61a34_8_124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Colab</a:t>
            </a:r>
            <a:endParaRPr/>
          </a:p>
        </p:txBody>
      </p:sp>
      <p:sp>
        <p:nvSpPr>
          <p:cNvPr id="273" name="Google Shape;273;g3eb10e61a34_8_12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b10e61a34_8_124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rgbClr val="202122"/>
                </a:solidFill>
              </a:rPr>
              <a:t>將 Civitai API Key貼上</a:t>
            </a:r>
            <a:endParaRPr/>
          </a:p>
        </p:txBody>
      </p:sp>
      <p:sp>
        <p:nvSpPr>
          <p:cNvPr id="275" name="Google Shape;275;g3eb10e61a34_8_12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76" name="Google Shape;276;g3eb10e61a34_8_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000" y="2199429"/>
            <a:ext cx="6318075" cy="21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1f061ed9b_0_398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Colab</a:t>
            </a:r>
            <a:endParaRPr/>
          </a:p>
        </p:txBody>
      </p:sp>
      <p:sp>
        <p:nvSpPr>
          <p:cNvPr id="282" name="Google Shape;282;g351f061ed9b_0_398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3" name="Google Shape;283;g351f061ed9b_0_398"/>
          <p:cNvSpPr txBox="1"/>
          <p:nvPr>
            <p:ph idx="2" type="body"/>
          </p:nvPr>
        </p:nvSpPr>
        <p:spPr>
          <a:xfrm>
            <a:off x="953350" y="1618600"/>
            <a:ext cx="9966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</a:rPr>
              <a:t>下載</a:t>
            </a:r>
            <a:r>
              <a:rPr lang="zh-TW" sz="1600">
                <a:solidFill>
                  <a:srgbClr val="202122"/>
                </a:solidFill>
              </a:rPr>
              <a:t> </a:t>
            </a:r>
            <a:r>
              <a:rPr lang="zh-TW" sz="1600">
                <a:solidFill>
                  <a:srgbClr val="202122"/>
                </a:solidFill>
              </a:rPr>
              <a:t>checkpoint</a:t>
            </a:r>
            <a:r>
              <a:rPr lang="zh-TW" sz="1600">
                <a:solidFill>
                  <a:srgbClr val="202122"/>
                </a:solidFill>
              </a:rPr>
              <a:t> </a:t>
            </a:r>
            <a:r>
              <a:rPr lang="zh-TW" sz="1600">
                <a:solidFill>
                  <a:srgbClr val="202122"/>
                </a:solidFill>
              </a:rPr>
              <a:t>和</a:t>
            </a:r>
            <a:r>
              <a:rPr lang="zh-TW" sz="1600">
                <a:solidFill>
                  <a:srgbClr val="202122"/>
                </a:solidFill>
              </a:rPr>
              <a:t> L</a:t>
            </a:r>
            <a:r>
              <a:rPr lang="zh-TW" sz="1600">
                <a:solidFill>
                  <a:srgbClr val="202122"/>
                </a:solidFill>
              </a:rPr>
              <a:t>o</a:t>
            </a:r>
            <a:r>
              <a:rPr lang="zh-TW" sz="1600">
                <a:solidFill>
                  <a:srgbClr val="202122"/>
                </a:solidFill>
              </a:rPr>
              <a:t>RA</a:t>
            </a:r>
            <a:r>
              <a:rPr lang="zh-TW" sz="1600">
                <a:solidFill>
                  <a:srgbClr val="202122"/>
                </a:solidFill>
              </a:rPr>
              <a:t>，有提供範例的，也可自行去civitai上找尋自己想要的</a:t>
            </a:r>
            <a:endParaRPr sz="1600">
              <a:solidFill>
                <a:srgbClr val="2021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284" name="Google Shape;284;g351f061ed9b_0_398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85" name="Google Shape;285;g351f061ed9b_0_398" title="螢幕擷取畫面 2025-04-05 1413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225" y="2412275"/>
            <a:ext cx="973455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1f061ed9b_0_437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Colab</a:t>
            </a:r>
            <a:endParaRPr/>
          </a:p>
        </p:txBody>
      </p:sp>
      <p:sp>
        <p:nvSpPr>
          <p:cNvPr id="291" name="Google Shape;291;g351f061ed9b_0_437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2" name="Google Shape;292;g351f061ed9b_0_437"/>
          <p:cNvSpPr txBox="1"/>
          <p:nvPr>
            <p:ph idx="2" type="body"/>
          </p:nvPr>
        </p:nvSpPr>
        <p:spPr>
          <a:xfrm>
            <a:off x="953350" y="1618600"/>
            <a:ext cx="9966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</a:rPr>
              <a:t>下載checkpoint(Based66_V30)</a:t>
            </a:r>
            <a:endParaRPr sz="1600">
              <a:solidFill>
                <a:srgbClr val="2021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293" name="Google Shape;293;g351f061ed9b_0_43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94" name="Google Shape;294;g351f061ed9b_0_4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00" y="2756163"/>
            <a:ext cx="11887201" cy="2252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1f061ed9b_0_478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Colab</a:t>
            </a:r>
            <a:endParaRPr/>
          </a:p>
        </p:txBody>
      </p:sp>
      <p:sp>
        <p:nvSpPr>
          <p:cNvPr id="300" name="Google Shape;300;g351f061ed9b_0_478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1" name="Google Shape;301;g351f061ed9b_0_478"/>
          <p:cNvSpPr txBox="1"/>
          <p:nvPr>
            <p:ph idx="2" type="body"/>
          </p:nvPr>
        </p:nvSpPr>
        <p:spPr>
          <a:xfrm>
            <a:off x="953350" y="1618600"/>
            <a:ext cx="9966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</a:rPr>
              <a:t>LoRA</a:t>
            </a:r>
            <a:r>
              <a:rPr lang="zh-TW" sz="1600">
                <a:solidFill>
                  <a:srgbClr val="202122"/>
                </a:solidFill>
              </a:rPr>
              <a:t>同checkpoint</a:t>
            </a:r>
            <a:endParaRPr sz="1600">
              <a:solidFill>
                <a:srgbClr val="2021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302" name="Google Shape;302;g351f061ed9b_0_478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03" name="Google Shape;303;g351f061ed9b_0_4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842" y="2108325"/>
            <a:ext cx="9426314" cy="3709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b10e61a34_8_56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Colab</a:t>
            </a:r>
            <a:endParaRPr/>
          </a:p>
        </p:txBody>
      </p:sp>
      <p:sp>
        <p:nvSpPr>
          <p:cNvPr id="309" name="Google Shape;309;g3eb10e61a34_8_56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0" name="Google Shape;310;g3eb10e61a34_8_56"/>
          <p:cNvSpPr txBox="1"/>
          <p:nvPr>
            <p:ph idx="2" type="body"/>
          </p:nvPr>
        </p:nvSpPr>
        <p:spPr>
          <a:xfrm>
            <a:off x="953350" y="1618600"/>
            <a:ext cx="9966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</a:rPr>
              <a:t>下載完後執行啟動ComfyUI網頁</a:t>
            </a:r>
            <a:endParaRPr sz="1600">
              <a:solidFill>
                <a:srgbClr val="2021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311" name="Google Shape;311;g3eb10e61a34_8_56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12" name="Google Shape;312;g3eb10e61a34_8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0850" y="455825"/>
            <a:ext cx="5514925" cy="55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b10e61a34_8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Colab</a:t>
            </a:r>
            <a:endParaRPr/>
          </a:p>
        </p:txBody>
      </p:sp>
      <p:sp>
        <p:nvSpPr>
          <p:cNvPr id="318" name="Google Shape;318;g3eb10e61a34_8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9" name="Google Shape;319;g3eb10e61a34_8_0"/>
          <p:cNvSpPr txBox="1"/>
          <p:nvPr>
            <p:ph idx="2" type="body"/>
          </p:nvPr>
        </p:nvSpPr>
        <p:spPr>
          <a:xfrm>
            <a:off x="953350" y="1618600"/>
            <a:ext cx="9966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</a:rPr>
              <a:t>確認執行階段後點擊連結</a:t>
            </a:r>
            <a:endParaRPr sz="1600">
              <a:solidFill>
                <a:srgbClr val="2021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320" name="Google Shape;320;g3eb10e61a34_8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21" name="Google Shape;321;g3eb10e61a34_8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355" y="2080775"/>
            <a:ext cx="5338557" cy="225244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3eb10e61a34_8_0"/>
          <p:cNvSpPr/>
          <p:nvPr/>
        </p:nvSpPr>
        <p:spPr>
          <a:xfrm>
            <a:off x="3312250" y="3753300"/>
            <a:ext cx="2887200" cy="2349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eb10e61a34_8_0"/>
          <p:cNvSpPr/>
          <p:nvPr/>
        </p:nvSpPr>
        <p:spPr>
          <a:xfrm>
            <a:off x="6397375" y="2615800"/>
            <a:ext cx="1208400" cy="369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eb10e61a34_8_0"/>
          <p:cNvSpPr txBox="1"/>
          <p:nvPr/>
        </p:nvSpPr>
        <p:spPr>
          <a:xfrm>
            <a:off x="7625951" y="2587300"/>
            <a:ext cx="846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分配IP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b10e61a34_8_9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ComfyUI</a:t>
            </a:r>
            <a:endParaRPr/>
          </a:p>
        </p:txBody>
      </p:sp>
      <p:sp>
        <p:nvSpPr>
          <p:cNvPr id="330" name="Google Shape;330;g3eb10e61a34_8_9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1" name="Google Shape;331;g3eb10e61a34_8_9"/>
          <p:cNvSpPr txBox="1"/>
          <p:nvPr>
            <p:ph idx="2" type="body"/>
          </p:nvPr>
        </p:nvSpPr>
        <p:spPr>
          <a:xfrm>
            <a:off x="953350" y="1618600"/>
            <a:ext cx="9966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</a:rPr>
              <a:t>輸入分配IP後點擊繼續</a:t>
            </a:r>
            <a:endParaRPr sz="1600">
              <a:solidFill>
                <a:srgbClr val="2021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332" name="Google Shape;332;g3eb10e61a34_8_9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33" name="Google Shape;333;g3eb10e61a34_8_9" title="螢幕擷取畫面 2026-05-19 220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563" y="2665950"/>
            <a:ext cx="1081087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1f061ed9b_0_574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ComfyUI</a:t>
            </a:r>
            <a:endParaRPr/>
          </a:p>
        </p:txBody>
      </p:sp>
      <p:sp>
        <p:nvSpPr>
          <p:cNvPr id="339" name="Google Shape;339;g351f061ed9b_0_57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0" name="Google Shape;340;g351f061ed9b_0_574"/>
          <p:cNvSpPr txBox="1"/>
          <p:nvPr>
            <p:ph idx="2" type="body"/>
          </p:nvPr>
        </p:nvSpPr>
        <p:spPr>
          <a:xfrm>
            <a:off x="953350" y="1618600"/>
            <a:ext cx="9966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成功進入ComfyUI</a:t>
            </a:r>
            <a:endParaRPr sz="1600">
              <a:solidFill>
                <a:srgbClr val="2021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51f061ed9b_0_57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42" name="Google Shape;342;g351f061ed9b_0_574" title="螢幕擷取畫面 2025-04-05 1434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7587" y="1948377"/>
            <a:ext cx="9017822" cy="42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b10e61a34_8_95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ComfyUI</a:t>
            </a:r>
            <a:endParaRPr/>
          </a:p>
        </p:txBody>
      </p:sp>
      <p:sp>
        <p:nvSpPr>
          <p:cNvPr id="348" name="Google Shape;348;g3eb10e61a34_8_9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9" name="Google Shape;349;g3eb10e61a34_8_95"/>
          <p:cNvSpPr txBox="1"/>
          <p:nvPr>
            <p:ph idx="2" type="body"/>
          </p:nvPr>
        </p:nvSpPr>
        <p:spPr>
          <a:xfrm>
            <a:off x="953350" y="1618600"/>
            <a:ext cx="9966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u="sng">
                <a:solidFill>
                  <a:schemeClr val="hlink"/>
                </a:solidFill>
                <a:hlinkClick r:id="rId3"/>
              </a:rPr>
              <a:t>工作流下載</a:t>
            </a:r>
            <a:endParaRPr sz="1600">
              <a:solidFill>
                <a:srgbClr val="2021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350" name="Google Shape;350;g3eb10e61a34_8_9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51" name="Google Shape;351;g3eb10e61a34_8_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4075" y="1509225"/>
            <a:ext cx="9078574" cy="458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ae45797ab_1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ComfyUI</a:t>
            </a:r>
            <a:endParaRPr/>
          </a:p>
        </p:txBody>
      </p:sp>
      <p:sp>
        <p:nvSpPr>
          <p:cNvPr id="357" name="Google Shape;357;g3bae45797ab_1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8" name="Google Shape;358;g3bae45797ab_1_0"/>
          <p:cNvSpPr txBox="1"/>
          <p:nvPr>
            <p:ph idx="2" type="body"/>
          </p:nvPr>
        </p:nvSpPr>
        <p:spPr>
          <a:xfrm>
            <a:off x="953350" y="1618600"/>
            <a:ext cx="9966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匯入剛剛下載的工作流(.json)</a:t>
            </a:r>
            <a:endParaRPr sz="1600">
              <a:solidFill>
                <a:srgbClr val="2021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359" name="Google Shape;359;g3bae45797ab_1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60" name="Google Shape;360;g3bae45797ab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5130" y="2288325"/>
            <a:ext cx="9142733" cy="370977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bae45797ab_1_0"/>
          <p:cNvSpPr/>
          <p:nvPr/>
        </p:nvSpPr>
        <p:spPr>
          <a:xfrm>
            <a:off x="8956325" y="5384650"/>
            <a:ext cx="1208400" cy="3729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2" name="Google Shape;362;g3bae45797ab_1_0"/>
          <p:cNvCxnSpPr>
            <a:stCxn id="361" idx="1"/>
          </p:cNvCxnSpPr>
          <p:nvPr/>
        </p:nvCxnSpPr>
        <p:spPr>
          <a:xfrm rot="10800000">
            <a:off x="4492325" y="4549300"/>
            <a:ext cx="4464000" cy="10218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g3bae45797ab_1_0"/>
          <p:cNvSpPr/>
          <p:nvPr/>
        </p:nvSpPr>
        <p:spPr>
          <a:xfrm rot="1413">
            <a:off x="5786059" y="4293405"/>
            <a:ext cx="2189400" cy="45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拖拉檔案至 ComfyUI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5807f43829_0_1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ComfyUI</a:t>
            </a:r>
            <a:endParaRPr/>
          </a:p>
        </p:txBody>
      </p:sp>
      <p:sp>
        <p:nvSpPr>
          <p:cNvPr id="369" name="Google Shape;369;g35807f43829_0_1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0" name="Google Shape;370;g35807f43829_0_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1" name="Google Shape;371;g35807f43829_0_1"/>
          <p:cNvSpPr txBox="1"/>
          <p:nvPr/>
        </p:nvSpPr>
        <p:spPr>
          <a:xfrm>
            <a:off x="947750" y="1678325"/>
            <a:ext cx="25539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安裝遺失套件</a:t>
            </a:r>
            <a:endParaRPr sz="1600"/>
          </a:p>
        </p:txBody>
      </p:sp>
      <p:pic>
        <p:nvPicPr>
          <p:cNvPr id="372" name="Google Shape;372;g35807f43829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2125" y="1608073"/>
            <a:ext cx="8587827" cy="4390359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5807f43829_0_1"/>
          <p:cNvSpPr/>
          <p:nvPr/>
        </p:nvSpPr>
        <p:spPr>
          <a:xfrm>
            <a:off x="4923400" y="1944291"/>
            <a:ext cx="807300" cy="337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5807f43829_0_12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ComfyUI</a:t>
            </a:r>
            <a:endParaRPr/>
          </a:p>
        </p:txBody>
      </p:sp>
      <p:sp>
        <p:nvSpPr>
          <p:cNvPr id="379" name="Google Shape;379;g35807f43829_0_12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0" name="Google Shape;380;g35807f43829_0_1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81" name="Google Shape;381;g35807f43829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4263" y="2331025"/>
            <a:ext cx="7551973" cy="35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5807f43829_0_12"/>
          <p:cNvSpPr/>
          <p:nvPr/>
        </p:nvSpPr>
        <p:spPr>
          <a:xfrm>
            <a:off x="5108500" y="3127625"/>
            <a:ext cx="2083500" cy="355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5807f43829_0_12"/>
          <p:cNvSpPr txBox="1"/>
          <p:nvPr/>
        </p:nvSpPr>
        <p:spPr>
          <a:xfrm>
            <a:off x="1242275" y="1649413"/>
            <a:ext cx="34341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安裝遺失套件</a:t>
            </a:r>
            <a:r>
              <a:rPr lang="zh-TW" sz="1600"/>
              <a:t>後重新整理網頁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g3bae45797ab_1_11"/>
          <p:cNvPicPr preferRelativeResize="0"/>
          <p:nvPr/>
        </p:nvPicPr>
        <p:blipFill rotWithShape="1">
          <a:blip r:embed="rId3">
            <a:alphaModFix/>
          </a:blip>
          <a:srcRect b="70918" l="0" r="30810" t="0"/>
          <a:stretch/>
        </p:blipFill>
        <p:spPr>
          <a:xfrm>
            <a:off x="871400" y="2618550"/>
            <a:ext cx="10449198" cy="1988051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3bae45797ab_1_11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ComfyUI</a:t>
            </a:r>
            <a:endParaRPr/>
          </a:p>
        </p:txBody>
      </p:sp>
      <p:sp>
        <p:nvSpPr>
          <p:cNvPr id="390" name="Google Shape;390;g3bae45797ab_1_11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1" name="Google Shape;391;g3bae45797ab_1_1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92" name="Google Shape;392;g3bae45797ab_1_11"/>
          <p:cNvSpPr/>
          <p:nvPr/>
        </p:nvSpPr>
        <p:spPr>
          <a:xfrm>
            <a:off x="3773375" y="3561877"/>
            <a:ext cx="975000" cy="337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400" lIns="79400" spcFirstLastPara="1" rIns="79400" wrap="square" tIns="7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6"/>
          </a:p>
        </p:txBody>
      </p:sp>
      <p:sp>
        <p:nvSpPr>
          <p:cNvPr id="393" name="Google Shape;393;g3bae45797ab_1_11"/>
          <p:cNvSpPr txBox="1"/>
          <p:nvPr/>
        </p:nvSpPr>
        <p:spPr>
          <a:xfrm>
            <a:off x="1242400" y="1839938"/>
            <a:ext cx="3505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安裝遺失套件後重新整理網頁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b10e61a34_10_5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ComfyUI</a:t>
            </a:r>
            <a:endParaRPr/>
          </a:p>
        </p:txBody>
      </p:sp>
      <p:sp>
        <p:nvSpPr>
          <p:cNvPr id="400" name="Google Shape;400;g3eb10e61a34_10_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eb10e61a34_10_5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確認所有nodes皆無紅框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eb10e61a34_10_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03" name="Google Shape;403;g3eb10e61a34_1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175" y="1307275"/>
            <a:ext cx="5815294" cy="47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g35ae2d2cb30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663" y="2357475"/>
            <a:ext cx="7172325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5ae2d2cb30_0_11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ComfyUI</a:t>
            </a:r>
            <a:endParaRPr/>
          </a:p>
        </p:txBody>
      </p:sp>
      <p:sp>
        <p:nvSpPr>
          <p:cNvPr id="410" name="Google Shape;410;g35ae2d2cb30_0_11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1" name="Google Shape;411;g35ae2d2cb30_0_1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12" name="Google Shape;412;g35ae2d2cb30_0_11"/>
          <p:cNvSpPr/>
          <p:nvPr/>
        </p:nvSpPr>
        <p:spPr>
          <a:xfrm>
            <a:off x="5743425" y="4080100"/>
            <a:ext cx="1819500" cy="4407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5ae2d2cb30_0_11"/>
          <p:cNvSpPr txBox="1"/>
          <p:nvPr/>
        </p:nvSpPr>
        <p:spPr>
          <a:xfrm>
            <a:off x="1242400" y="1661675"/>
            <a:ext cx="30048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更改種子生成器為randomize</a:t>
            </a:r>
            <a:endParaRPr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5689215a1_6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ComfyUI</a:t>
            </a:r>
            <a:endParaRPr/>
          </a:p>
        </p:txBody>
      </p:sp>
      <p:sp>
        <p:nvSpPr>
          <p:cNvPr id="420" name="Google Shape;420;g3e5689215a1_6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e5689215a1_6_0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請更換成自己的提示詞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提示詞模板請參考下面的備忘稿</a:t>
            </a:r>
            <a:endParaRPr sz="1800"/>
          </a:p>
        </p:txBody>
      </p:sp>
      <p:sp>
        <p:nvSpPr>
          <p:cNvPr id="422" name="Google Shape;422;g3e5689215a1_6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23" name="Google Shape;423;g3e5689215a1_6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981" y="832050"/>
            <a:ext cx="4938699" cy="5193899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e5689215a1_6_0"/>
          <p:cNvSpPr/>
          <p:nvPr/>
        </p:nvSpPr>
        <p:spPr>
          <a:xfrm>
            <a:off x="4277631" y="3139625"/>
            <a:ext cx="6395100" cy="183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5ae2d2cb30_0_21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ComfyUI</a:t>
            </a:r>
            <a:endParaRPr/>
          </a:p>
        </p:txBody>
      </p:sp>
      <p:sp>
        <p:nvSpPr>
          <p:cNvPr id="430" name="Google Shape;430;g35ae2d2cb30_0_21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1" name="Google Shape;431;g35ae2d2cb30_0_2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32" name="Google Shape;432;g35ae2d2cb30_0_21"/>
          <p:cNvSpPr txBox="1"/>
          <p:nvPr/>
        </p:nvSpPr>
        <p:spPr>
          <a:xfrm>
            <a:off x="1242275" y="1609875"/>
            <a:ext cx="25539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按下運行開始生成影片</a:t>
            </a:r>
            <a:endParaRPr sz="1600"/>
          </a:p>
        </p:txBody>
      </p:sp>
      <p:pic>
        <p:nvPicPr>
          <p:cNvPr id="433" name="Google Shape;433;g35ae2d2cb30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7825" y="2009751"/>
            <a:ext cx="7802127" cy="39886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5ae2d2cb30_0_21"/>
          <p:cNvSpPr/>
          <p:nvPr/>
        </p:nvSpPr>
        <p:spPr>
          <a:xfrm>
            <a:off x="9903700" y="2330875"/>
            <a:ext cx="749400" cy="295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g3bae45797ab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2350" y="1177285"/>
            <a:ext cx="2559750" cy="450343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3bae45797ab_3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Colab</a:t>
            </a:r>
            <a:endParaRPr/>
          </a:p>
        </p:txBody>
      </p:sp>
      <p:sp>
        <p:nvSpPr>
          <p:cNvPr id="441" name="Google Shape;441;g3bae45797ab_3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2" name="Google Shape;442;g3bae45797ab_3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43" name="Google Shape;443;g3bae45797ab_3_0"/>
          <p:cNvSpPr/>
          <p:nvPr/>
        </p:nvSpPr>
        <p:spPr>
          <a:xfrm>
            <a:off x="9241050" y="4072025"/>
            <a:ext cx="1787400" cy="989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bae45797ab_3_0"/>
          <p:cNvSpPr txBox="1"/>
          <p:nvPr/>
        </p:nvSpPr>
        <p:spPr>
          <a:xfrm>
            <a:off x="947750" y="1585550"/>
            <a:ext cx="40848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生成完畢後，回到Colab找到生成的影片</a:t>
            </a:r>
            <a:endParaRPr sz="1600"/>
          </a:p>
        </p:txBody>
      </p:sp>
      <p:sp>
        <p:nvSpPr>
          <p:cNvPr id="445" name="Google Shape;445;g3bae45797ab_3_0"/>
          <p:cNvSpPr/>
          <p:nvPr/>
        </p:nvSpPr>
        <p:spPr>
          <a:xfrm>
            <a:off x="8792350" y="2237950"/>
            <a:ext cx="334200" cy="1989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bae45797ab_3_0"/>
          <p:cNvSpPr/>
          <p:nvPr/>
        </p:nvSpPr>
        <p:spPr>
          <a:xfrm>
            <a:off x="3365338" y="2364300"/>
            <a:ext cx="5149500" cy="3390900"/>
          </a:xfrm>
          <a:prstGeom prst="wedgeRectCallout">
            <a:avLst>
              <a:gd fmla="val 62991" name="adj1"/>
              <a:gd fmla="val 1485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7" name="Google Shape;447;g3bae45797ab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1464" y="2623878"/>
            <a:ext cx="4651500" cy="2878422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g3bae45797ab_3_0"/>
          <p:cNvSpPr txBox="1"/>
          <p:nvPr/>
        </p:nvSpPr>
        <p:spPr>
          <a:xfrm>
            <a:off x="3236792" y="3189018"/>
            <a:ext cx="10521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生成影片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9" name="Google Shape;449;g3bae45797ab_3_0"/>
          <p:cNvSpPr txBox="1"/>
          <p:nvPr/>
        </p:nvSpPr>
        <p:spPr>
          <a:xfrm>
            <a:off x="3236792" y="3634343"/>
            <a:ext cx="10521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生成</a:t>
            </a:r>
            <a:r>
              <a:rPr lang="zh-TW">
                <a:solidFill>
                  <a:schemeClr val="lt1"/>
                </a:solidFill>
              </a:rPr>
              <a:t>圖</a:t>
            </a:r>
            <a:r>
              <a:rPr lang="zh-TW">
                <a:solidFill>
                  <a:schemeClr val="lt1"/>
                </a:solidFill>
              </a:rPr>
              <a:t>片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0" name="Google Shape;450;g3bae45797ab_3_0"/>
          <p:cNvSpPr txBox="1"/>
          <p:nvPr/>
        </p:nvSpPr>
        <p:spPr>
          <a:xfrm>
            <a:off x="3236792" y="4639743"/>
            <a:ext cx="10521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生成圖片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1" name="Google Shape;451;g3bae45797ab_3_0"/>
          <p:cNvSpPr/>
          <p:nvPr/>
        </p:nvSpPr>
        <p:spPr>
          <a:xfrm>
            <a:off x="4363700" y="4049400"/>
            <a:ext cx="2061300" cy="92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bae45797ab_3_0"/>
          <p:cNvSpPr/>
          <p:nvPr/>
        </p:nvSpPr>
        <p:spPr>
          <a:xfrm rot="10800000">
            <a:off x="2729450" y="4245375"/>
            <a:ext cx="1492800" cy="234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bae45797ab_3_0"/>
          <p:cNvSpPr txBox="1"/>
          <p:nvPr/>
        </p:nvSpPr>
        <p:spPr>
          <a:xfrm>
            <a:off x="169542" y="4152376"/>
            <a:ext cx="25599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下載這兩個檔案放在作業網頁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e89b14a99f_1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ComfyUI</a:t>
            </a:r>
            <a:endParaRPr/>
          </a:p>
        </p:txBody>
      </p:sp>
      <p:sp>
        <p:nvSpPr>
          <p:cNvPr id="460" name="Google Shape;460;g3e89b14a99f_1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e89b14a99f_1_0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zh-TW" sz="1600"/>
              <a:t>如果生成結束後，沒有在colab資料夾裝的output出現成品，請按下兩個 Video Combine的執行鍵</a:t>
            </a:r>
            <a:endParaRPr sz="1600"/>
          </a:p>
        </p:txBody>
      </p:sp>
      <p:sp>
        <p:nvSpPr>
          <p:cNvPr id="462" name="Google Shape;462;g3e89b14a99f_1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63" name="Google Shape;463;g3e89b14a99f_1_0" title="螢幕擷取畫面 2026-06-05 1402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13" y="2222475"/>
            <a:ext cx="5624899" cy="415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g3e89b14a99f_1_0" title="螢幕擷取畫面 2026-06-05 1402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4714" y="2222463"/>
            <a:ext cx="5456676" cy="4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g3e89b14a99f_1_0"/>
          <p:cNvSpPr/>
          <p:nvPr/>
        </p:nvSpPr>
        <p:spPr>
          <a:xfrm>
            <a:off x="4112125" y="3779025"/>
            <a:ext cx="501600" cy="437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e89b14a99f_1_0"/>
          <p:cNvSpPr/>
          <p:nvPr/>
        </p:nvSpPr>
        <p:spPr>
          <a:xfrm>
            <a:off x="8540850" y="3779025"/>
            <a:ext cx="501600" cy="437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51f061ed9b_0_655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Sample</a:t>
            </a:r>
            <a:endParaRPr/>
          </a:p>
        </p:txBody>
      </p:sp>
      <p:sp>
        <p:nvSpPr>
          <p:cNvPr id="472" name="Google Shape;472;g351f061ed9b_0_65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73" name="Google Shape;473;g351f061ed9b_0_65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74" name="Google Shape;474;g351f061ed9b_0_655" title="GIF_00001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9417" y="218972"/>
            <a:ext cx="3918175" cy="587727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51f061ed9b_0_655"/>
          <p:cNvSpPr txBox="1"/>
          <p:nvPr/>
        </p:nvSpPr>
        <p:spPr>
          <a:xfrm>
            <a:off x="209550" y="3059473"/>
            <a:ext cx="6065100" cy="29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b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"0" :"spring day, floral skirt, wind, hair accessories, smile",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"10" :"spring day, floral skirt, wind, hair accessories, smile",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"20" :"spring day, floral skirt, wind, hair accessories, smile",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"30" :"summer day, short-sleeved dress, straw hat",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"40" :"summer day, short-sleeved dress, straw hat",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"50" :"summer day, short-sleeved dress, straw hat",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"60" :"fall day, sweater, slim jeans, wind, fallen leaves",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"70" :"fall day, sweater, slim jeans, wind, fallen leaves",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"80" :"fall day, sweater, slim jeans, wind, fallen leaves",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"90" :"winter, down jacket, woolen hat, ear protection gloves, snowflakes",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"100" :"winter, down jacket, woolen hat, ear protection gloves, snowflakes",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"110" :"winter, down jacket, woolen hat, ear protection gloves, snowflakes"</a:t>
            </a:r>
            <a:endParaRPr>
              <a:solidFill>
                <a:srgbClr val="00FFFF"/>
              </a:solidFill>
              <a:highlight>
                <a:srgbClr val="FF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89b14a99f_1_14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Sample</a:t>
            </a:r>
            <a:endParaRPr/>
          </a:p>
        </p:txBody>
      </p:sp>
      <p:sp>
        <p:nvSpPr>
          <p:cNvPr id="482" name="Google Shape;482;g3e89b14a99f_1_1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e89b14a99f_1_1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84" name="Google Shape;484;g3e89b14a99f_1_14"/>
          <p:cNvSpPr txBox="1"/>
          <p:nvPr/>
        </p:nvSpPr>
        <p:spPr>
          <a:xfrm>
            <a:off x="107150" y="3624050"/>
            <a:ext cx="7500900" cy="23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br>
              <a:rPr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"0" :"1boy, handsome, short hair, workwear jacket, cargo pants, morning beach, ocean waves, clear sky, walking",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"10" :"1boy, handsome, short hair, workwear jacket, cargo pants, morning beach, ocean waves, clear sky, walking",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"20" :"1boy, handsome, short hair, workwear jacket, cargo pants, morning beach, ocean waves, clear sky, walking",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"30" :"1boy, handsome, short hair, workwear vest, white t-shirt, cargo shorts, sunny beach, ocean, blue sky, wearing sunglasses",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"40" :"1boy, handsome, short hair, workwear vest, white t-shirt, cargo shorts, sunny beach, ocean, blue sky, wearing sunglasses",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"50" :"1boy, handsome, short hair, workwear vest, white t-shirt, cargo shorts, sunny beach, ocean, blue sky, wearing sunglasses",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"60" :"1boy, handsome, short hair, unbuttoned workwear shirt, cargo pants, sunset beach, golden hour, wind, dramatic lighting",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"70" :"1boy, handsome, short hair, unbuttoned workwear shirt, cargo pants, sunset beach, golden hour, wind, dramatic lighting",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"80" :"1boy, handsome, short hair, unbuttoned workwear shirt, cargo pants, sunset beach, golden hour, wind, dramatic lighting",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"90" :"1boy, handsome, short hair, dark workwear jacket, cargo pants, night beach, starry sky, moonlight, ocean reflections",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"100" :"1boy, handsome, short hair, dark workwear jacket, cargo pants, night beach, starry sky, moonlight, ocean reflections",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"110" :"1boy, handsome, short hair, dark workwear jacket, cargo pants, night beach, starry sky, moonlight, ocean reflections"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e89b14a99f_1_14" title="GIF_00001 (1)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0925" y="188881"/>
            <a:ext cx="3909149" cy="586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89b14a99f_1_25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Sample</a:t>
            </a:r>
            <a:endParaRPr/>
          </a:p>
        </p:txBody>
      </p:sp>
      <p:sp>
        <p:nvSpPr>
          <p:cNvPr id="492" name="Google Shape;492;g3e89b14a99f_1_2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e89b14a99f_1_2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94" name="Google Shape;494;g3e89b14a99f_1_25" title="GIF_00004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650" y="71425"/>
            <a:ext cx="4015900" cy="60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g3e89b14a99f_1_25"/>
          <p:cNvSpPr txBox="1"/>
          <p:nvPr/>
        </p:nvSpPr>
        <p:spPr>
          <a:xfrm>
            <a:off x="166675" y="3243075"/>
            <a:ext cx="8370000" cy="27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b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"0" :"1girl, black hair, ponytail, opaque white cotton sundress, modest, morning beach, clear sky, soft morning light, ocean waves, walking",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"10" :"1girl, black hair, ponytail, opaque white cotton sundress, modest, morning beach, clear sky, soft morning light, ocean waves, walking",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"20" :"1girl, black hair, ponytail, opaque white cotton sundress, modest, morning beach, clear sky, soft morning light, ocean waves, walking",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"30" :"1girl, black hair, ponytail, opaque white cotton sundress, modest, sunny beach, noon, bright sunlight, clear blue sky, sparkling water",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"40" :"1girl, black hair, ponytail, opaque white cotton sundress, modest, sunny beach, noon, bright sunlight, clear blue sky, sparkling water",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"50" :"1girl, black hair, ponytail, opaque white cotton sundress, modest, sunny beach, noon, bright sunlight, clear blue sky, sparkling water",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"60" :"1girl, black hair, ponytail, opaque white cotton sundress, modest, sunset beach, golden hour, warm lighting, dramatic sky, ocean breeze",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"70" :"1girl, black hair, ponytail, opaque white cotton sundress, modest, sunset beach, golden hour, warm lighting, dramatic sky, ocean breeze",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"80" :"1girl, black hair, ponytail, opaque white cotton sundress, modest, sunset beach, golden hour, warm lighting, dramatic sky, ocean breeze",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"90" :"1girl, black hair, ponytail, opaque white cotton sundress, modest, night beach, starry sky, moonlight, dark ocean, glowing reflections",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"100" :"1girl, black hair, ponytail, opaque white cotton sundress, modest, night beach, starry sky, moonlight, dark ocean, glowing reflections",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"110" :"1girl, black hair, ponytail, opaque white cotton sundress, modest, night beach, starry sky, moonlight, dark ocean, glowing reflections"</a:t>
            </a:r>
            <a:b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Prompt</a:t>
            </a:r>
            <a:b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(bad quality, worst quality:1.2), sheer, transparent, translucent, revealing, wet clothes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5689215a1_0_46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1" name="Google Shape;501;g3e5689215a1_0_46"/>
          <p:cNvSpPr txBox="1"/>
          <p:nvPr>
            <p:ph type="ctrTitle"/>
          </p:nvPr>
        </p:nvSpPr>
        <p:spPr>
          <a:xfrm>
            <a:off x="966803" y="2241425"/>
            <a:ext cx="81849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避免Colab閒置</a:t>
            </a:r>
            <a:endParaRPr/>
          </a:p>
        </p:txBody>
      </p:sp>
      <p:sp>
        <p:nvSpPr>
          <p:cNvPr id="502" name="Google Shape;502;g3e5689215a1_0_46"/>
          <p:cNvSpPr txBox="1"/>
          <p:nvPr>
            <p:ph idx="1" type="body"/>
          </p:nvPr>
        </p:nvSpPr>
        <p:spPr>
          <a:xfrm>
            <a:off x="966788" y="808035"/>
            <a:ext cx="37482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</a:pPr>
            <a:r>
              <a:rPr lang="zh-TW"/>
              <a:t>03</a:t>
            </a:r>
            <a:endParaRPr/>
          </a:p>
        </p:txBody>
      </p:sp>
      <p:sp>
        <p:nvSpPr>
          <p:cNvPr id="503" name="Google Shape;503;g3e5689215a1_0_46"/>
          <p:cNvSpPr txBox="1"/>
          <p:nvPr>
            <p:ph idx="2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e5689215a1_0_1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如何避免斷線</a:t>
            </a:r>
            <a:endParaRPr/>
          </a:p>
        </p:txBody>
      </p:sp>
      <p:sp>
        <p:nvSpPr>
          <p:cNvPr id="510" name="Google Shape;510;g3e5689215a1_0_1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e5689215a1_0_10"/>
          <p:cNvSpPr txBox="1"/>
          <p:nvPr>
            <p:ph idx="2" type="body"/>
          </p:nvPr>
        </p:nvSpPr>
        <p:spPr>
          <a:xfrm>
            <a:off x="677488" y="1532334"/>
            <a:ext cx="10102800" cy="408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/>
              <a:t>執行 Colab 中的</a:t>
            </a:r>
            <a:r>
              <a:rPr b="1" lang="zh-TW" sz="1800"/>
              <a:t>整段</a:t>
            </a:r>
            <a:r>
              <a:rPr lang="zh-TW" sz="1800"/>
              <a:t>程式碼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/>
              <a:t>看到畫面上印出 Endpoint IP 和 ComfyUI 網址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/>
              <a:t>在 Colab 的網頁按下鍵盤的 F12，切換到 Console 頁籤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/>
              <a:t>複製並貼上防斷線腳本(下一張投影片)，按 Enter 執行</a:t>
            </a:r>
            <a:endParaRPr sz="1800"/>
          </a:p>
        </p:txBody>
      </p:sp>
      <p:sp>
        <p:nvSpPr>
          <p:cNvPr id="512" name="Google Shape;512;g3e5689215a1_0_1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13" name="Google Shape;513;g3e5689215a1_0_10" title="f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7825" y="1250575"/>
            <a:ext cx="4917851" cy="4652499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g3e5689215a1_0_10"/>
          <p:cNvSpPr/>
          <p:nvPr/>
        </p:nvSpPr>
        <p:spPr>
          <a:xfrm>
            <a:off x="8001000" y="1176350"/>
            <a:ext cx="868200" cy="44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e5689215a1_0_10"/>
          <p:cNvSpPr/>
          <p:nvPr/>
        </p:nvSpPr>
        <p:spPr>
          <a:xfrm>
            <a:off x="5628200" y="5609037"/>
            <a:ext cx="1229700" cy="234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e5689215a1_0_10"/>
          <p:cNvSpPr txBox="1"/>
          <p:nvPr/>
        </p:nvSpPr>
        <p:spPr>
          <a:xfrm>
            <a:off x="4702210" y="5526375"/>
            <a:ext cx="10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貼在這裡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e5689215a1_0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防斷線腳本</a:t>
            </a:r>
            <a:endParaRPr/>
          </a:p>
        </p:txBody>
      </p:sp>
      <p:sp>
        <p:nvSpPr>
          <p:cNvPr id="523" name="Google Shape;523;g3e5689215a1_0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e5689215a1_0_0"/>
          <p:cNvSpPr txBox="1"/>
          <p:nvPr>
            <p:ph idx="2" type="body"/>
          </p:nvPr>
        </p:nvSpPr>
        <p:spPr>
          <a:xfrm>
            <a:off x="995550" y="2094888"/>
            <a:ext cx="10200900" cy="2114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rgbClr val="FFB86C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TW" sz="1600">
                <a:solidFill>
                  <a:srgbClr val="6FC1FF"/>
                </a:solidFill>
                <a:latin typeface="Consolas"/>
                <a:ea typeface="Consolas"/>
                <a:cs typeface="Consolas"/>
                <a:sym typeface="Consolas"/>
              </a:rPr>
              <a:t>ClickConnect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(){</a:t>
            </a:r>
            <a:endParaRPr sz="16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TW" sz="1600">
                <a:solidFill>
                  <a:srgbClr val="FF9AC1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zh-TW" sz="1600">
                <a:solidFill>
                  <a:srgbClr val="6FC1FF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zh-TW" sz="1600">
                <a:solidFill>
                  <a:srgbClr val="19F9D8"/>
                </a:solidFill>
                <a:latin typeface="Consolas"/>
                <a:ea typeface="Consolas"/>
                <a:cs typeface="Consolas"/>
                <a:sym typeface="Consolas"/>
              </a:rPr>
              <a:t>"正在點擊連線按鈕以防斷線..."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TW" sz="1600">
                <a:solidFill>
                  <a:srgbClr val="FFB86C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TW" sz="1600">
                <a:solidFill>
                  <a:srgbClr val="FF9AC1"/>
                </a:solidFill>
                <a:latin typeface="Consolas"/>
                <a:ea typeface="Consolas"/>
                <a:cs typeface="Consolas"/>
                <a:sym typeface="Consolas"/>
              </a:rPr>
              <a:t>colabConnectButton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zh-TW" sz="1600">
                <a:solidFill>
                  <a:srgbClr val="FF9AC1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zh-TW" sz="1600">
                <a:solidFill>
                  <a:srgbClr val="6FC1FF"/>
                </a:solidFill>
                <a:latin typeface="Consolas"/>
                <a:ea typeface="Consolas"/>
                <a:cs typeface="Consolas"/>
                <a:sym typeface="Consolas"/>
              </a:rPr>
              <a:t>querySelector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zh-TW" sz="1600">
                <a:solidFill>
                  <a:srgbClr val="19F9D8"/>
                </a:solidFill>
                <a:latin typeface="Consolas"/>
                <a:ea typeface="Consolas"/>
                <a:cs typeface="Consolas"/>
                <a:sym typeface="Consolas"/>
              </a:rPr>
              <a:t>"#top-toolbar colab-connect-button"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TW" sz="1600">
                <a:solidFill>
                  <a:srgbClr val="FF75B5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(colabConnectButton) </a:t>
            </a:r>
            <a:r>
              <a:rPr lang="zh-TW" sz="1600">
                <a:solidFill>
                  <a:srgbClr val="FF9AC1"/>
                </a:solidFill>
                <a:latin typeface="Consolas"/>
                <a:ea typeface="Consolas"/>
                <a:cs typeface="Consolas"/>
                <a:sym typeface="Consolas"/>
              </a:rPr>
              <a:t>colabConnectButton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zh-TW" sz="1600">
                <a:solidFill>
                  <a:srgbClr val="6FC1FF"/>
                </a:solidFill>
                <a:latin typeface="Consolas"/>
                <a:ea typeface="Consolas"/>
                <a:cs typeface="Consolas"/>
                <a:sym typeface="Consolas"/>
              </a:rPr>
              <a:t>click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6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6FC1FF"/>
                </a:solidFill>
                <a:latin typeface="Consolas"/>
                <a:ea typeface="Consolas"/>
                <a:cs typeface="Consolas"/>
                <a:sym typeface="Consolas"/>
              </a:rPr>
              <a:t>setInterval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(ClickConnect, </a:t>
            </a:r>
            <a:r>
              <a:rPr lang="zh-TW" sz="1600">
                <a:solidFill>
                  <a:srgbClr val="FFB86C"/>
                </a:solidFill>
                <a:latin typeface="Consolas"/>
                <a:ea typeface="Consolas"/>
                <a:cs typeface="Consolas"/>
                <a:sym typeface="Consolas"/>
              </a:rPr>
              <a:t>60000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zh-TW" sz="16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zh-TW" sz="1600">
                <a:solidFill>
                  <a:srgbClr val="676B79"/>
                </a:solidFill>
                <a:latin typeface="Consolas"/>
                <a:ea typeface="Consolas"/>
                <a:cs typeface="Consolas"/>
                <a:sym typeface="Consolas"/>
              </a:rPr>
              <a:t>// 60秒(60000毫秒)點擊一次</a:t>
            </a:r>
            <a:endParaRPr i="1" sz="1600">
              <a:solidFill>
                <a:srgbClr val="676B7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25" name="Google Shape;525;g3e5689215a1_0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6" name="Google Shape;526;g3e5689215a1_0_0"/>
          <p:cNvSpPr txBox="1"/>
          <p:nvPr/>
        </p:nvSpPr>
        <p:spPr>
          <a:xfrm>
            <a:off x="3015750" y="4644425"/>
            <a:ext cx="6160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這段 JavaScript 的程式碼，會自動每60秒刷新 Colab網頁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為了避免 ComfyUI 網頁跑太久，而被 Colab 判定為閒置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e5689215a1_0_25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跳出瀏覽器安全警告</a:t>
            </a:r>
            <a:endParaRPr/>
          </a:p>
        </p:txBody>
      </p:sp>
      <p:sp>
        <p:nvSpPr>
          <p:cNvPr id="533" name="Google Shape;533;g3e5689215a1_0_2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e5689215a1_0_25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zh-TW" sz="2000"/>
              <a:t>若出現警告，如下：</a:t>
            </a:r>
            <a:endParaRPr sz="20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zh-TW" sz="2000"/>
              <a:t>* 此警告是為了保護使用者的安全防護機制，會擋直接貼上的輸入</a:t>
            </a:r>
            <a:endParaRPr sz="2000"/>
          </a:p>
          <a:p>
            <a:pPr indent="-355600" lvl="0" marL="457200" rtl="0" algn="l">
              <a:spcBef>
                <a:spcPts val="1400"/>
              </a:spcBef>
              <a:spcAft>
                <a:spcPts val="0"/>
              </a:spcAft>
              <a:buSzPts val="2000"/>
              <a:buFont typeface="Microsoft JhengHei"/>
              <a:buAutoNum type="arabicPeriod"/>
            </a:pPr>
            <a:r>
              <a:rPr lang="zh-TW" sz="2000"/>
              <a:t>請在要貼程式碼的位置 &gt; 的後面輸入：allow pasting，並按下enter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AutoNum type="arabicPeriod"/>
            </a:pPr>
            <a:r>
              <a:rPr lang="zh-TW" sz="2000"/>
              <a:t>將防斷線腳本再次貼上</a:t>
            </a:r>
            <a:endParaRPr sz="2000"/>
          </a:p>
        </p:txBody>
      </p:sp>
      <p:sp>
        <p:nvSpPr>
          <p:cNvPr id="535" name="Google Shape;535;g3e5689215a1_0_2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36" name="Google Shape;536;g3e5689215a1_0_25" title="螢幕擷取畫面 2026-05-29 143145.png"/>
          <p:cNvPicPr preferRelativeResize="0"/>
          <p:nvPr/>
        </p:nvPicPr>
        <p:blipFill rotWithShape="1">
          <a:blip r:embed="rId3">
            <a:alphaModFix/>
          </a:blip>
          <a:srcRect b="74108" l="3131" r="3122" t="4852"/>
          <a:stretch/>
        </p:blipFill>
        <p:spPr>
          <a:xfrm>
            <a:off x="841850" y="2226275"/>
            <a:ext cx="10508325" cy="6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e5689215a1_0_36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成功畫面</a:t>
            </a:r>
            <a:endParaRPr/>
          </a:p>
        </p:txBody>
      </p:sp>
      <p:sp>
        <p:nvSpPr>
          <p:cNvPr id="543" name="Google Shape;543;g3e5689215a1_0_36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e5689215a1_0_36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成功貼上後會跳出：14936(計時器的 ID 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60 秒後會跳出：正在點擊連線按鈕以防斷線...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每60秒，前面的數字會 +1</a:t>
            </a:r>
            <a:endParaRPr sz="1800"/>
          </a:p>
        </p:txBody>
      </p:sp>
      <p:sp>
        <p:nvSpPr>
          <p:cNvPr id="545" name="Google Shape;545;g3e5689215a1_0_36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46" name="Google Shape;546;g3e5689215a1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650" y="3124064"/>
            <a:ext cx="8474724" cy="2573486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g3e5689215a1_0_36"/>
          <p:cNvSpPr/>
          <p:nvPr/>
        </p:nvSpPr>
        <p:spPr>
          <a:xfrm>
            <a:off x="1663850" y="5338825"/>
            <a:ext cx="3819600" cy="358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51f061ed9b_0_28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53" name="Google Shape;553;g351f061ed9b_0_281"/>
          <p:cNvSpPr txBox="1"/>
          <p:nvPr>
            <p:ph type="ctrTitle"/>
          </p:nvPr>
        </p:nvSpPr>
        <p:spPr>
          <a:xfrm>
            <a:off x="966788" y="2241418"/>
            <a:ext cx="63564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繳交資訊</a:t>
            </a:r>
            <a:endParaRPr/>
          </a:p>
        </p:txBody>
      </p:sp>
      <p:sp>
        <p:nvSpPr>
          <p:cNvPr id="554" name="Google Shape;554;g351f061ed9b_0_281"/>
          <p:cNvSpPr txBox="1"/>
          <p:nvPr>
            <p:ph idx="1" type="body"/>
          </p:nvPr>
        </p:nvSpPr>
        <p:spPr>
          <a:xfrm>
            <a:off x="966788" y="808035"/>
            <a:ext cx="37482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</a:pPr>
            <a:r>
              <a:rPr lang="zh-TW"/>
              <a:t>04</a:t>
            </a:r>
            <a:endParaRPr/>
          </a:p>
        </p:txBody>
      </p:sp>
      <p:sp>
        <p:nvSpPr>
          <p:cNvPr id="555" name="Google Shape;555;g351f061ed9b_0_281"/>
          <p:cNvSpPr txBox="1"/>
          <p:nvPr>
            <p:ph idx="2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51f061ed9b_0_288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rPr lang="zh-TW"/>
              <a:t>Regulations</a:t>
            </a:r>
            <a:endParaRPr/>
          </a:p>
        </p:txBody>
      </p:sp>
      <p:sp>
        <p:nvSpPr>
          <p:cNvPr id="561" name="Google Shape;561;g351f061ed9b_0_288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62" name="Google Shape;562;g351f061ed9b_0_288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Char char="•"/>
            </a:pPr>
            <a:r>
              <a:rPr b="1" lang="zh-TW" sz="2400">
                <a:solidFill>
                  <a:srgbClr val="FF0000"/>
                </a:solidFill>
              </a:rPr>
              <a:t>You should finish your homework on your own. 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Char char="•"/>
            </a:pPr>
            <a:r>
              <a:rPr b="1" lang="zh-TW" sz="2400">
                <a:solidFill>
                  <a:srgbClr val="FF0000"/>
                </a:solidFill>
              </a:rPr>
              <a:t>Do not share your codes with any living creatures. 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Char char="•"/>
            </a:pPr>
            <a:r>
              <a:rPr b="1" lang="zh-TW" sz="2400">
                <a:solidFill>
                  <a:srgbClr val="FF0000"/>
                </a:solidFill>
              </a:rPr>
              <a:t>Your HW will get 0 pt if you violate any of the above rules. 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Char char="•"/>
            </a:pPr>
            <a:r>
              <a:rPr b="1" lang="zh-TW" sz="2400">
                <a:solidFill>
                  <a:srgbClr val="FF0000"/>
                </a:solidFill>
              </a:rPr>
              <a:t>Professor &amp; TAs preserve the rights to change the rules &amp; grades.</a:t>
            </a:r>
            <a:endParaRPr/>
          </a:p>
          <a:p>
            <a:pPr indent="-28575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63" name="Google Shape;563;g351f061ed9b_0_288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51f061ed9b_0_295"/>
          <p:cNvSpPr txBox="1"/>
          <p:nvPr>
            <p:ph type="ctrTitle"/>
          </p:nvPr>
        </p:nvSpPr>
        <p:spPr>
          <a:xfrm>
            <a:off x="967109" y="2419102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569" name="Google Shape;569;g351f061ed9b_0_29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章節07</a:t>
            </a:r>
            <a:endParaRPr/>
          </a:p>
        </p:txBody>
      </p:sp>
      <p:sp>
        <p:nvSpPr>
          <p:cNvPr id="570" name="Google Shape;570;g351f061ed9b_0_295"/>
          <p:cNvSpPr txBox="1"/>
          <p:nvPr>
            <p:ph idx="2" type="body"/>
          </p:nvPr>
        </p:nvSpPr>
        <p:spPr>
          <a:xfrm>
            <a:off x="966788" y="808035"/>
            <a:ext cx="37482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05</a:t>
            </a:r>
            <a:endParaRPr/>
          </a:p>
        </p:txBody>
      </p:sp>
      <p:sp>
        <p:nvSpPr>
          <p:cNvPr id="571" name="Google Shape;571;g351f061ed9b_0_29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72" name="Google Shape;572;g351f061ed9b_0_295"/>
          <p:cNvSpPr txBox="1"/>
          <p:nvPr>
            <p:ph idx="3" type="body"/>
          </p:nvPr>
        </p:nvSpPr>
        <p:spPr>
          <a:xfrm>
            <a:off x="967109" y="3124542"/>
            <a:ext cx="101913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eb10e61a34_10_70"/>
          <p:cNvSpPr txBox="1"/>
          <p:nvPr>
            <p:ph type="ctrTitle"/>
          </p:nvPr>
        </p:nvSpPr>
        <p:spPr>
          <a:xfrm>
            <a:off x="953359" y="824935"/>
            <a:ext cx="8747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579" name="Google Shape;579;g3eb10e61a34_10_70"/>
          <p:cNvSpPr txBox="1"/>
          <p:nvPr>
            <p:ph idx="1" type="body"/>
          </p:nvPr>
        </p:nvSpPr>
        <p:spPr>
          <a:xfrm>
            <a:off x="1242281" y="6207371"/>
            <a:ext cx="10370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80" name="Google Shape;580;g3eb10e61a34_10_70"/>
          <p:cNvSpPr txBox="1"/>
          <p:nvPr>
            <p:ph idx="2" type="body"/>
          </p:nvPr>
        </p:nvSpPr>
        <p:spPr>
          <a:xfrm>
            <a:off x="954088" y="1618596"/>
            <a:ext cx="10102800" cy="4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76250" lvl="0" marL="609600" rtl="0" algn="l">
              <a:lnSpc>
                <a:spcPct val="200000"/>
              </a:lnSpc>
              <a:spcBef>
                <a:spcPts val="1500"/>
              </a:spcBef>
              <a:spcAft>
                <a:spcPts val="0"/>
              </a:spcAft>
              <a:buSzPts val="2700"/>
              <a:buChar char="●"/>
            </a:pPr>
            <a:r>
              <a:rPr lang="zh-TW"/>
              <a:t>TA Email</a:t>
            </a:r>
            <a:endParaRPr/>
          </a:p>
          <a:p>
            <a:pPr indent="-457200" lvl="1" marL="1219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rosoft JhengHei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賴秋彤 </a:t>
            </a:r>
            <a:r>
              <a:rPr lang="zh-TW" sz="21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t114598033@ntut.org.tw</a:t>
            </a:r>
            <a:endParaRPr/>
          </a:p>
          <a:p>
            <a:pPr indent="-47625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Email 標題(</a:t>
            </a:r>
            <a:r>
              <a:rPr lang="zh-TW"/>
              <a:t>主旨)</a:t>
            </a:r>
            <a:endParaRPr/>
          </a:p>
          <a:p>
            <a:pPr indent="-457200" lvl="1" marL="1219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請按照此格式(X為作業編號)</a:t>
            </a:r>
            <a:r>
              <a:rPr lang="zh-TW"/>
              <a:t>：</a:t>
            </a: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[ai2026s-hwX-學號]</a:t>
            </a:r>
            <a:endParaRPr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81" name="Google Shape;581;g3eb10e61a34_10_70"/>
          <p:cNvSpPr txBox="1"/>
          <p:nvPr>
            <p:ph idx="12" type="sldNum"/>
          </p:nvPr>
        </p:nvSpPr>
        <p:spPr>
          <a:xfrm>
            <a:off x="701467" y="6153567"/>
            <a:ext cx="540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章節頁_章節1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空白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首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2021-11-03T01:57:43Z</dcterms:created>
  <dc:creator>Microsoft Office User</dc:creator>
</cp:coreProperties>
</file>