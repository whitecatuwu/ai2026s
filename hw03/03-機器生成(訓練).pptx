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8" r:id="rId7"/>
    <p:sldMasterId id="2147483672" r:id="rId8"/>
    <p:sldMasterId id="2147483681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</p:sldIdLst>
  <p:sldSz cy="5143500" cx="9144000"/>
  <p:notesSz cx="6858000" cy="9144000"/>
  <p:embeddedFontLst>
    <p:embeddedFont>
      <p:font typeface="Mulish ExtraLight"/>
      <p:regular r:id="rId43"/>
      <p:bold r:id="rId44"/>
      <p:italic r:id="rId45"/>
      <p:boldItalic r:id="rId46"/>
    </p:embeddedFont>
    <p:embeddedFont>
      <p:font typeface="Mulish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1" roundtripDataSignature="AMtx7mjIXvPO/2JybWFhUED+SxD1f3oF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font" Target="fonts/MulishExtraLight-bold.fntdata"/><Relationship Id="rId43" Type="http://schemas.openxmlformats.org/officeDocument/2006/relationships/font" Target="fonts/MulishExtraLight-regular.fntdata"/><Relationship Id="rId46" Type="http://schemas.openxmlformats.org/officeDocument/2006/relationships/font" Target="fonts/MulishExtraLight-boldItalic.fntdata"/><Relationship Id="rId45" Type="http://schemas.openxmlformats.org/officeDocument/2006/relationships/font" Target="fonts/MulishExtraLight-italic.fntdata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font" Target="fonts/Mulish-bold.fntdata"/><Relationship Id="rId47" Type="http://schemas.openxmlformats.org/officeDocument/2006/relationships/font" Target="fonts/Mulish-regular.fntdata"/><Relationship Id="rId49" Type="http://schemas.openxmlformats.org/officeDocument/2006/relationships/font" Target="fonts/Mulish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customschemas.google.com/relationships/presentationmetadata" Target="metadata"/><Relationship Id="rId50" Type="http://schemas.openxmlformats.org/officeDocument/2006/relationships/font" Target="fonts/Mulish-boldItalic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b="1" lang="zh-TW" sz="3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圖形識別</a:t>
            </a:r>
            <a:endParaRPr/>
          </a:p>
        </p:txBody>
      </p:sp>
      <p:sp>
        <p:nvSpPr>
          <p:cNvPr id="187" name="Google Shape;1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cf1ea64f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bcf1ea64f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cf1ea64fb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bcf1ea64fb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cf1ea64fb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bcf1ea64fb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95f1055b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95f1055b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332" name="Google Shape;3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cf1ea64fb_0_4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bcf1ea64fb_0_4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cf1ea64fb_0_9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bcf1ea64fb_0_9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cf1ea64fb_0_9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cf1ea64fb_0_9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cf1ea64fb_0_9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3bcf1ea64fb_0_9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cf1ea64fb_0_9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3bcf1ea64fb_0_9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cf1ea64fb_0_9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bcf1ea64fb_0_9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cf1ea64fb_0_9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cf1ea64fb_0_9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bcf1ea64fb_0_9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bcf1ea64fb_0_9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cf1ea64fb_0_9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bcf1ea64fb_0_9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bcf1ea64fb_0_9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cf1ea64fb_0_9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bcf1ea64fb_0_9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3bcf1ea64fb_0_9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cf1ea64fb_0_9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bcf1ea64fb_0_9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bcf1ea64fb_0_9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cf1ea64fb_0_9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bcf1ea64fb_0_9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cf1ea64fb_0_9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cf1ea64fb_0_10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bcf1ea64fb_0_10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bcf1ea64fb_0_10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cf1ea64fb_0_10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bcf1ea64fb_0_10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g3bcf1ea64fb_0_10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cf1ea64fb_0_10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bcf1ea64fb_0_10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g3bcf1ea64fb_0_10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cf1ea64fb_0_10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bcf1ea64fb_0_10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bcf1ea64fb_0_10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bcf1ea64fb_0_10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bcf1ea64fb_0_10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g3bcf1ea64fb_0_10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cf1ea64fb_0_10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bcf1ea64fb_0_10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cf1ea64fb_0_10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bcf1ea64fb_0_10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bcf1ea64fb_0_10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g3bcf1ea64fb_0_10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bcf1ea64fb_0_10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bcf1ea64fb_0_10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cf1ea64fb_0_10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cf1ea64fb_0_15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bcf1ea64fb_0_15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cf1ea64fb_0_15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65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5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5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5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9"/>
          <p:cNvSpPr txBox="1"/>
          <p:nvPr>
            <p:ph type="ctrTitle"/>
          </p:nvPr>
        </p:nvSpPr>
        <p:spPr>
          <a:xfrm>
            <a:off x="725332" y="1606129"/>
            <a:ext cx="4767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9"/>
          <p:cNvSpPr txBox="1"/>
          <p:nvPr>
            <p:ph idx="1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9"/>
          <p:cNvSpPr txBox="1"/>
          <p:nvPr>
            <p:ph idx="2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0"/>
          <p:cNvSpPr txBox="1"/>
          <p:nvPr>
            <p:ph idx="1" type="body"/>
          </p:nvPr>
        </p:nvSpPr>
        <p:spPr>
          <a:xfrm>
            <a:off x="725332" y="1621650"/>
            <a:ext cx="4767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80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0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" name="Google Shape;22;p67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7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67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02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102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103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03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03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4efd27c5af_0_103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4efd27c5af_0_103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g34efd27c5af_0_103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4efd27c5af_0_103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g34efd27c5af_0_103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g34efd27c5af_0_1039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g34efd27c5af_0_103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efd27c5af_0_1044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4efd27c5af_0_104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g34efd27c5af_0_1044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g34efd27c5af_0_104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efd27c5af_0_1049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g34efd27c5af_0_104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efd27c5af_0_1052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34efd27c5af_0_1052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4efd27c5af_0_1052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4efd27c5af_0_10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efd27c5af_0_1057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g34efd27c5af_0_1057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4efd27c5af_0_105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g34efd27c5af_0_1057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efd27c5af_0_1062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4efd27c5af_0_106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4efd27c5af_0_106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efd27c5af_0_106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g34efd27c5af_0_106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f1ea64fb_0_435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bcf1ea64fb_0_43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bcf1ea64fb_0_435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bcf1ea64fb_0_43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cf1ea64fb_0_44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8" name="Google Shape;78;g3bcf1ea64fb_0_440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bcf1ea64fb_0_440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bcf1ea64fb_0_440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cf1ea64fb_0_445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bcf1ea64fb_0_44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bcf1ea64fb_0_445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bcf1ea64fb_0_44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6" name="Google Shape;86;g3bcf1ea64fb_0_445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f1ea64fb_0_1426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bcf1ea64fb_0_142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bcf1ea64fb_0_1426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bcf1ea64fb_0_142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g3bcf1ea64fb_0_1426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f1ea64fb_0_143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g3bcf1ea64fb_0_143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bcf1ea64fb_0_1432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bcf1ea64fb_0_143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f1ea64fb_0_143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1" name="Google Shape;101;g3bcf1ea64fb_0_1437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bcf1ea64fb_0_1437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g3bcf1ea64fb_0_1437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cf1ea64fb_0_144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g3bcf1ea64fb_0_144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g3bcf1ea64fb_0_144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f1ea64fb_0_144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g3bcf1ea64fb_0_144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g3bcf1ea64fb_0_1447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g3bcf1ea64fb_0_144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f1ea64fb_0_1452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g3bcf1ea64fb_0_145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g3bcf1ea64fb_0_1452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g3bcf1ea64fb_0_14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cf1ea64fb_0_1457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g3bcf1ea64fb_0_145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f1ea64fb_0_1460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g3bcf1ea64fb_0_1460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bcf1ea64fb_0_1460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g3bcf1ea64fb_0_146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cf1ea64fb_0_1465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g3bcf1ea64fb_0_1465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bcf1ea64fb_0_146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1" name="Google Shape;131;g3bcf1ea64fb_0_1465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f1ea64fb_0_1470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g3bcf1ea64fb_0_147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g3bcf1ea64fb_0_147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f1ea64fb_0_147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g3bcf1ea64fb_0_147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cf1ea64fb_0_1546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g3bcf1ea64fb_0_154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g3bcf1ea64fb_0_1546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g3bcf1ea64fb_0_154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cf1ea64fb_0_155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g3bcf1ea64fb_0_155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g3bcf1ea64fb_0_155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cf1ea64fb_0_1555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g3bcf1ea64fb_0_155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g3bcf1ea64fb_0_1555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g3bcf1ea64fb_0_155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f1ea64fb_0_1560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g3bcf1ea64fb_0_156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f1ea64fb_0_1563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g3bcf1ea64fb_0_1563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bcf1ea64fb_0_1563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bcf1ea64fb_0_156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f1ea64fb_0_1568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g3bcf1ea64fb_0_1568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bcf1ea64fb_0_156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7" name="Google Shape;167;g3bcf1ea64fb_0_1568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cf1ea64fb_0_1573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g3bcf1ea64fb_0_157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g3bcf1ea64fb_0_157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f1ea64fb_0_157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g3bcf1ea64fb_0_157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cf1ea64fb_0_158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g3bcf1ea64fb_0_158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g3bcf1ea64fb_0_1580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g3bcf1ea64fb_0_158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cf1ea64fb_0_158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2" name="Google Shape;182;g3bcf1ea64fb_0_1585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g3bcf1ea64fb_0_1585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g3bcf1ea64fb_0_1585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5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17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0" Type="http://schemas.openxmlformats.org/officeDocument/2006/relationships/theme" Target="../theme/theme4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cf1ea64fb_0_15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8.jp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yeungchenwa/FontDiffuser?tab=readme-ov-fil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hyperlink" Target="https://github.com/lctung/fontdiffuser-finetune-colab/blob/main/FontDiffuser_finetuning.ipynb" TargetMode="External"/><Relationship Id="rId9" Type="http://schemas.openxmlformats.org/officeDocument/2006/relationships/image" Target="../media/image38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lctung/fontdiffuser-finetune-colab" TargetMode="External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hyperlink" Target="https://docs.google.com/presentation/d/1C7seAfG9sGYE4uHO4qDTiTB0wXw7okyn/edit?slide=id.g3de30b0a115_0_6#slide=id.g3de30b0a115_0_6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90" name="Google Shape;190;p1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生成字體 - 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FontDiffuser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1" name="Google Shape;191;p1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賴秋彤-</a:t>
            </a:r>
            <a:r>
              <a:rPr lang="zh-TW"/>
              <a:t>林家弘-曾詠暄</a:t>
            </a:r>
            <a:endParaRPr/>
          </a:p>
        </p:txBody>
      </p:sp>
      <p:sp>
        <p:nvSpPr>
          <p:cNvPr id="192" name="Google Shape;192;p1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98" name="Google Shape;198;p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99" name="Google Shape;199;p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205" name="Google Shape;205;p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6" name="Google Shape;206;p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7" name="Google Shape;207;p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介紹</a:t>
            </a:r>
            <a:endParaRPr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流程</a:t>
            </a:r>
            <a:endParaRPr/>
          </a:p>
          <a:p>
            <a:pPr indent="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&gt; 建立環境、專案下載、前置作業、訓練結果及推論</a:t>
            </a:r>
            <a:endParaRPr/>
          </a:p>
          <a:p>
            <a:pPr indent="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5207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介紹</a:t>
            </a:r>
            <a:endParaRPr/>
          </a:p>
        </p:txBody>
      </p:sp>
      <p:sp>
        <p:nvSpPr>
          <p:cNvPr id="213" name="Google Shape;213;p4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214" name="Google Shape;214;p4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1" name="Google Shape;221;p6"/>
          <p:cNvSpPr txBox="1"/>
          <p:nvPr>
            <p:ph type="ctrTitle"/>
          </p:nvPr>
        </p:nvSpPr>
        <p:spPr>
          <a:xfrm>
            <a:off x="691250" y="425275"/>
            <a:ext cx="5924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FontDiffuser</a:t>
            </a:r>
            <a:r>
              <a:rPr lang="zh-TW" sz="3000"/>
              <a:t>流程</a:t>
            </a:r>
            <a:endParaRPr sz="3000"/>
          </a:p>
        </p:txBody>
      </p:sp>
      <p:sp>
        <p:nvSpPr>
          <p:cNvPr id="222" name="Google Shape;222;p6"/>
          <p:cNvSpPr txBox="1"/>
          <p:nvPr/>
        </p:nvSpPr>
        <p:spPr>
          <a:xfrm>
            <a:off x="409138" y="1682713"/>
            <a:ext cx="9762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手寫體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4734837" y="1682713"/>
            <a:ext cx="1076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取得權重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733" y="2180633"/>
            <a:ext cx="1156750" cy="1156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6"/>
          <p:cNvCxnSpPr/>
          <p:nvPr/>
        </p:nvCxnSpPr>
        <p:spPr>
          <a:xfrm flipH="1" rot="10800000">
            <a:off x="1385350" y="2754963"/>
            <a:ext cx="74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6"/>
          <p:cNvCxnSpPr/>
          <p:nvPr/>
        </p:nvCxnSpPr>
        <p:spPr>
          <a:xfrm flipH="1" rot="10800000">
            <a:off x="3525550" y="2754963"/>
            <a:ext cx="74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27" name="Google Shape;227;p6"/>
          <p:cNvPicPr preferRelativeResize="0"/>
          <p:nvPr/>
        </p:nvPicPr>
        <p:blipFill rotWithShape="1">
          <a:blip r:embed="rId4">
            <a:alphaModFix/>
          </a:blip>
          <a:srcRect b="34567" l="0" r="0" t="0"/>
          <a:stretch/>
        </p:blipFill>
        <p:spPr>
          <a:xfrm>
            <a:off x="4373850" y="2145613"/>
            <a:ext cx="1832725" cy="122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6"/>
          <p:cNvPicPr preferRelativeResize="0"/>
          <p:nvPr/>
        </p:nvPicPr>
        <p:blipFill rotWithShape="1">
          <a:blip r:embed="rId5">
            <a:alphaModFix/>
          </a:blip>
          <a:srcRect b="26975" l="5761" r="68841" t="0"/>
          <a:stretch/>
        </p:blipFill>
        <p:spPr>
          <a:xfrm>
            <a:off x="393262" y="1987350"/>
            <a:ext cx="976200" cy="1350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6"/>
          <p:cNvCxnSpPr/>
          <p:nvPr/>
        </p:nvCxnSpPr>
        <p:spPr>
          <a:xfrm flipH="1" rot="10800000">
            <a:off x="6313550" y="2754963"/>
            <a:ext cx="7413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0" name="Google Shape;230;p6"/>
          <p:cNvPicPr preferRelativeResize="0"/>
          <p:nvPr/>
        </p:nvPicPr>
        <p:blipFill rotWithShape="1">
          <a:blip r:embed="rId6">
            <a:alphaModFix/>
          </a:blip>
          <a:srcRect b="26975" l="0" r="31143" t="0"/>
          <a:stretch/>
        </p:blipFill>
        <p:spPr>
          <a:xfrm>
            <a:off x="7281038" y="2145613"/>
            <a:ext cx="1156750" cy="12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6"/>
          <p:cNvSpPr txBox="1"/>
          <p:nvPr/>
        </p:nvSpPr>
        <p:spPr>
          <a:xfrm>
            <a:off x="7054876" y="1682725"/>
            <a:ext cx="1778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取得結果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2500988" y="1682713"/>
            <a:ext cx="741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700">
                <a:solidFill>
                  <a:schemeClr val="dk1"/>
                </a:solidFill>
              </a:rPr>
              <a:t>微調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4375" y="2579150"/>
            <a:ext cx="359750" cy="3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6"/>
          <p:cNvPicPr preferRelativeResize="0"/>
          <p:nvPr/>
        </p:nvPicPr>
        <p:blipFill rotWithShape="1">
          <a:blip r:embed="rId7">
            <a:alphaModFix/>
          </a:blip>
          <a:srcRect b="0" l="0" r="0" t="13321"/>
          <a:stretch/>
        </p:blipFill>
        <p:spPr>
          <a:xfrm>
            <a:off x="137250" y="3917275"/>
            <a:ext cx="1879549" cy="5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/>
          <p:nvPr/>
        </p:nvSpPr>
        <p:spPr>
          <a:xfrm>
            <a:off x="2016800" y="4056775"/>
            <a:ext cx="10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(樣本)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6"/>
          <p:cNvCxnSpPr>
            <a:endCxn id="228" idx="2"/>
          </p:cNvCxnSpPr>
          <p:nvPr/>
        </p:nvCxnSpPr>
        <p:spPr>
          <a:xfrm flipH="1" rot="10800000">
            <a:off x="879862" y="3337375"/>
            <a:ext cx="1500" cy="5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6"/>
          <p:cNvSpPr txBox="1"/>
          <p:nvPr/>
        </p:nvSpPr>
        <p:spPr>
          <a:xfrm>
            <a:off x="492400" y="3404125"/>
            <a:ext cx="81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生   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cf1ea64fb_0_0"/>
          <p:cNvSpPr txBox="1"/>
          <p:nvPr>
            <p:ph type="ctrTitle"/>
          </p:nvPr>
        </p:nvSpPr>
        <p:spPr>
          <a:xfrm>
            <a:off x="715019" y="618701"/>
            <a:ext cx="656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FontDiffuser介紹</a:t>
            </a:r>
            <a:endParaRPr/>
          </a:p>
        </p:txBody>
      </p:sp>
      <p:sp>
        <p:nvSpPr>
          <p:cNvPr id="243" name="Google Shape;243;g3bcf1ea64fb_0_0"/>
          <p:cNvSpPr txBox="1"/>
          <p:nvPr>
            <p:ph idx="2" type="body"/>
          </p:nvPr>
        </p:nvSpPr>
        <p:spPr>
          <a:xfrm>
            <a:off x="710804" y="1206410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https://github.com/yeungchenwa/FontDiffuser?tab=readme-ov-file</a:t>
            </a:r>
            <a:endParaRPr sz="1800"/>
          </a:p>
          <a:p>
            <a:pPr indent="-29210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FontDiffuser，這是一種基於</a:t>
            </a:r>
            <a:r>
              <a:rPr lang="zh-TW">
                <a:solidFill>
                  <a:srgbClr val="FF0000"/>
                </a:solidFill>
              </a:rPr>
              <a:t>擴散模型</a:t>
            </a:r>
            <a:r>
              <a:rPr lang="zh-TW"/>
              <a:t>的</a:t>
            </a:r>
            <a:r>
              <a:rPr lang="zh-TW">
                <a:solidFill>
                  <a:srgbClr val="FF0000"/>
                </a:solidFill>
              </a:rPr>
              <a:t>圖像到圖像</a:t>
            </a:r>
            <a:r>
              <a:rPr lang="zh-TW"/>
              <a:t>的一次性字體生成方法。</a:t>
            </a:r>
            <a:endParaRPr/>
          </a:p>
          <a:p>
            <a:pPr indent="-2921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它將字體生成學習建模為噪聲到降噪的範式，</a:t>
            </a:r>
            <a:endParaRPr/>
          </a:p>
          <a:p>
            <a:pPr indent="-2921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並且能夠生成沒見過的字符和樣式。</a:t>
            </a:r>
            <a:endParaRPr/>
          </a:p>
        </p:txBody>
      </p:sp>
      <p:sp>
        <p:nvSpPr>
          <p:cNvPr id="244" name="Google Shape;244;g3bcf1ea64fb_0_0"/>
          <p:cNvSpPr txBox="1"/>
          <p:nvPr>
            <p:ph idx="12" type="sldNum"/>
          </p:nvPr>
        </p:nvSpPr>
        <p:spPr>
          <a:xfrm>
            <a:off x="287588" y="4647880"/>
            <a:ext cx="564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cf1ea64fb_0_41"/>
          <p:cNvSpPr txBox="1"/>
          <p:nvPr>
            <p:ph type="ctrTitle"/>
          </p:nvPr>
        </p:nvSpPr>
        <p:spPr>
          <a:xfrm>
            <a:off x="715019" y="618701"/>
            <a:ext cx="656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FontDiffuser介紹</a:t>
            </a:r>
            <a:endParaRPr/>
          </a:p>
        </p:txBody>
      </p:sp>
      <p:sp>
        <p:nvSpPr>
          <p:cNvPr id="250" name="Google Shape;250;g3bcf1ea64fb_0_41"/>
          <p:cNvSpPr txBox="1"/>
          <p:nvPr>
            <p:ph idx="2" type="body"/>
          </p:nvPr>
        </p:nvSpPr>
        <p:spPr>
          <a:xfrm>
            <a:off x="710804" y="1206410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1" name="Google Shape;251;g3bcf1ea64fb_0_41"/>
          <p:cNvSpPr txBox="1"/>
          <p:nvPr>
            <p:ph idx="12" type="sldNum"/>
          </p:nvPr>
        </p:nvSpPr>
        <p:spPr>
          <a:xfrm>
            <a:off x="306255" y="4647046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2" name="Google Shape;252;g3bcf1ea64fb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00" y="1108375"/>
            <a:ext cx="6856065" cy="347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cf1ea64fb_0_83"/>
          <p:cNvSpPr txBox="1"/>
          <p:nvPr>
            <p:ph type="ctrTitle"/>
          </p:nvPr>
        </p:nvSpPr>
        <p:spPr>
          <a:xfrm>
            <a:off x="715019" y="618701"/>
            <a:ext cx="656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FontDiffuser介紹</a:t>
            </a:r>
            <a:endParaRPr/>
          </a:p>
        </p:txBody>
      </p:sp>
      <p:sp>
        <p:nvSpPr>
          <p:cNvPr id="258" name="Google Shape;258;g3bcf1ea64fb_0_83"/>
          <p:cNvSpPr txBox="1"/>
          <p:nvPr>
            <p:ph idx="2" type="body"/>
          </p:nvPr>
        </p:nvSpPr>
        <p:spPr>
          <a:xfrm>
            <a:off x="710800" y="1206400"/>
            <a:ext cx="4494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/>
              <a:t>FontDiffuser的</a:t>
            </a:r>
            <a:r>
              <a:rPr lang="zh-TW">
                <a:solidFill>
                  <a:srgbClr val="FF0000"/>
                </a:solidFill>
              </a:rPr>
              <a:t>主要貢獻</a:t>
            </a:r>
            <a:r>
              <a:rPr lang="zh-TW"/>
              <a:t>有以下四點: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latin typeface="Arial"/>
                <a:ea typeface="Arial"/>
                <a:cs typeface="Arial"/>
                <a:sym typeface="Arial"/>
              </a:rPr>
              <a:t>一.提出 FontDiffuser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zh-TW" sz="1100">
                <a:latin typeface="Arial"/>
                <a:ea typeface="Arial"/>
                <a:cs typeface="Arial"/>
                <a:sym typeface="Arial"/>
              </a:rPr>
              <a:t>基於 diffusion 的影像到影像字型生成框架</a:t>
            </a:r>
            <a:br>
              <a:rPr lang="zh-TW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zh-TW" sz="1100">
                <a:latin typeface="Arial"/>
                <a:ea typeface="Arial"/>
                <a:cs typeface="Arial"/>
                <a:sym typeface="Arial"/>
              </a:rPr>
              <a:t>在複雜字元與大幅風格變化下達到 SOTA 表現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100">
                <a:latin typeface="Arial"/>
                <a:ea typeface="Arial"/>
                <a:cs typeface="Arial"/>
                <a:sym typeface="Arial"/>
              </a:rPr>
              <a:t>二.精細筆劃保留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zh-TW" sz="1100">
                <a:latin typeface="Arial"/>
                <a:ea typeface="Arial"/>
                <a:cs typeface="Arial"/>
                <a:sym typeface="Arial"/>
              </a:rPr>
              <a:t>多尺度內容聚合（MCA）模組</a:t>
            </a:r>
            <a:br>
              <a:rPr b="1" lang="zh-TW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zh-TW" sz="1100">
                <a:latin typeface="Arial"/>
                <a:ea typeface="Arial"/>
                <a:cs typeface="Arial"/>
                <a:sym typeface="Arial"/>
              </a:rPr>
              <a:t>融合不同尺度的全域與區域特徵，強化複雜筆劃表現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9" name="Google Shape;259;g3bcf1ea64fb_0_83"/>
          <p:cNvSpPr txBox="1"/>
          <p:nvPr>
            <p:ph idx="12" type="sldNum"/>
          </p:nvPr>
        </p:nvSpPr>
        <p:spPr>
          <a:xfrm>
            <a:off x="331631" y="4642818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0" name="Google Shape;260;g3bcf1ea64fb_0_83"/>
          <p:cNvSpPr txBox="1"/>
          <p:nvPr/>
        </p:nvSpPr>
        <p:spPr>
          <a:xfrm>
            <a:off x="4693675" y="1637200"/>
            <a:ext cx="4095000" cy="21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三.風格學習與對比強化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風格對比精煉（SCR）模組</a:t>
            </a:r>
            <a:b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引入風格對比損失，有效處理大風格差異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四.優勢與擴展性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在易、中、難字元生成任務上均優於現有方法</a:t>
            </a:r>
            <a:b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能泛化至未見字元與風格</a:t>
            </a:r>
            <a:b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支援跨語言生成（例：中文 → 韓文）</a:t>
            </a:r>
            <a:endParaRPr b="0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流程</a:t>
            </a:r>
            <a:endParaRPr/>
          </a:p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267" name="Google Shape;267;p1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95f1055b6_0_7"/>
          <p:cNvSpPr/>
          <p:nvPr/>
        </p:nvSpPr>
        <p:spPr>
          <a:xfrm>
            <a:off x="7530263" y="1855831"/>
            <a:ext cx="1440300" cy="3201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fontdiffuser_finetuning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(訓練)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c95f1055b6_0_7"/>
          <p:cNvSpPr/>
          <p:nvPr/>
        </p:nvSpPr>
        <p:spPr>
          <a:xfrm>
            <a:off x="7439505" y="1059886"/>
            <a:ext cx="1621800" cy="3666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同學手寫體(4495字).png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c95f1055b6_0_7"/>
          <p:cNvSpPr/>
          <p:nvPr/>
        </p:nvSpPr>
        <p:spPr>
          <a:xfrm>
            <a:off x="229971" y="974749"/>
            <a:ext cx="1340700" cy="3063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manuscript_paper.txt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c95f1055b6_0_7"/>
          <p:cNvSpPr/>
          <p:nvPr/>
        </p:nvSpPr>
        <p:spPr>
          <a:xfrm>
            <a:off x="375566" y="1974611"/>
            <a:ext cx="1063500" cy="2685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character.txt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c95f1055b6_0_7"/>
          <p:cNvSpPr/>
          <p:nvPr/>
        </p:nvSpPr>
        <p:spPr>
          <a:xfrm>
            <a:off x="83812" y="1511483"/>
            <a:ext cx="1639500" cy="2949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1_preprocess_characters.py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c95f1055b6_0_7"/>
          <p:cNvSpPr/>
          <p:nvPr/>
        </p:nvSpPr>
        <p:spPr>
          <a:xfrm>
            <a:off x="1798759" y="3689055"/>
            <a:ext cx="925200" cy="3201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稿紙(空白).pdf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c95f1055b6_0_7"/>
          <p:cNvSpPr/>
          <p:nvPr/>
        </p:nvSpPr>
        <p:spPr>
          <a:xfrm>
            <a:off x="3450953" y="1582037"/>
            <a:ext cx="925200" cy="3240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4"/>
              <a:buFont typeface="Arial"/>
              <a:buNone/>
            </a:pPr>
            <a:r>
              <a:rPr b="0" i="0" lang="zh-TW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s1_rotate_page.py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c95f1055b6_0_7"/>
          <p:cNvSpPr/>
          <p:nvPr/>
        </p:nvSpPr>
        <p:spPr>
          <a:xfrm>
            <a:off x="10580" y="292243"/>
            <a:ext cx="24924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倉庫一 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製作稿紙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01-1_generate_paper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c95f1055b6_0_7"/>
          <p:cNvSpPr/>
          <p:nvPr/>
        </p:nvSpPr>
        <p:spPr>
          <a:xfrm>
            <a:off x="2502919" y="292243"/>
            <a:ext cx="19848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倉庫二(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裁切稿紙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02-1_crop_paper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c95f1055b6_0_7"/>
          <p:cNvSpPr/>
          <p:nvPr/>
        </p:nvSpPr>
        <p:spPr>
          <a:xfrm>
            <a:off x="4492309" y="292243"/>
            <a:ext cx="13002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倉庫三(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向量化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lang="zh-TW" sz="1000"/>
              <a:t>02-2_glyph_vector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c95f1055b6_0_7"/>
          <p:cNvSpPr/>
          <p:nvPr/>
        </p:nvSpPr>
        <p:spPr>
          <a:xfrm>
            <a:off x="7209930" y="292243"/>
            <a:ext cx="19347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倉庫五(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生成字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fontdiffuser-finetune-colab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c95f1055b6_0_7"/>
          <p:cNvSpPr/>
          <p:nvPr/>
        </p:nvSpPr>
        <p:spPr>
          <a:xfrm>
            <a:off x="3004977" y="3473672"/>
            <a:ext cx="984000" cy="2400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一格手寫字.png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g3c95f1055b6_0_7"/>
          <p:cNvCxnSpPr>
            <a:stCxn id="275" idx="2"/>
            <a:endCxn id="277" idx="0"/>
          </p:cNvCxnSpPr>
          <p:nvPr/>
        </p:nvCxnSpPr>
        <p:spPr>
          <a:xfrm>
            <a:off x="900321" y="1281049"/>
            <a:ext cx="3300" cy="230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g3c95f1055b6_0_7"/>
          <p:cNvCxnSpPr>
            <a:stCxn id="277" idx="2"/>
            <a:endCxn id="276" idx="0"/>
          </p:cNvCxnSpPr>
          <p:nvPr/>
        </p:nvCxnSpPr>
        <p:spPr>
          <a:xfrm>
            <a:off x="903562" y="1806383"/>
            <a:ext cx="3900" cy="1683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g3c95f1055b6_0_7"/>
          <p:cNvSpPr/>
          <p:nvPr/>
        </p:nvSpPr>
        <p:spPr>
          <a:xfrm>
            <a:off x="153865" y="2413786"/>
            <a:ext cx="1511400" cy="362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2_generate_CP950.py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c95f1055b6_0_7"/>
          <p:cNvCxnSpPr>
            <a:stCxn id="276" idx="2"/>
            <a:endCxn id="287" idx="0"/>
          </p:cNvCxnSpPr>
          <p:nvPr/>
        </p:nvCxnSpPr>
        <p:spPr>
          <a:xfrm>
            <a:off x="907316" y="2243111"/>
            <a:ext cx="2100" cy="1707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g3c95f1055b6_0_7"/>
          <p:cNvSpPr/>
          <p:nvPr/>
        </p:nvSpPr>
        <p:spPr>
          <a:xfrm>
            <a:off x="122808" y="2958302"/>
            <a:ext cx="1565400" cy="3240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./CP950/CP950-稿紙標題.json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3c95f1055b6_0_7"/>
          <p:cNvCxnSpPr>
            <a:stCxn id="287" idx="2"/>
            <a:endCxn id="289" idx="0"/>
          </p:cNvCxnSpPr>
          <p:nvPr/>
        </p:nvCxnSpPr>
        <p:spPr>
          <a:xfrm flipH="1">
            <a:off x="905365" y="2776186"/>
            <a:ext cx="4200" cy="1821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g3c95f1055b6_0_7"/>
          <p:cNvSpPr/>
          <p:nvPr/>
        </p:nvSpPr>
        <p:spPr>
          <a:xfrm>
            <a:off x="259488" y="3485667"/>
            <a:ext cx="1300200" cy="7308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1_SVGtable.py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2_QR_add.py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3_SVG2PDF.py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4_PDFmerge.py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g3c95f1055b6_0_7"/>
          <p:cNvCxnSpPr>
            <a:stCxn id="289" idx="2"/>
            <a:endCxn id="291" idx="0"/>
          </p:cNvCxnSpPr>
          <p:nvPr/>
        </p:nvCxnSpPr>
        <p:spPr>
          <a:xfrm>
            <a:off x="905508" y="3282302"/>
            <a:ext cx="4200" cy="203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g3c95f1055b6_0_7"/>
          <p:cNvCxnSpPr>
            <a:stCxn id="291" idx="3"/>
            <a:endCxn id="278" idx="1"/>
          </p:cNvCxnSpPr>
          <p:nvPr/>
        </p:nvCxnSpPr>
        <p:spPr>
          <a:xfrm flipH="1" rot="10800000">
            <a:off x="1559688" y="3848967"/>
            <a:ext cx="239100" cy="21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g3c95f1055b6_0_7"/>
          <p:cNvSpPr/>
          <p:nvPr/>
        </p:nvSpPr>
        <p:spPr>
          <a:xfrm>
            <a:off x="1810580" y="3096417"/>
            <a:ext cx="901500" cy="3240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經過手寫後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g3c95f1055b6_0_7"/>
          <p:cNvCxnSpPr>
            <a:stCxn id="278" idx="0"/>
            <a:endCxn id="294" idx="2"/>
          </p:cNvCxnSpPr>
          <p:nvPr/>
        </p:nvCxnSpPr>
        <p:spPr>
          <a:xfrm rot="10800000">
            <a:off x="2261359" y="3420555"/>
            <a:ext cx="0" cy="2685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g3c95f1055b6_0_7"/>
          <p:cNvSpPr/>
          <p:nvPr/>
        </p:nvSpPr>
        <p:spPr>
          <a:xfrm>
            <a:off x="1796351" y="2563006"/>
            <a:ext cx="925200" cy="3240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稿紙(完成).pdf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g3c95f1055b6_0_7"/>
          <p:cNvCxnSpPr>
            <a:stCxn id="294" idx="0"/>
            <a:endCxn id="296" idx="2"/>
          </p:cNvCxnSpPr>
          <p:nvPr/>
        </p:nvCxnSpPr>
        <p:spPr>
          <a:xfrm rot="10800000">
            <a:off x="2258930" y="2887017"/>
            <a:ext cx="2400" cy="209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g3c95f1055b6_0_7"/>
          <p:cNvSpPr/>
          <p:nvPr/>
        </p:nvSpPr>
        <p:spPr>
          <a:xfrm>
            <a:off x="2525913" y="1582930"/>
            <a:ext cx="925200" cy="3240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4"/>
              <a:buFont typeface="Arial"/>
              <a:buNone/>
            </a:pPr>
            <a:r>
              <a:rPr b="0" i="0" lang="zh-TW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s1_pdf2png.py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c95f1055b6_0_7"/>
          <p:cNvSpPr txBox="1"/>
          <p:nvPr/>
        </p:nvSpPr>
        <p:spPr>
          <a:xfrm>
            <a:off x="2244084" y="993557"/>
            <a:ext cx="7194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1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平板寫作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c95f1055b6_0_7"/>
          <p:cNvSpPr txBox="1"/>
          <p:nvPr/>
        </p:nvSpPr>
        <p:spPr>
          <a:xfrm>
            <a:off x="3270884" y="1158883"/>
            <a:ext cx="719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1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紙本寫作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c95f1055b6_0_7"/>
          <p:cNvSpPr/>
          <p:nvPr/>
        </p:nvSpPr>
        <p:spPr>
          <a:xfrm>
            <a:off x="2914437" y="2273862"/>
            <a:ext cx="1165200" cy="3201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整張稿紙png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g3c95f1055b6_0_7"/>
          <p:cNvCxnSpPr>
            <a:stCxn id="298" idx="2"/>
            <a:endCxn id="301" idx="0"/>
          </p:cNvCxnSpPr>
          <p:nvPr/>
        </p:nvCxnSpPr>
        <p:spPr>
          <a:xfrm>
            <a:off x="2988513" y="1906930"/>
            <a:ext cx="508500" cy="3669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g3c95f1055b6_0_7"/>
          <p:cNvCxnSpPr>
            <a:stCxn id="279" idx="2"/>
            <a:endCxn id="301" idx="0"/>
          </p:cNvCxnSpPr>
          <p:nvPr/>
        </p:nvCxnSpPr>
        <p:spPr>
          <a:xfrm flipH="1">
            <a:off x="3497153" y="1906037"/>
            <a:ext cx="416400" cy="3678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g3c95f1055b6_0_7"/>
          <p:cNvSpPr/>
          <p:nvPr/>
        </p:nvSpPr>
        <p:spPr>
          <a:xfrm>
            <a:off x="2962383" y="2865937"/>
            <a:ext cx="1069200" cy="2685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s2_crop_page.py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g3c95f1055b6_0_7"/>
          <p:cNvCxnSpPr>
            <a:stCxn id="301" idx="2"/>
            <a:endCxn id="304" idx="0"/>
          </p:cNvCxnSpPr>
          <p:nvPr/>
        </p:nvCxnSpPr>
        <p:spPr>
          <a:xfrm>
            <a:off x="3497037" y="2593962"/>
            <a:ext cx="0" cy="2721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g3c95f1055b6_0_7"/>
          <p:cNvCxnSpPr>
            <a:stCxn id="304" idx="2"/>
            <a:endCxn id="284" idx="0"/>
          </p:cNvCxnSpPr>
          <p:nvPr/>
        </p:nvCxnSpPr>
        <p:spPr>
          <a:xfrm>
            <a:off x="3496983" y="3134437"/>
            <a:ext cx="0" cy="3393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g3c95f1055b6_0_7"/>
          <p:cNvSpPr/>
          <p:nvPr/>
        </p:nvSpPr>
        <p:spPr>
          <a:xfrm>
            <a:off x="4729886" y="1055904"/>
            <a:ext cx="803400" cy="239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potrace.py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g3c95f1055b6_0_7"/>
          <p:cNvCxnSpPr>
            <a:stCxn id="284" idx="3"/>
            <a:endCxn id="307" idx="1"/>
          </p:cNvCxnSpPr>
          <p:nvPr/>
        </p:nvCxnSpPr>
        <p:spPr>
          <a:xfrm flipH="1" rot="10800000">
            <a:off x="3988977" y="1175672"/>
            <a:ext cx="741000" cy="2418000"/>
          </a:xfrm>
          <a:prstGeom prst="bentConnector3">
            <a:avLst>
              <a:gd fmla="val 49994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g3c95f1055b6_0_7"/>
          <p:cNvSpPr/>
          <p:nvPr/>
        </p:nvSpPr>
        <p:spPr>
          <a:xfrm>
            <a:off x="4639585" y="1698449"/>
            <a:ext cx="984000" cy="2394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一格手寫字.svg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g3c95f1055b6_0_7"/>
          <p:cNvCxnSpPr>
            <a:stCxn id="307" idx="2"/>
            <a:endCxn id="309" idx="0"/>
          </p:cNvCxnSpPr>
          <p:nvPr/>
        </p:nvCxnSpPr>
        <p:spPr>
          <a:xfrm>
            <a:off x="5131586" y="1295304"/>
            <a:ext cx="0" cy="4032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g3c95f1055b6_0_7"/>
          <p:cNvSpPr/>
          <p:nvPr/>
        </p:nvSpPr>
        <p:spPr>
          <a:xfrm>
            <a:off x="4716353" y="2363314"/>
            <a:ext cx="840000" cy="239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run_pico.py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g3c95f1055b6_0_7"/>
          <p:cNvCxnSpPr>
            <a:stCxn id="309" idx="2"/>
            <a:endCxn id="311" idx="0"/>
          </p:cNvCxnSpPr>
          <p:nvPr/>
        </p:nvCxnSpPr>
        <p:spPr>
          <a:xfrm>
            <a:off x="5131585" y="1937849"/>
            <a:ext cx="4800" cy="425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g3c95f1055b6_0_7"/>
          <p:cNvSpPr/>
          <p:nvPr/>
        </p:nvSpPr>
        <p:spPr>
          <a:xfrm>
            <a:off x="4608086" y="3033117"/>
            <a:ext cx="1068600" cy="4122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手寫字.svg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(去除黑塊)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g3c95f1055b6_0_7"/>
          <p:cNvCxnSpPr>
            <a:stCxn id="311" idx="2"/>
            <a:endCxn id="313" idx="0"/>
          </p:cNvCxnSpPr>
          <p:nvPr/>
        </p:nvCxnSpPr>
        <p:spPr>
          <a:xfrm>
            <a:off x="5136353" y="2602714"/>
            <a:ext cx="6000" cy="4305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g3c95f1055b6_0_7"/>
          <p:cNvSpPr/>
          <p:nvPr/>
        </p:nvSpPr>
        <p:spPr>
          <a:xfrm>
            <a:off x="5946055" y="1797740"/>
            <a:ext cx="1166700" cy="4503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手寫字(一包).svg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(fontpico.svg)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g3c95f1055b6_0_7"/>
          <p:cNvCxnSpPr>
            <a:stCxn id="317" idx="2"/>
            <a:endCxn id="315" idx="0"/>
          </p:cNvCxnSpPr>
          <p:nvPr/>
        </p:nvCxnSpPr>
        <p:spPr>
          <a:xfrm>
            <a:off x="6529462" y="1295300"/>
            <a:ext cx="0" cy="5025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g3c95f1055b6_0_7"/>
          <p:cNvSpPr/>
          <p:nvPr/>
        </p:nvSpPr>
        <p:spPr>
          <a:xfrm>
            <a:off x="6037455" y="2791038"/>
            <a:ext cx="984000" cy="3201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FontForge 打包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g3c95f1055b6_0_7"/>
          <p:cNvCxnSpPr>
            <a:stCxn id="318" idx="3"/>
            <a:endCxn id="274" idx="1"/>
          </p:cNvCxnSpPr>
          <p:nvPr/>
        </p:nvCxnSpPr>
        <p:spPr>
          <a:xfrm flipH="1" rot="10800000">
            <a:off x="7021455" y="1243188"/>
            <a:ext cx="418200" cy="1707900"/>
          </a:xfrm>
          <a:prstGeom prst="bentConnector3">
            <a:avLst>
              <a:gd fmla="val 49982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g3c95f1055b6_0_7"/>
          <p:cNvCxnSpPr>
            <a:stCxn id="315" idx="2"/>
            <a:endCxn id="318" idx="0"/>
          </p:cNvCxnSpPr>
          <p:nvPr/>
        </p:nvCxnSpPr>
        <p:spPr>
          <a:xfrm>
            <a:off x="6529405" y="2248040"/>
            <a:ext cx="0" cy="5430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g3c95f1055b6_0_7"/>
          <p:cNvCxnSpPr>
            <a:stCxn id="313" idx="3"/>
            <a:endCxn id="317" idx="1"/>
          </p:cNvCxnSpPr>
          <p:nvPr/>
        </p:nvCxnSpPr>
        <p:spPr>
          <a:xfrm flipH="1" rot="10800000">
            <a:off x="5676686" y="1175517"/>
            <a:ext cx="270300" cy="2063700"/>
          </a:xfrm>
          <a:prstGeom prst="bentConnector3">
            <a:avLst>
              <a:gd fmla="val 49977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g3c95f1055b6_0_7"/>
          <p:cNvCxnSpPr>
            <a:stCxn id="296" idx="0"/>
            <a:endCxn id="279" idx="0"/>
          </p:cNvCxnSpPr>
          <p:nvPr/>
        </p:nvCxnSpPr>
        <p:spPr>
          <a:xfrm rot="-5400000">
            <a:off x="2595701" y="1245256"/>
            <a:ext cx="981000" cy="1654500"/>
          </a:xfrm>
          <a:prstGeom prst="bentConnector3">
            <a:avLst>
              <a:gd fmla="val 124271" name="adj1"/>
            </a:avLst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g3c95f1055b6_0_7"/>
          <p:cNvSpPr/>
          <p:nvPr/>
        </p:nvSpPr>
        <p:spPr>
          <a:xfrm>
            <a:off x="7630897" y="2625290"/>
            <a:ext cx="1239000" cy="3201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fontdiffuser_sample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(推論)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c95f1055b6_0_7"/>
          <p:cNvSpPr/>
          <p:nvPr/>
        </p:nvSpPr>
        <p:spPr>
          <a:xfrm>
            <a:off x="7667809" y="3394786"/>
            <a:ext cx="1165200" cy="320100"/>
          </a:xfrm>
          <a:prstGeom prst="rect">
            <a:avLst/>
          </a:prstGeom>
          <a:solidFill>
            <a:srgbClr val="E7E6E6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同學手寫體.png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g3c95f1055b6_0_7"/>
          <p:cNvCxnSpPr>
            <a:stCxn id="323" idx="2"/>
            <a:endCxn id="324" idx="0"/>
          </p:cNvCxnSpPr>
          <p:nvPr/>
        </p:nvCxnSpPr>
        <p:spPr>
          <a:xfrm>
            <a:off x="8250397" y="2945390"/>
            <a:ext cx="0" cy="449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g3c95f1055b6_0_7"/>
          <p:cNvCxnSpPr>
            <a:stCxn id="273" idx="2"/>
            <a:endCxn id="323" idx="0"/>
          </p:cNvCxnSpPr>
          <p:nvPr/>
        </p:nvCxnSpPr>
        <p:spPr>
          <a:xfrm>
            <a:off x="8250413" y="2175931"/>
            <a:ext cx="0" cy="4494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g3c95f1055b6_0_7"/>
          <p:cNvCxnSpPr>
            <a:stCxn id="274" idx="2"/>
            <a:endCxn id="273" idx="0"/>
          </p:cNvCxnSpPr>
          <p:nvPr/>
        </p:nvCxnSpPr>
        <p:spPr>
          <a:xfrm>
            <a:off x="8250405" y="1426486"/>
            <a:ext cx="0" cy="429300"/>
          </a:xfrm>
          <a:prstGeom prst="straightConnector1">
            <a:avLst/>
          </a:prstGeom>
          <a:noFill/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g3c95f1055b6_0_7"/>
          <p:cNvSpPr/>
          <p:nvPr/>
        </p:nvSpPr>
        <p:spPr>
          <a:xfrm>
            <a:off x="5946862" y="1055900"/>
            <a:ext cx="1165200" cy="239400"/>
          </a:xfrm>
          <a:prstGeom prst="rect">
            <a:avLst/>
          </a:prstGeom>
          <a:solidFill>
            <a:srgbClr val="FCE5CD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zh-TW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merge_svgfont.py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g3c95f1055b6_0_7"/>
          <p:cNvCxnSpPr>
            <a:stCxn id="296" idx="0"/>
          </p:cNvCxnSpPr>
          <p:nvPr/>
        </p:nvCxnSpPr>
        <p:spPr>
          <a:xfrm rot="-5400000">
            <a:off x="2123201" y="1724656"/>
            <a:ext cx="974100" cy="702600"/>
          </a:xfrm>
          <a:prstGeom prst="bentConnector3">
            <a:avLst>
              <a:gd fmla="val 134694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g3c95f1055b6_0_7"/>
          <p:cNvSpPr/>
          <p:nvPr/>
        </p:nvSpPr>
        <p:spPr>
          <a:xfrm>
            <a:off x="5786754" y="292243"/>
            <a:ext cx="1423200" cy="574200"/>
          </a:xfrm>
          <a:prstGeom prst="rect">
            <a:avLst/>
          </a:prstGeom>
          <a:solidFill>
            <a:srgbClr val="CFE2F3"/>
          </a:solidFill>
          <a:ln cap="flat" cmpd="sng" w="98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75" lIns="94175" spcFirstLastPara="1" rIns="94175" wrap="square" tIns="94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"/>
              <a:buFont typeface="Arial"/>
              <a:buNone/>
            </a:pP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倉庫四(</a:t>
            </a:r>
            <a:r>
              <a:rPr b="0" i="0" lang="zh-TW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打包字體</a:t>
            </a:r>
            <a:r>
              <a:rPr b="0" i="0" lang="zh-TW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02-3_</a:t>
            </a:r>
            <a:r>
              <a:rPr lang="zh-TW" sz="1000"/>
              <a:t>font_packager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6" name="Google Shape;336;p12"/>
          <p:cNvSpPr txBox="1"/>
          <p:nvPr>
            <p:ph type="ctrTitle"/>
          </p:nvPr>
        </p:nvSpPr>
        <p:spPr>
          <a:xfrm>
            <a:off x="323471" y="71375"/>
            <a:ext cx="4990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>
                <a:solidFill>
                  <a:srgbClr val="674EA7"/>
                </a:solidFill>
              </a:rPr>
              <a:t>執行過程-</a:t>
            </a:r>
            <a:r>
              <a:rPr lang="zh-TW" sz="3000">
                <a:solidFill>
                  <a:srgbClr val="674EA7"/>
                </a:solidFill>
              </a:rPr>
              <a:t>訓練(微調)</a:t>
            </a:r>
            <a:endParaRPr b="1" sz="3000">
              <a:solidFill>
                <a:srgbClr val="674EA7"/>
              </a:solidFill>
            </a:endParaRPr>
          </a:p>
        </p:txBody>
      </p:sp>
      <p:pic>
        <p:nvPicPr>
          <p:cNvPr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11449" t="0"/>
          <a:stretch/>
        </p:blipFill>
        <p:spPr>
          <a:xfrm>
            <a:off x="3459947" y="841570"/>
            <a:ext cx="1253700" cy="81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2414322" y="1311350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25088" y="1386825"/>
            <a:ext cx="813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3234500" y="2121076"/>
            <a:ext cx="1704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2.專案下載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204825" y="1806825"/>
            <a:ext cx="2209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</a:t>
            </a: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開啟colab並建立finetune副本</a:t>
            </a:r>
            <a:endParaRPr b="1" sz="1700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zh-TW" sz="6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https://github.com/lctung/fontdiffuser-finetune-colab/blob/main/FontDiffuser_finetuning.ipynb</a:t>
            </a:r>
            <a:endParaRPr b="1" sz="600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6436050" y="1733025"/>
            <a:ext cx="2079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</a:t>
            </a: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安裝所需套件並連結googledrive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1610075" y="3913725"/>
            <a:ext cx="2079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5.權重檔存放於google drive中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4" name="Google Shape;344;p12"/>
          <p:cNvSpPr/>
          <p:nvPr/>
        </p:nvSpPr>
        <p:spPr>
          <a:xfrm rot="10800000">
            <a:off x="3689383" y="3567525"/>
            <a:ext cx="25077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9222" y="2870937"/>
            <a:ext cx="696600" cy="6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2"/>
          <p:cNvSpPr txBox="1"/>
          <p:nvPr/>
        </p:nvSpPr>
        <p:spPr>
          <a:xfrm>
            <a:off x="4164213" y="3870975"/>
            <a:ext cx="179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開始訓練(微調)</a:t>
            </a:r>
            <a:endParaRPr b="1" sz="1700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(機器學習)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:Google Colab pic.png - Wikimedia Commons" id="347" name="Google Shape;347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928" y="841575"/>
            <a:ext cx="1559101" cy="89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4493" y="1701393"/>
            <a:ext cx="2079179" cy="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2"/>
          <p:cNvPicPr preferRelativeResize="0"/>
          <p:nvPr/>
        </p:nvPicPr>
        <p:blipFill rotWithShape="1">
          <a:blip r:embed="rId3">
            <a:alphaModFix/>
          </a:blip>
          <a:srcRect b="0" l="0" r="11450" t="0"/>
          <a:stretch/>
        </p:blipFill>
        <p:spPr>
          <a:xfrm>
            <a:off x="6619072" y="922983"/>
            <a:ext cx="1253700" cy="81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ip file (來源：Getty Images)" id="350" name="Google Shape;350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9802" y="2791573"/>
            <a:ext cx="1079398" cy="107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2"/>
          <p:cNvSpPr txBox="1"/>
          <p:nvPr/>
        </p:nvSpPr>
        <p:spPr>
          <a:xfrm>
            <a:off x="6397800" y="4200725"/>
            <a:ext cx="22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4.上傳Crop壓縮檔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 rot="3283688">
            <a:off x="7198193" y="2505381"/>
            <a:ext cx="608877" cy="4199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36050" y="3885125"/>
            <a:ext cx="2466050" cy="30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Drive icon (2020).svg - 維基百科，自由的百科全書" id="354" name="Google Shape;354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92021" y="2674170"/>
            <a:ext cx="1079398" cy="964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 Drive icon (2020).svg - 維基百科，自由的百科全書" id="355" name="Google Shape;355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49425" y="917114"/>
            <a:ext cx="877501" cy="78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30827" y="3567518"/>
            <a:ext cx="2079175" cy="427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cf1ea64fb_0_411"/>
          <p:cNvSpPr txBox="1"/>
          <p:nvPr>
            <p:ph type="ctrTitle"/>
          </p:nvPr>
        </p:nvSpPr>
        <p:spPr>
          <a:xfrm>
            <a:off x="725325" y="1814323"/>
            <a:ext cx="76434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FontDiffuser-Finetune 訓練</a:t>
            </a:r>
            <a:endParaRPr/>
          </a:p>
        </p:txBody>
      </p:sp>
      <p:sp>
        <p:nvSpPr>
          <p:cNvPr id="362" name="Google Shape;362;g3bcf1ea64fb_0_41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63" name="Google Shape;363;g3bcf1ea64fb_0_411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364" name="Google Shape;364;g3bcf1ea64fb_0_4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cf1ea64fb_0_90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下載</a:t>
            </a:r>
            <a:r>
              <a:rPr lang="zh-TW"/>
              <a:t> </a:t>
            </a:r>
            <a:r>
              <a:rPr lang="zh-TW" sz="3300">
                <a:latin typeface="Microsoft JhengHei"/>
                <a:ea typeface="Microsoft JhengHei"/>
                <a:cs typeface="Microsoft JhengHei"/>
                <a:sym typeface="Microsoft JhengHei"/>
              </a:rPr>
              <a:t>ipynb</a:t>
            </a:r>
            <a:endParaRPr/>
          </a:p>
        </p:txBody>
      </p:sp>
      <p:sp>
        <p:nvSpPr>
          <p:cNvPr id="370" name="Google Shape;370;g3bcf1ea64fb_0_90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71" name="Google Shape;371;g3bcf1ea64fb_0_90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2" name="Google Shape;372;g3bcf1ea64fb_0_907"/>
          <p:cNvSpPr txBox="1"/>
          <p:nvPr/>
        </p:nvSpPr>
        <p:spPr>
          <a:xfrm>
            <a:off x="664725" y="1137500"/>
            <a:ext cx="8146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Colab 程式碼下載連</a:t>
            </a: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結: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icrosoft JhengHei"/>
              <a:buChar char="○"/>
            </a:pPr>
            <a:r>
              <a:rPr lang="zh-TW" sz="12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https://github.com/lctung/fontdiffuser-finetune-colab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Fontdiffuser_Finetuning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為微調程式碼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73" name="Google Shape;373;g3bcf1ea64fb_0_907"/>
          <p:cNvPicPr preferRelativeResize="0"/>
          <p:nvPr/>
        </p:nvPicPr>
        <p:blipFill rotWithShape="1">
          <a:blip r:embed="rId4">
            <a:alphaModFix/>
          </a:blip>
          <a:srcRect b="44003" l="0" r="0" t="0"/>
          <a:stretch/>
        </p:blipFill>
        <p:spPr>
          <a:xfrm>
            <a:off x="1433788" y="2883649"/>
            <a:ext cx="6276425" cy="22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cf1ea64fb_0_91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上傳</a:t>
            </a:r>
            <a:r>
              <a:rPr lang="zh-TW" sz="3000">
                <a:latin typeface="Microsoft JhengHei"/>
                <a:ea typeface="Microsoft JhengHei"/>
                <a:cs typeface="Microsoft JhengHei"/>
                <a:sym typeface="Microsoft JhengHei"/>
              </a:rPr>
              <a:t>Colab_ipynb</a:t>
            </a:r>
            <a:endParaRPr/>
          </a:p>
        </p:txBody>
      </p:sp>
      <p:sp>
        <p:nvSpPr>
          <p:cNvPr id="379" name="Google Shape;379;g3bcf1ea64fb_0_91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0" name="Google Shape;380;g3bcf1ea64fb_0_91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1" name="Google Shape;381;g3bcf1ea64fb_0_915"/>
          <p:cNvSpPr txBox="1"/>
          <p:nvPr/>
        </p:nvSpPr>
        <p:spPr>
          <a:xfrm>
            <a:off x="710804" y="1082192"/>
            <a:ext cx="75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上傳Fontdiffuser_Finetuning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82" name="Google Shape;382;g3bcf1ea64fb_0_9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589" y="1532315"/>
            <a:ext cx="6210002" cy="2941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cf1ea64fb_0_92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設定Colab環境</a:t>
            </a:r>
            <a:endParaRPr/>
          </a:p>
        </p:txBody>
      </p:sp>
      <p:sp>
        <p:nvSpPr>
          <p:cNvPr id="388" name="Google Shape;388;g3bcf1ea64fb_0_92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9" name="Google Shape;389;g3bcf1ea64fb_0_92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0" name="Google Shape;390;g3bcf1ea64fb_0_923"/>
          <p:cNvSpPr txBox="1"/>
          <p:nvPr/>
        </p:nvSpPr>
        <p:spPr>
          <a:xfrm>
            <a:off x="710804" y="1082192"/>
            <a:ext cx="75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點選執行階段 → 變更執行階段類型 → 點選T4 GPU → 儲存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g3bcf1ea64fb_0_9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589" y="1534558"/>
            <a:ext cx="6210001" cy="293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cf1ea64fb_0_93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設定Colab環境</a:t>
            </a:r>
            <a:endParaRPr/>
          </a:p>
        </p:txBody>
      </p:sp>
      <p:sp>
        <p:nvSpPr>
          <p:cNvPr id="397" name="Google Shape;397;g3bcf1ea64fb_0_93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98" name="Google Shape;398;g3bcf1ea64fb_0_93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9" name="Google Shape;399;g3bcf1ea64fb_0_931"/>
          <p:cNvSpPr txBox="1"/>
          <p:nvPr/>
        </p:nvSpPr>
        <p:spPr>
          <a:xfrm>
            <a:off x="710804" y="1082192"/>
            <a:ext cx="75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點選重新連線T4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00" name="Google Shape;400;g3bcf1ea64fb_0_9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7238" y="1534559"/>
            <a:ext cx="6132702" cy="293692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bcf1ea64fb_0_931"/>
          <p:cNvSpPr/>
          <p:nvPr/>
        </p:nvSpPr>
        <p:spPr>
          <a:xfrm>
            <a:off x="7060223" y="1802423"/>
            <a:ext cx="334200" cy="1320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g3bcf1ea64fb_0_931"/>
          <p:cNvCxnSpPr/>
          <p:nvPr/>
        </p:nvCxnSpPr>
        <p:spPr>
          <a:xfrm flipH="1" rot="10800000">
            <a:off x="6606540" y="1934520"/>
            <a:ext cx="342900" cy="168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cf1ea64fb_0_94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設定Colab環境</a:t>
            </a:r>
            <a:endParaRPr/>
          </a:p>
        </p:txBody>
      </p:sp>
      <p:sp>
        <p:nvSpPr>
          <p:cNvPr id="409" name="Google Shape;409;g3bcf1ea64fb_0_94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10" name="Google Shape;410;g3bcf1ea64fb_0_94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1" name="Google Shape;411;g3bcf1ea64fb_0_941"/>
          <p:cNvSpPr txBox="1"/>
          <p:nvPr/>
        </p:nvSpPr>
        <p:spPr>
          <a:xfrm>
            <a:off x="710804" y="1082192"/>
            <a:ext cx="75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顯示已連線就代表取得Colab虛擬機，可以開始執行程式碼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g3bcf1ea64fb_0_9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7238" y="1537131"/>
            <a:ext cx="6132705" cy="293177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bcf1ea64fb_0_941"/>
          <p:cNvSpPr/>
          <p:nvPr/>
        </p:nvSpPr>
        <p:spPr>
          <a:xfrm>
            <a:off x="7060223" y="1802423"/>
            <a:ext cx="475800" cy="1320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g3bcf1ea64fb_0_941"/>
          <p:cNvCxnSpPr/>
          <p:nvPr/>
        </p:nvCxnSpPr>
        <p:spPr>
          <a:xfrm flipH="1" rot="10800000">
            <a:off x="6606540" y="1934520"/>
            <a:ext cx="342900" cy="168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cf1ea64fb_0_95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21" name="Google Shape;421;g3bcf1ea64fb_0_95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22" name="Google Shape;422;g3bcf1ea64fb_0_9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3" name="Google Shape;423;g3bcf1ea64fb_0_952"/>
          <p:cNvSpPr txBox="1"/>
          <p:nvPr/>
        </p:nvSpPr>
        <p:spPr>
          <a:xfrm>
            <a:off x="710803" y="1082192"/>
            <a:ext cx="81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從Github倉庫Clone整個Fontdiffuser專案，執行完後可以看到Fontdiffuser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24" name="Google Shape;424;g3bcf1ea64fb_0_9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326" y="1550931"/>
            <a:ext cx="6114240" cy="293177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bcf1ea64fb_0_952"/>
          <p:cNvSpPr/>
          <p:nvPr/>
        </p:nvSpPr>
        <p:spPr>
          <a:xfrm>
            <a:off x="1925516" y="2831165"/>
            <a:ext cx="501000" cy="1320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g3bcf1ea64fb_0_952"/>
          <p:cNvCxnSpPr/>
          <p:nvPr/>
        </p:nvCxnSpPr>
        <p:spPr>
          <a:xfrm flipH="1">
            <a:off x="2576239" y="2461847"/>
            <a:ext cx="580200" cy="369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cf1ea64fb_0_96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33" name="Google Shape;433;g3bcf1ea64fb_0_96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34" name="Google Shape;434;g3bcf1ea64fb_0_96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5" name="Google Shape;435;g3bcf1ea64fb_0_963"/>
          <p:cNvSpPr txBox="1"/>
          <p:nvPr/>
        </p:nvSpPr>
        <p:spPr>
          <a:xfrm>
            <a:off x="710804" y="1082192"/>
            <a:ext cx="7998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下載權重檔案結束後，會在Fontdiffuser/ckpt中會看到四個預訓練權重檔案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g3bcf1ea64fb_0_9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7238" y="1563320"/>
            <a:ext cx="6132702" cy="287939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bcf1ea64fb_0_963"/>
          <p:cNvSpPr/>
          <p:nvPr/>
        </p:nvSpPr>
        <p:spPr>
          <a:xfrm flipH="1" rot="10800000">
            <a:off x="1975103" y="3003168"/>
            <a:ext cx="836700" cy="7413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g3bcf1ea64fb_0_963"/>
          <p:cNvCxnSpPr/>
          <p:nvPr/>
        </p:nvCxnSpPr>
        <p:spPr>
          <a:xfrm flipH="1">
            <a:off x="2895852" y="2862296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cf1ea64fb_0_97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45" name="Google Shape;445;g3bcf1ea64fb_0_97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46" name="Google Shape;446;g3bcf1ea64fb_0_97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7" name="Google Shape;447;g3bcf1ea64fb_0_974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安裝Fontdiffuser所需套件，安裝完畢後需要重新啟動，點選重新啟動工作階段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g3bcf1ea64fb_0_9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001" y="1563320"/>
            <a:ext cx="6103177" cy="287939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bcf1ea64fb_0_974"/>
          <p:cNvSpPr/>
          <p:nvPr/>
        </p:nvSpPr>
        <p:spPr>
          <a:xfrm flipH="1" rot="10800000">
            <a:off x="5181600" y="3336064"/>
            <a:ext cx="592200" cy="1407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g3bcf1ea64fb_0_974"/>
          <p:cNvCxnSpPr/>
          <p:nvPr/>
        </p:nvCxnSpPr>
        <p:spPr>
          <a:xfrm flipH="1">
            <a:off x="5804341" y="2967269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cf1ea64fb_0_98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57" name="Google Shape;457;g3bcf1ea64fb_0_98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58" name="Google Shape;458;g3bcf1ea64fb_0_98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9" name="Google Shape;459;g3bcf1ea64fb_0_985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執行掛載雲端硬碟空間，點選連接Google雲端硬碟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g3bcf1ea64fb_0_9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449" y="1563320"/>
            <a:ext cx="6068280" cy="28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bcf1ea64fb_0_985"/>
          <p:cNvSpPr/>
          <p:nvPr/>
        </p:nvSpPr>
        <p:spPr>
          <a:xfrm flipH="1" rot="10800000">
            <a:off x="5181600" y="3239599"/>
            <a:ext cx="592200" cy="1407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g3bcf1ea64fb_0_985"/>
          <p:cNvCxnSpPr/>
          <p:nvPr/>
        </p:nvCxnSpPr>
        <p:spPr>
          <a:xfrm flipH="1">
            <a:off x="5804341" y="2967269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cf1ea64fb_0_99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69" name="Google Shape;469;g3bcf1ea64fb_0_99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70" name="Google Shape;470;g3bcf1ea64fb_0_99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1" name="Google Shape;471;g3bcf1ea64fb_0_996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點選要掛載的Google帳戶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g3bcf1ea64fb_0_9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0279" y="1563320"/>
            <a:ext cx="5406619" cy="2879401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bcf1ea64fb_0_996"/>
          <p:cNvSpPr/>
          <p:nvPr/>
        </p:nvSpPr>
        <p:spPr>
          <a:xfrm flipH="1" rot="10800000">
            <a:off x="3086100" y="2132339"/>
            <a:ext cx="1005900" cy="2451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g3bcf1ea64fb_0_996"/>
          <p:cNvCxnSpPr/>
          <p:nvPr/>
        </p:nvCxnSpPr>
        <p:spPr>
          <a:xfrm flipH="1">
            <a:off x="4091957" y="1800520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cf1ea64fb_0_100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81" name="Google Shape;481;g3bcf1ea64fb_0_100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82" name="Google Shape;482;g3bcf1ea64fb_0_100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3" name="Google Shape;483;g3bcf1ea64fb_0_1007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點選繼續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g3bcf1ea64fb_0_10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464" y="1563320"/>
            <a:ext cx="5402250" cy="28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bcf1ea64fb_0_1007"/>
          <p:cNvSpPr/>
          <p:nvPr/>
        </p:nvSpPr>
        <p:spPr>
          <a:xfrm flipH="1" rot="10800000">
            <a:off x="3617032" y="3010619"/>
            <a:ext cx="490200" cy="1974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g3bcf1ea64fb_0_1007"/>
          <p:cNvCxnSpPr/>
          <p:nvPr/>
        </p:nvCxnSpPr>
        <p:spPr>
          <a:xfrm flipH="1">
            <a:off x="4107197" y="2622788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cf1ea64fb_0_101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493" name="Google Shape;493;g3bcf1ea64fb_0_101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94" name="Google Shape;494;g3bcf1ea64fb_0_101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5" name="Google Shape;495;g3bcf1ea64fb_0_1018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第一次會需要勾選請選擇全擇，再點選繼續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g3bcf1ea64fb_0_10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6988" y="1563320"/>
            <a:ext cx="5433202" cy="28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bcf1ea64fb_0_1018"/>
          <p:cNvSpPr/>
          <p:nvPr/>
        </p:nvSpPr>
        <p:spPr>
          <a:xfrm flipH="1" rot="10800000">
            <a:off x="3566160" y="3112675"/>
            <a:ext cx="480300" cy="2064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g3bcf1ea64fb_0_1018"/>
          <p:cNvCxnSpPr/>
          <p:nvPr/>
        </p:nvCxnSpPr>
        <p:spPr>
          <a:xfrm flipH="1">
            <a:off x="4046237" y="2763884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g3bcf1ea64fb_0_10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477" y="1563320"/>
            <a:ext cx="6062223" cy="287939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bcf1ea64fb_0_102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506" name="Google Shape;506;g3bcf1ea64fb_0_102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07" name="Google Shape;507;g3bcf1ea64fb_0_102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8" name="Google Shape;508;g3bcf1ea64fb_0_1029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成功掛載後會再虛擬機硬碟中看到drive資料夾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bcf1ea64fb_0_1029"/>
          <p:cNvSpPr/>
          <p:nvPr/>
        </p:nvSpPr>
        <p:spPr>
          <a:xfrm flipH="1" rot="10800000">
            <a:off x="1905000" y="2933699"/>
            <a:ext cx="419100" cy="1143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g3bcf1ea64fb_0_1029"/>
          <p:cNvCxnSpPr/>
          <p:nvPr/>
        </p:nvCxnSpPr>
        <p:spPr>
          <a:xfrm flipH="1">
            <a:off x="2423177" y="2571750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cf1ea64fb_0_104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517" name="Google Shape;517;g3bcf1ea64fb_0_104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18" name="Google Shape;518;g3bcf1ea64fb_0_104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9" name="Google Shape;519;g3bcf1ea64fb_0_1040"/>
          <p:cNvSpPr txBox="1"/>
          <p:nvPr/>
        </p:nvSpPr>
        <p:spPr>
          <a:xfrm>
            <a:off x="710804" y="1082192"/>
            <a:ext cx="7998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上傳手寫字體壓縮檔，點選選擇檔案 → 選擇自己的手寫字體壓縮檔 → 開啟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g3bcf1ea64fb_0_1040"/>
          <p:cNvGrpSpPr/>
          <p:nvPr/>
        </p:nvGrpSpPr>
        <p:grpSpPr>
          <a:xfrm>
            <a:off x="972437" y="1542700"/>
            <a:ext cx="6132705" cy="2920639"/>
            <a:chOff x="1296583" y="2056933"/>
            <a:chExt cx="8176940" cy="3894185"/>
          </a:xfrm>
        </p:grpSpPr>
        <p:pic>
          <p:nvPicPr>
            <p:cNvPr id="521" name="Google Shape;521;g3bcf1ea64fb_0_10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6583" y="2056933"/>
              <a:ext cx="8176940" cy="3894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g3bcf1ea64fb_0_1040"/>
            <p:cNvSpPr/>
            <p:nvPr/>
          </p:nvSpPr>
          <p:spPr>
            <a:xfrm>
              <a:off x="3431363" y="5521692"/>
              <a:ext cx="433800" cy="269400"/>
            </a:xfrm>
            <a:prstGeom prst="rect">
              <a:avLst/>
            </a:prstGeom>
            <a:noFill/>
            <a:ln cap="flat" cmpd="sng" w="214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3" name="Google Shape;523;g3bcf1ea64fb_0_1040"/>
            <p:cNvCxnSpPr/>
            <p:nvPr/>
          </p:nvCxnSpPr>
          <p:spPr>
            <a:xfrm flipH="1">
              <a:off x="4818207" y="5039817"/>
              <a:ext cx="164100" cy="3753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524" name="Google Shape;524;g3bcf1ea64fb_0_1040"/>
          <p:cNvSpPr txBox="1"/>
          <p:nvPr/>
        </p:nvSpPr>
        <p:spPr>
          <a:xfrm>
            <a:off x="4268925" y="1461400"/>
            <a:ext cx="4471800" cy="594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注意：上傳的手寫字訓練集的圖片需為.png</a:t>
            </a:r>
            <a:br>
              <a:rPr lang="zh-TW"/>
            </a:br>
            <a:r>
              <a:rPr lang="zh-TW"/>
              <a:t>如果是APP書寫的同學，請至</a:t>
            </a:r>
            <a:r>
              <a:rPr lang="zh-TW" u="sng">
                <a:solidFill>
                  <a:schemeClr val="hlink"/>
                </a:solidFill>
                <a:hlinkClick r:id="rId4"/>
              </a:rPr>
              <a:t>02-2向量化</a:t>
            </a:r>
            <a:r>
              <a:rPr lang="zh-TW"/>
              <a:t>參考轉檔方式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cf1ea64fb_0_105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531" name="Google Shape;531;g3bcf1ea64fb_0_105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32" name="Google Shape;532;g3bcf1ea64fb_0_10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3" name="Google Shape;533;g3bcf1ea64fb_0_1052"/>
          <p:cNvSpPr txBox="1"/>
          <p:nvPr/>
        </p:nvSpPr>
        <p:spPr>
          <a:xfrm>
            <a:off x="710804" y="1082192"/>
            <a:ext cx="8227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執行上傳手寫字體檔案完後，在data_examples中會看到train這個是訓練集合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" name="Google Shape;534;g3bcf1ea64fb_0_1052"/>
          <p:cNvGrpSpPr/>
          <p:nvPr/>
        </p:nvGrpSpPr>
        <p:grpSpPr>
          <a:xfrm>
            <a:off x="1687238" y="1550537"/>
            <a:ext cx="6132702" cy="2904964"/>
            <a:chOff x="2249650" y="2067383"/>
            <a:chExt cx="8176936" cy="3873285"/>
          </a:xfrm>
        </p:grpSpPr>
        <p:pic>
          <p:nvPicPr>
            <p:cNvPr id="535" name="Google Shape;535;g3bcf1ea64fb_0_10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49650" y="2067383"/>
              <a:ext cx="8176936" cy="3873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g3bcf1ea64fb_0_1052"/>
            <p:cNvSpPr/>
            <p:nvPr/>
          </p:nvSpPr>
          <p:spPr>
            <a:xfrm flipH="1" rot="10800000">
              <a:off x="2633471" y="4247024"/>
              <a:ext cx="1115700" cy="542400"/>
            </a:xfrm>
            <a:prstGeom prst="rect">
              <a:avLst/>
            </a:prstGeom>
            <a:noFill/>
            <a:ln cap="flat" cmpd="sng" w="214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7" name="Google Shape;537;g3bcf1ea64fb_0_1052"/>
            <p:cNvCxnSpPr/>
            <p:nvPr/>
          </p:nvCxnSpPr>
          <p:spPr>
            <a:xfrm flipH="1">
              <a:off x="3861036" y="4004026"/>
              <a:ext cx="503700" cy="3753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cf1ea64fb_0_106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544" name="Google Shape;544;g3bcf1ea64fb_0_106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45" name="Google Shape;545;g3bcf1ea64fb_0_106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6" name="Google Shape;546;g3bcf1ea64fb_0_1064"/>
          <p:cNvSpPr txBox="1"/>
          <p:nvPr/>
        </p:nvSpPr>
        <p:spPr>
          <a:xfrm>
            <a:off x="710804" y="1082192"/>
            <a:ext cx="834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開始微調Fontdiffuser，看到輸出下面資訊有在跑動就代表成功執行了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7" name="Google Shape;547;g3bcf1ea64fb_0_1064"/>
          <p:cNvGrpSpPr/>
          <p:nvPr/>
        </p:nvGrpSpPr>
        <p:grpSpPr>
          <a:xfrm>
            <a:off x="1732184" y="1563320"/>
            <a:ext cx="6042810" cy="2879399"/>
            <a:chOff x="2309579" y="2084427"/>
            <a:chExt cx="8057080" cy="3839199"/>
          </a:xfrm>
        </p:grpSpPr>
        <p:pic>
          <p:nvPicPr>
            <p:cNvPr id="548" name="Google Shape;548;g3bcf1ea64fb_0_10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9579" y="2084427"/>
              <a:ext cx="8057080" cy="3839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9" name="Google Shape;549;g3bcf1ea64fb_0_1064"/>
            <p:cNvSpPr/>
            <p:nvPr/>
          </p:nvSpPr>
          <p:spPr>
            <a:xfrm flipH="1" rot="10800000">
              <a:off x="4348480" y="5519003"/>
              <a:ext cx="2905800" cy="152400"/>
            </a:xfrm>
            <a:prstGeom prst="rect">
              <a:avLst/>
            </a:prstGeom>
            <a:noFill/>
            <a:ln cap="flat" cmpd="sng" w="214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0" name="Google Shape;550;g3bcf1ea64fb_0_1064"/>
            <p:cNvCxnSpPr/>
            <p:nvPr/>
          </p:nvCxnSpPr>
          <p:spPr>
            <a:xfrm flipH="1">
              <a:off x="7254163" y="5079149"/>
              <a:ext cx="503700" cy="3753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bcf1ea64fb_0_10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184" y="1563320"/>
            <a:ext cx="6042810" cy="28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bcf1ea64fb_0_107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558" name="Google Shape;558;g3bcf1ea64fb_0_107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59" name="Google Shape;559;g3bcf1ea64fb_0_107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0" name="Google Shape;560;g3bcf1ea64fb_0_1076"/>
          <p:cNvSpPr txBox="1"/>
          <p:nvPr/>
        </p:nvSpPr>
        <p:spPr>
          <a:xfrm>
            <a:off x="167640" y="1082192"/>
            <a:ext cx="8885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每1000步會複製權重到先前掛載雲端硬碟的Fontdiffuser_finetuning_ckpt資料夾內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bcf1ea64fb_0_1076"/>
          <p:cNvSpPr/>
          <p:nvPr/>
        </p:nvSpPr>
        <p:spPr>
          <a:xfrm flipH="1" rot="10800000">
            <a:off x="3261360" y="4139252"/>
            <a:ext cx="2179500" cy="1143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2" name="Google Shape;562;g3bcf1ea64fb_0_1076"/>
          <p:cNvCxnSpPr/>
          <p:nvPr/>
        </p:nvCxnSpPr>
        <p:spPr>
          <a:xfrm flipH="1">
            <a:off x="5440697" y="3809362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g3bcf1ea64fb_0_1087"/>
          <p:cNvPicPr preferRelativeResize="0"/>
          <p:nvPr/>
        </p:nvPicPr>
        <p:blipFill rotWithShape="1">
          <a:blip r:embed="rId3">
            <a:alphaModFix/>
          </a:blip>
          <a:srcRect b="0" l="0" r="0" t="9747"/>
          <a:stretch/>
        </p:blipFill>
        <p:spPr>
          <a:xfrm>
            <a:off x="1742165" y="1844039"/>
            <a:ext cx="6022850" cy="2598678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3bcf1ea64fb_0_108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執行Fontdiffuser_Finetuning</a:t>
            </a:r>
            <a:endParaRPr/>
          </a:p>
        </p:txBody>
      </p:sp>
      <p:sp>
        <p:nvSpPr>
          <p:cNvPr id="570" name="Google Shape;570;g3bcf1ea64fb_0_108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71" name="Google Shape;571;g3bcf1ea64fb_0_108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2" name="Google Shape;572;g3bcf1ea64fb_0_1087"/>
          <p:cNvSpPr txBox="1"/>
          <p:nvPr/>
        </p:nvSpPr>
        <p:spPr>
          <a:xfrm>
            <a:off x="710804" y="1082192"/>
            <a:ext cx="8341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預設是放在Fontdiffuser_finetuning_ckpt中</a:t>
            </a:r>
            <a:r>
              <a:rPr b="1" i="0" lang="zh-TW" sz="18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(建議不要移動後續推論會直接抓取權重檔案載入到虛擬機中，若是要移動後續推論需自行修改抓取位置)</a:t>
            </a:r>
            <a:endParaRPr b="1" i="0" sz="18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3" name="Google Shape;573;g3bcf1ea64fb_0_1087"/>
          <p:cNvSpPr/>
          <p:nvPr/>
        </p:nvSpPr>
        <p:spPr>
          <a:xfrm flipH="1" rot="10800000">
            <a:off x="2758440" y="2487059"/>
            <a:ext cx="3421500" cy="545700"/>
          </a:xfrm>
          <a:prstGeom prst="rect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g3bcf1ea64fb_0_1087"/>
          <p:cNvCxnSpPr/>
          <p:nvPr/>
        </p:nvCxnSpPr>
        <p:spPr>
          <a:xfrm flipH="1">
            <a:off x="5440697" y="3809362"/>
            <a:ext cx="377700" cy="281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聯絡資訊</a:t>
            </a:r>
            <a:endParaRPr/>
          </a:p>
        </p:txBody>
      </p:sp>
      <p:sp>
        <p:nvSpPr>
          <p:cNvPr id="580" name="Google Shape;580;p6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581" name="Google Shape;581;p6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82" name="Google Shape;582;p6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cf1ea64fb_0_1536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589" name="Google Shape;589;g3bcf1ea64fb_0_1536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590" name="Google Shape;590;g3bcf1ea64fb_0_1536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1" name="Google Shape;591;g3bcf1ea64fb_0_1536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1600" u="sng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sz="1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