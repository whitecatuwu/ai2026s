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2" r:id="rId6"/>
    <p:sldMasterId id="2147483656" r:id="rId7"/>
    <p:sldMasterId id="2147483668" r:id="rId8"/>
    <p:sldMasterId id="2147483672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</p:sldIdLst>
  <p:sldSz cy="5143500" cx="9144000"/>
  <p:notesSz cx="6858000" cy="9144000"/>
  <p:embeddedFontLst>
    <p:embeddedFont>
      <p:font typeface="Mulish ExtraLight"/>
      <p:regular r:id="rId46"/>
      <p:bold r:id="rId47"/>
      <p:italic r:id="rId48"/>
      <p:boldItalic r:id="rId49"/>
    </p:embeddedFont>
    <p:embeddedFont>
      <p:font typeface="Mulish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54" roundtripDataSignature="AMtx7mgpV6bqnRVD3vmCnKTsja6HzDD8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FD52D1A-67E4-43C9-8DC4-4BE561D99278}">
  <a:tblStyle styleId="{8FD52D1A-67E4-43C9-8DC4-4BE561D9927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0.xml"/><Relationship Id="rId42" Type="http://schemas.openxmlformats.org/officeDocument/2006/relationships/slide" Target="slides/slide32.xml"/><Relationship Id="rId41" Type="http://schemas.openxmlformats.org/officeDocument/2006/relationships/slide" Target="slides/slide31.xml"/><Relationship Id="rId44" Type="http://schemas.openxmlformats.org/officeDocument/2006/relationships/slide" Target="slides/slide34.xml"/><Relationship Id="rId43" Type="http://schemas.openxmlformats.org/officeDocument/2006/relationships/slide" Target="slides/slide33.xml"/><Relationship Id="rId46" Type="http://schemas.openxmlformats.org/officeDocument/2006/relationships/font" Target="fonts/MulishExtraLight-regular.fntdata"/><Relationship Id="rId45" Type="http://schemas.openxmlformats.org/officeDocument/2006/relationships/slide" Target="slides/slide35.xml"/><Relationship Id="rId1" Type="http://schemas.openxmlformats.org/officeDocument/2006/relationships/theme" Target="theme/theme6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Master" Target="slideMasters/slideMaster5.xml"/><Relationship Id="rId48" Type="http://schemas.openxmlformats.org/officeDocument/2006/relationships/font" Target="fonts/MulishExtraLight-italic.fntdata"/><Relationship Id="rId47" Type="http://schemas.openxmlformats.org/officeDocument/2006/relationships/font" Target="fonts/MulishExtraLight-bold.fntdata"/><Relationship Id="rId49" Type="http://schemas.openxmlformats.org/officeDocument/2006/relationships/font" Target="fonts/MulishExtraLight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31" Type="http://schemas.openxmlformats.org/officeDocument/2006/relationships/slide" Target="slides/slide21.xml"/><Relationship Id="rId30" Type="http://schemas.openxmlformats.org/officeDocument/2006/relationships/slide" Target="slides/slide20.xml"/><Relationship Id="rId33" Type="http://schemas.openxmlformats.org/officeDocument/2006/relationships/slide" Target="slides/slide23.xml"/><Relationship Id="rId32" Type="http://schemas.openxmlformats.org/officeDocument/2006/relationships/slide" Target="slides/slide22.xml"/><Relationship Id="rId35" Type="http://schemas.openxmlformats.org/officeDocument/2006/relationships/slide" Target="slides/slide25.xml"/><Relationship Id="rId34" Type="http://schemas.openxmlformats.org/officeDocument/2006/relationships/slide" Target="slides/slide24.xml"/><Relationship Id="rId37" Type="http://schemas.openxmlformats.org/officeDocument/2006/relationships/slide" Target="slides/slide27.xml"/><Relationship Id="rId36" Type="http://schemas.openxmlformats.org/officeDocument/2006/relationships/slide" Target="slides/slide26.xml"/><Relationship Id="rId39" Type="http://schemas.openxmlformats.org/officeDocument/2006/relationships/slide" Target="slides/slide29.xml"/><Relationship Id="rId38" Type="http://schemas.openxmlformats.org/officeDocument/2006/relationships/slide" Target="slides/slide28.xml"/><Relationship Id="rId20" Type="http://schemas.openxmlformats.org/officeDocument/2006/relationships/slide" Target="slides/slide10.xml"/><Relationship Id="rId22" Type="http://schemas.openxmlformats.org/officeDocument/2006/relationships/slide" Target="slides/slide12.xml"/><Relationship Id="rId21" Type="http://schemas.openxmlformats.org/officeDocument/2006/relationships/slide" Target="slides/slide11.xml"/><Relationship Id="rId24" Type="http://schemas.openxmlformats.org/officeDocument/2006/relationships/slide" Target="slides/slide14.xml"/><Relationship Id="rId23" Type="http://schemas.openxmlformats.org/officeDocument/2006/relationships/slide" Target="slides/slide13.xml"/><Relationship Id="rId26" Type="http://schemas.openxmlformats.org/officeDocument/2006/relationships/slide" Target="slides/slide16.xml"/><Relationship Id="rId25" Type="http://schemas.openxmlformats.org/officeDocument/2006/relationships/slide" Target="slides/slide15.xml"/><Relationship Id="rId28" Type="http://schemas.openxmlformats.org/officeDocument/2006/relationships/slide" Target="slides/slide18.xml"/><Relationship Id="rId27" Type="http://schemas.openxmlformats.org/officeDocument/2006/relationships/slide" Target="slides/slide17.xml"/><Relationship Id="rId29" Type="http://schemas.openxmlformats.org/officeDocument/2006/relationships/slide" Target="slides/slide19.xml"/><Relationship Id="rId51" Type="http://schemas.openxmlformats.org/officeDocument/2006/relationships/font" Target="fonts/Mulish-bold.fntdata"/><Relationship Id="rId50" Type="http://schemas.openxmlformats.org/officeDocument/2006/relationships/font" Target="fonts/Mulish-regular.fntdata"/><Relationship Id="rId53" Type="http://schemas.openxmlformats.org/officeDocument/2006/relationships/font" Target="fonts/Mulish-boldItalic.fntdata"/><Relationship Id="rId52" Type="http://schemas.openxmlformats.org/officeDocument/2006/relationships/font" Target="fonts/Mulish-italic.fntdata"/><Relationship Id="rId11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54" Type="http://customschemas.google.com/relationships/presentationmetadata" Target="metadata"/><Relationship Id="rId13" Type="http://schemas.openxmlformats.org/officeDocument/2006/relationships/slide" Target="slides/slide3.xml"/><Relationship Id="rId12" Type="http://schemas.openxmlformats.org/officeDocument/2006/relationships/slide" Target="slides/slide2.xml"/><Relationship Id="rId15" Type="http://schemas.openxmlformats.org/officeDocument/2006/relationships/slide" Target="slides/slide5.xml"/><Relationship Id="rId14" Type="http://schemas.openxmlformats.org/officeDocument/2006/relationships/slide" Target="slides/slide4.xml"/><Relationship Id="rId17" Type="http://schemas.openxmlformats.org/officeDocument/2006/relationships/slide" Target="slides/slide7.xml"/><Relationship Id="rId16" Type="http://schemas.openxmlformats.org/officeDocument/2006/relationships/slide" Target="slides/slide6.xml"/><Relationship Id="rId19" Type="http://schemas.openxmlformats.org/officeDocument/2006/relationships/slide" Target="slides/slide9.xml"/><Relationship Id="rId18" Type="http://schemas.openxmlformats.org/officeDocument/2006/relationships/slide" Target="slides/slide8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t/>
            </a:r>
            <a:endParaRPr/>
          </a:p>
        </p:txBody>
      </p:sp>
      <p:sp>
        <p:nvSpPr>
          <p:cNvPr id="137" name="Google Shape;13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ee1ebd2a2_0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dee1ebd2a2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ee1ebd2a2_0_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dee1ebd2a2_0_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dee1ebd2a2_0_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ee1ebd2a2_0_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dee1ebd2a2_0_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dee1ebd2a2_0_9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ee1ebd2a2_0_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dee1ebd2a2_0_1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dee1ebd2a2_0_1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ee1ebd2a2_0_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dee1ebd2a2_0_1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dee1ebd2a2_0_10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dee1ebd2a2_0_1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dee1ebd2a2_0_1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dee1ebd2a2_0_1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dee1ebd2a2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dee1ebd2a2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dee1ebd2a2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dee1ebd2a2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dee1ebd2a2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dee1ebd2a2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bcf1ea64fb_0_13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g3bcf1ea64fb_0_13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dee1ebd2a2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dee1ebd2a2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dee1ebd2a2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dee1ebd2a2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dee1ebd2a2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dee1ebd2a2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dee1ebd2a2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dee1ebd2a2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dee1ebd2a2_0_2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9" name="Google Shape;339;g3dee1ebd2a2_0_2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dee1ebd2a2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dee1ebd2a2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dee1ebd2a2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dee1ebd2a2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dee1ebd2a2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dee1ebd2a2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dee1ebd2a2_0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dee1ebd2a2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dee1ebd2a2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dee1ebd2a2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dee1ebd2a2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dee1ebd2a2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dee1ebd2a2_0_3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g3dee1ebd2a2_0_3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dee1ebd2a2_0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dee1ebd2a2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dee1ebd2a2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dee1ebd2a2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dee1ebd2a2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dee1ebd2a2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dee1ebd2a2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dee1ebd2a2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dee1ebd2a2_0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dee1ebd2a2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dee1ebd2a2_0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dee1ebd2a2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1" name="Google Shape;471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bcf1ea64fb_0_15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g3bcf1ea64fb_0_15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0" name="Google Shape;480;g3bcf1ea64fb_0_15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首頁_中英標題">
  <p:cSld name="首頁_中英標題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65"/>
          <p:cNvSpPr txBox="1"/>
          <p:nvPr>
            <p:ph type="ctrTitle"/>
          </p:nvPr>
        </p:nvSpPr>
        <p:spPr>
          <a:xfrm>
            <a:off x="725332" y="1705871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65"/>
          <p:cNvSpPr txBox="1"/>
          <p:nvPr>
            <p:ph idx="1" type="body"/>
          </p:nvPr>
        </p:nvSpPr>
        <p:spPr>
          <a:xfrm>
            <a:off x="725332" y="2255322"/>
            <a:ext cx="76434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5"/>
          <p:cNvSpPr txBox="1"/>
          <p:nvPr>
            <p:ph idx="2" type="body"/>
          </p:nvPr>
        </p:nvSpPr>
        <p:spPr>
          <a:xfrm>
            <a:off x="725331" y="3429000"/>
            <a:ext cx="49875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5"/>
          <p:cNvSpPr txBox="1"/>
          <p:nvPr>
            <p:ph idx="3" type="body"/>
          </p:nvPr>
        </p:nvSpPr>
        <p:spPr>
          <a:xfrm>
            <a:off x="725331" y="3768755"/>
            <a:ext cx="49875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首頁_中文標題">
  <p:cSld name="首頁_中文標題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9"/>
          <p:cNvSpPr txBox="1"/>
          <p:nvPr>
            <p:ph type="ctrTitle"/>
          </p:nvPr>
        </p:nvSpPr>
        <p:spPr>
          <a:xfrm>
            <a:off x="725332" y="1606129"/>
            <a:ext cx="4767300" cy="14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79"/>
          <p:cNvSpPr txBox="1"/>
          <p:nvPr>
            <p:ph idx="1" type="body"/>
          </p:nvPr>
        </p:nvSpPr>
        <p:spPr>
          <a:xfrm>
            <a:off x="725331" y="3429000"/>
            <a:ext cx="49875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79"/>
          <p:cNvSpPr txBox="1"/>
          <p:nvPr>
            <p:ph idx="2" type="body"/>
          </p:nvPr>
        </p:nvSpPr>
        <p:spPr>
          <a:xfrm>
            <a:off x="725331" y="3768755"/>
            <a:ext cx="49875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首頁_英文標題">
  <p:cSld name="首頁_英文標題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0"/>
          <p:cNvSpPr txBox="1"/>
          <p:nvPr>
            <p:ph idx="1" type="body"/>
          </p:nvPr>
        </p:nvSpPr>
        <p:spPr>
          <a:xfrm>
            <a:off x="725332" y="1621650"/>
            <a:ext cx="4767300" cy="13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80"/>
          <p:cNvSpPr txBox="1"/>
          <p:nvPr>
            <p:ph idx="2" type="body"/>
          </p:nvPr>
        </p:nvSpPr>
        <p:spPr>
          <a:xfrm>
            <a:off x="725331" y="3429000"/>
            <a:ext cx="49875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80"/>
          <p:cNvSpPr txBox="1"/>
          <p:nvPr>
            <p:ph idx="3" type="body"/>
          </p:nvPr>
        </p:nvSpPr>
        <p:spPr>
          <a:xfrm>
            <a:off x="725331" y="3768755"/>
            <a:ext cx="49875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文標題">
  <p:cSld name="章節N_中文標題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7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2" name="Google Shape;22;p67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67"/>
          <p:cNvSpPr txBox="1"/>
          <p:nvPr>
            <p:ph idx="1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67"/>
          <p:cNvSpPr txBox="1"/>
          <p:nvPr>
            <p:ph idx="2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英標題">
  <p:cSld name="章節N_中英標題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02"/>
          <p:cNvSpPr txBox="1"/>
          <p:nvPr>
            <p:ph type="ctrTitle"/>
          </p:nvPr>
        </p:nvSpPr>
        <p:spPr>
          <a:xfrm>
            <a:off x="725332" y="1814327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02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102"/>
          <p:cNvSpPr txBox="1"/>
          <p:nvPr>
            <p:ph idx="2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102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0" name="Google Shape;30;p102"/>
          <p:cNvSpPr txBox="1"/>
          <p:nvPr>
            <p:ph idx="3" type="body"/>
          </p:nvPr>
        </p:nvSpPr>
        <p:spPr>
          <a:xfrm>
            <a:off x="725332" y="2343406"/>
            <a:ext cx="76434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英文標題">
  <p:cSld name="章節N_英文標題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3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3" name="Google Shape;33;p103"/>
          <p:cNvSpPr txBox="1"/>
          <p:nvPr>
            <p:ph idx="1" type="body"/>
          </p:nvPr>
        </p:nvSpPr>
        <p:spPr>
          <a:xfrm>
            <a:off x="725332" y="1684567"/>
            <a:ext cx="4767300" cy="1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103"/>
          <p:cNvSpPr txBox="1"/>
          <p:nvPr>
            <p:ph idx="2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103"/>
          <p:cNvSpPr txBox="1"/>
          <p:nvPr>
            <p:ph idx="3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中文標題＋文字">
  <p:cSld name="內容頁_中文標題＋文字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de71b6907c_1_181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g3de71b6907c_1_181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g3de71b6907c_1_181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g3de71b6907c_1_181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僅中文標題">
  <p:cSld name="內容頁_僅中文標題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de71b6907c_1_177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g3de71b6907c_1_177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g3de71b6907c_1_177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英文標題＋文字">
  <p:cSld name="內容頁_英文標題＋文字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de71b6907c_1_186"/>
          <p:cNvSpPr txBox="1"/>
          <p:nvPr>
            <p:ph type="ctrTitle"/>
          </p:nvPr>
        </p:nvSpPr>
        <p:spPr>
          <a:xfrm>
            <a:off x="715019" y="546514"/>
            <a:ext cx="66225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Mulish"/>
              <a:buNone/>
              <a:defRPr b="1" i="0" sz="26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g3de71b6907c_1_186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g3de71b6907c_1_186"/>
          <p:cNvSpPr txBox="1"/>
          <p:nvPr>
            <p:ph idx="2" type="body"/>
          </p:nvPr>
        </p:nvSpPr>
        <p:spPr>
          <a:xfrm>
            <a:off x="715566" y="1184141"/>
            <a:ext cx="7577100" cy="30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g3de71b6907c_1_186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">
  <p:cSld name="內容頁_滿版圖片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de71b6907c_1_191"/>
          <p:cNvSpPr/>
          <p:nvPr>
            <p:ph idx="2" type="pic"/>
          </p:nvPr>
        </p:nvSpPr>
        <p:spPr>
          <a:xfrm>
            <a:off x="0" y="0"/>
            <a:ext cx="9002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g3de71b6907c_1_191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＋中文標題">
  <p:cSld name="內容頁_滿版圖片＋中文標題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de71b6907c_1_194"/>
          <p:cNvSpPr/>
          <p:nvPr>
            <p:ph idx="2" type="pic"/>
          </p:nvPr>
        </p:nvSpPr>
        <p:spPr>
          <a:xfrm>
            <a:off x="0" y="891988"/>
            <a:ext cx="9001800" cy="42516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g3de71b6907c_1_194"/>
          <p:cNvSpPr/>
          <p:nvPr/>
        </p:nvSpPr>
        <p:spPr>
          <a:xfrm>
            <a:off x="1" y="0"/>
            <a:ext cx="8997900" cy="8919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g3de71b6907c_1_194"/>
          <p:cNvSpPr txBox="1"/>
          <p:nvPr>
            <p:ph type="ctrTitle"/>
          </p:nvPr>
        </p:nvSpPr>
        <p:spPr>
          <a:xfrm>
            <a:off x="715019" y="269254"/>
            <a:ext cx="7841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Microsoft JhengHei"/>
              <a:buNone/>
              <a:defRPr b="1" i="0" sz="2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g3de71b6907c_1_194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內容頁_滿版圖片＋英文標題">
  <p:cSld name="1_內容頁_滿版圖片＋英文標題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de71b6907c_1_199"/>
          <p:cNvSpPr/>
          <p:nvPr>
            <p:ph idx="2" type="pic"/>
          </p:nvPr>
        </p:nvSpPr>
        <p:spPr>
          <a:xfrm>
            <a:off x="0" y="891988"/>
            <a:ext cx="9001800" cy="42516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g3de71b6907c_1_199"/>
          <p:cNvSpPr/>
          <p:nvPr/>
        </p:nvSpPr>
        <p:spPr>
          <a:xfrm>
            <a:off x="1" y="0"/>
            <a:ext cx="8997900" cy="8919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de71b6907c_1_199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3" name="Google Shape;63;g3de71b6907c_1_199"/>
          <p:cNvSpPr txBox="1"/>
          <p:nvPr>
            <p:ph type="ctrTitle"/>
          </p:nvPr>
        </p:nvSpPr>
        <p:spPr>
          <a:xfrm>
            <a:off x="715019" y="270478"/>
            <a:ext cx="66225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Mulish"/>
              <a:buNone/>
              <a:defRPr b="1" i="0" sz="26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僅英文標題">
  <p:cSld name="內容頁_僅英文標題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e71b6907c_1_204"/>
          <p:cNvSpPr txBox="1"/>
          <p:nvPr>
            <p:ph type="ctrTitle"/>
          </p:nvPr>
        </p:nvSpPr>
        <p:spPr>
          <a:xfrm>
            <a:off x="715019" y="546514"/>
            <a:ext cx="66225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Mulish"/>
              <a:buNone/>
              <a:defRPr b="1" i="0" sz="26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g3de71b6907c_1_204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g3de71b6907c_1_204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空白頁">
  <p:cSld name="內容頁_空白頁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e71b6907c_1_208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g3de71b6907c_1_208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中文標題＋文字 1">
  <p:cSld name="內容頁_中文標題＋文字 2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e71b6907c_1_211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g3de71b6907c_1_211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g3de71b6907c_1_211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g3de71b6907c_1_211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文標題">
  <p:cSld name="章節N_中文標題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e71b6907c_1_216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78" name="Google Shape;78;g3de71b6907c_1_216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g3de71b6907c_1_216"/>
          <p:cNvSpPr txBox="1"/>
          <p:nvPr>
            <p:ph idx="1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Google Shape;80;g3de71b6907c_1_216"/>
          <p:cNvSpPr txBox="1"/>
          <p:nvPr>
            <p:ph idx="2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英標題">
  <p:cSld name="章節N_中英標題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e71b6907c_1_221"/>
          <p:cNvSpPr txBox="1"/>
          <p:nvPr>
            <p:ph type="ctrTitle"/>
          </p:nvPr>
        </p:nvSpPr>
        <p:spPr>
          <a:xfrm>
            <a:off x="725332" y="1814327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g3de71b6907c_1_221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g3de71b6907c_1_221"/>
          <p:cNvSpPr txBox="1"/>
          <p:nvPr>
            <p:ph idx="2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g3de71b6907c_1_221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86" name="Google Shape;86;g3de71b6907c_1_221"/>
          <p:cNvSpPr txBox="1"/>
          <p:nvPr>
            <p:ph idx="3" type="body"/>
          </p:nvPr>
        </p:nvSpPr>
        <p:spPr>
          <a:xfrm>
            <a:off x="725332" y="2343406"/>
            <a:ext cx="76434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英標題">
  <p:cSld name="章節N_中英標題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cf1ea64fb_0_1426"/>
          <p:cNvSpPr txBox="1"/>
          <p:nvPr>
            <p:ph type="ctrTitle"/>
          </p:nvPr>
        </p:nvSpPr>
        <p:spPr>
          <a:xfrm>
            <a:off x="725332" y="1814327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0" name="Google Shape;90;g3bcf1ea64fb_0_1426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g3bcf1ea64fb_0_1426"/>
          <p:cNvSpPr txBox="1"/>
          <p:nvPr>
            <p:ph idx="2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" name="Google Shape;92;g3bcf1ea64fb_0_1426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93" name="Google Shape;93;g3bcf1ea64fb_0_1426"/>
          <p:cNvSpPr txBox="1"/>
          <p:nvPr>
            <p:ph idx="3" type="body"/>
          </p:nvPr>
        </p:nvSpPr>
        <p:spPr>
          <a:xfrm>
            <a:off x="725332" y="2343406"/>
            <a:ext cx="76434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文標題">
  <p:cSld name="章節N_中文標題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cf1ea64fb_0_1432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96" name="Google Shape;96;g3bcf1ea64fb_0_1432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g3bcf1ea64fb_0_1432"/>
          <p:cNvSpPr txBox="1"/>
          <p:nvPr>
            <p:ph idx="1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g3bcf1ea64fb_0_1432"/>
          <p:cNvSpPr txBox="1"/>
          <p:nvPr>
            <p:ph idx="2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英文標題">
  <p:cSld name="章節N_英文標題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cf1ea64fb_0_1437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01" name="Google Shape;101;g3bcf1ea64fb_0_1437"/>
          <p:cNvSpPr txBox="1"/>
          <p:nvPr>
            <p:ph idx="1" type="body"/>
          </p:nvPr>
        </p:nvSpPr>
        <p:spPr>
          <a:xfrm>
            <a:off x="725332" y="1684567"/>
            <a:ext cx="4767300" cy="1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2" name="Google Shape;102;g3bcf1ea64fb_0_1437"/>
          <p:cNvSpPr txBox="1"/>
          <p:nvPr>
            <p:ph idx="2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" name="Google Shape;103;g3bcf1ea64fb_0_1437"/>
          <p:cNvSpPr txBox="1"/>
          <p:nvPr>
            <p:ph idx="3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中文標題＋文字">
  <p:cSld name="內容頁_中文標題＋文字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ee1ebd2a2_0_135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7" name="Google Shape;107;g3dee1ebd2a2_0_135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g3dee1ebd2a2_0_135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" name="Google Shape;109;g3dee1ebd2a2_0_135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">
  <p:cSld name="內容頁_滿版圖片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ee1ebd2a2_0_140"/>
          <p:cNvSpPr/>
          <p:nvPr>
            <p:ph idx="2" type="pic"/>
          </p:nvPr>
        </p:nvSpPr>
        <p:spPr>
          <a:xfrm>
            <a:off x="0" y="0"/>
            <a:ext cx="9002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g3dee1ebd2a2_0_140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英文標題＋文字">
  <p:cSld name="內容頁_英文標題＋文字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ee1ebd2a2_0_143"/>
          <p:cNvSpPr txBox="1"/>
          <p:nvPr>
            <p:ph type="ctrTitle"/>
          </p:nvPr>
        </p:nvSpPr>
        <p:spPr>
          <a:xfrm>
            <a:off x="715019" y="546514"/>
            <a:ext cx="66225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Mulish"/>
              <a:buNone/>
              <a:defRPr b="1" i="0" sz="26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" name="Google Shape;115;g3dee1ebd2a2_0_143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6" name="Google Shape;116;g3dee1ebd2a2_0_143"/>
          <p:cNvSpPr txBox="1"/>
          <p:nvPr>
            <p:ph idx="2" type="body"/>
          </p:nvPr>
        </p:nvSpPr>
        <p:spPr>
          <a:xfrm>
            <a:off x="715566" y="1184141"/>
            <a:ext cx="7577100" cy="30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g3dee1ebd2a2_0_143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＋中文標題">
  <p:cSld name="內容頁_滿版圖片＋中文標題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ee1ebd2a2_0_148"/>
          <p:cNvSpPr/>
          <p:nvPr>
            <p:ph idx="2" type="pic"/>
          </p:nvPr>
        </p:nvSpPr>
        <p:spPr>
          <a:xfrm>
            <a:off x="0" y="891988"/>
            <a:ext cx="9001800" cy="4251600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g3dee1ebd2a2_0_148"/>
          <p:cNvSpPr/>
          <p:nvPr/>
        </p:nvSpPr>
        <p:spPr>
          <a:xfrm>
            <a:off x="1" y="0"/>
            <a:ext cx="8997900" cy="8919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3dee1ebd2a2_0_148"/>
          <p:cNvSpPr txBox="1"/>
          <p:nvPr>
            <p:ph type="ctrTitle"/>
          </p:nvPr>
        </p:nvSpPr>
        <p:spPr>
          <a:xfrm>
            <a:off x="715019" y="269254"/>
            <a:ext cx="7841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Microsoft JhengHei"/>
              <a:buNone/>
              <a:defRPr b="1" i="0" sz="2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" name="Google Shape;122;g3dee1ebd2a2_0_148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內容頁_滿版圖片＋英文標題">
  <p:cSld name="1_內容頁_滿版圖片＋英文標題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ee1ebd2a2_0_153"/>
          <p:cNvSpPr/>
          <p:nvPr>
            <p:ph idx="2" type="pic"/>
          </p:nvPr>
        </p:nvSpPr>
        <p:spPr>
          <a:xfrm>
            <a:off x="0" y="891988"/>
            <a:ext cx="9001800" cy="42516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g3dee1ebd2a2_0_153"/>
          <p:cNvSpPr/>
          <p:nvPr/>
        </p:nvSpPr>
        <p:spPr>
          <a:xfrm>
            <a:off x="1" y="0"/>
            <a:ext cx="8997900" cy="8919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3dee1ebd2a2_0_153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27" name="Google Shape;127;g3dee1ebd2a2_0_153"/>
          <p:cNvSpPr txBox="1"/>
          <p:nvPr>
            <p:ph type="ctrTitle"/>
          </p:nvPr>
        </p:nvSpPr>
        <p:spPr>
          <a:xfrm>
            <a:off x="715019" y="270478"/>
            <a:ext cx="66225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Mulish"/>
              <a:buNone/>
              <a:defRPr b="1" i="0" sz="26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僅英文標題">
  <p:cSld name="內容頁_僅英文標題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ee1ebd2a2_0_158"/>
          <p:cNvSpPr txBox="1"/>
          <p:nvPr>
            <p:ph type="ctrTitle"/>
          </p:nvPr>
        </p:nvSpPr>
        <p:spPr>
          <a:xfrm>
            <a:off x="715019" y="546514"/>
            <a:ext cx="66225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Mulish"/>
              <a:buNone/>
              <a:defRPr b="1" i="0" sz="26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0" name="Google Shape;130;g3dee1ebd2a2_0_158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1" name="Google Shape;131;g3dee1ebd2a2_0_158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空白頁">
  <p:cSld name="內容頁_空白頁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ee1ebd2a2_0_162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4" name="Google Shape;134;g3dee1ebd2a2_0_162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7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6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9.jpg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theme" Target="../theme/theme3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3" Type="http://schemas.openxmlformats.org/officeDocument/2006/relationships/theme" Target="../theme/theme5.xml"/><Relationship Id="rId12" Type="http://schemas.openxmlformats.org/officeDocument/2006/relationships/slideLayout" Target="../slideLayouts/slideLayout17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9.jpg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theme" Target="../theme/theme4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2"/>
    <p:sldLayoutId id="2147483654" r:id="rId3"/>
    <p:sldLayoutId id="2147483655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2"/>
    <p:sldLayoutId id="2147483670" r:id="rId3"/>
    <p:sldLayoutId id="214748367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hub.com/lctung/fontdiffuser-finetune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language.moe.gov.tw/material/info?m=9fe3ff5a-5a8c-4817-9e60-6337dd55a509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zh.wikipedia.org/wiki/%E6%A8%99%E9%BB%9E%E7%AC%A6%E8%99%9F" TargetMode="External"/><Relationship Id="rId4" Type="http://schemas.openxmlformats.org/officeDocument/2006/relationships/hyperlink" Target="https://zh.wikipedia.org/w/index.php?title=%E7%89%B9%E6%AE%8A%E7%AC%A6%E8%99%9F&amp;action=edit&amp;redlink=1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Relationship Id="rId5" Type="http://schemas.openxmlformats.org/officeDocument/2006/relationships/image" Target="../media/image30.png"/><Relationship Id="rId6" Type="http://schemas.openxmlformats.org/officeDocument/2006/relationships/image" Target="../media/image4.png"/><Relationship Id="rId7" Type="http://schemas.openxmlformats.org/officeDocument/2006/relationships/image" Target="../media/image3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0.png"/><Relationship Id="rId4" Type="http://schemas.openxmlformats.org/officeDocument/2006/relationships/image" Target="../media/image19.png"/><Relationship Id="rId5" Type="http://schemas.openxmlformats.org/officeDocument/2006/relationships/image" Target="../media/image13.png"/><Relationship Id="rId6" Type="http://schemas.openxmlformats.org/officeDocument/2006/relationships/image" Target="../media/image3.png"/><Relationship Id="rId7" Type="http://schemas.openxmlformats.org/officeDocument/2006/relationships/image" Target="../media/image3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33.png"/><Relationship Id="rId7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.png"/><Relationship Id="rId4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22.png"/><Relationship Id="rId5" Type="http://schemas.openxmlformats.org/officeDocument/2006/relationships/image" Target="../media/image3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github.com/lctung/char-extractor" TargetMode="External"/><Relationship Id="rId4" Type="http://schemas.openxmlformats.org/officeDocument/2006/relationships/image" Target="../media/image2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www.unicode.org/Public/MAPPINGS/VENDORS/MICSFT/WINDOWS/CP950.TXT" TargetMode="External"/><Relationship Id="rId4" Type="http://schemas.openxmlformats.org/officeDocument/2006/relationships/image" Target="../media/image14.png"/><Relationship Id="rId5" Type="http://schemas.openxmlformats.org/officeDocument/2006/relationships/image" Target="../media/image3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github.com/lctung/char-extractor" TargetMode="External"/><Relationship Id="rId4" Type="http://schemas.openxmlformats.org/officeDocument/2006/relationships/image" Target="../media/image2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.png"/><Relationship Id="rId4" Type="http://schemas.openxmlformats.org/officeDocument/2006/relationships/image" Target="../media/image2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hyperlink" Target="mailto:t114598033@ntut.org.tw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"/>
          <p:cNvSpPr txBox="1"/>
          <p:nvPr>
            <p:ph type="ctrTitle"/>
          </p:nvPr>
        </p:nvSpPr>
        <p:spPr>
          <a:xfrm>
            <a:off x="725332" y="1705871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生成式人工智慧導論</a:t>
            </a:r>
            <a:endParaRPr/>
          </a:p>
        </p:txBody>
      </p:sp>
      <p:sp>
        <p:nvSpPr>
          <p:cNvPr id="140" name="Google Shape;140;p1"/>
          <p:cNvSpPr txBox="1"/>
          <p:nvPr>
            <p:ph idx="1" type="body"/>
          </p:nvPr>
        </p:nvSpPr>
        <p:spPr>
          <a:xfrm>
            <a:off x="725332" y="2255322"/>
            <a:ext cx="76434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生成字體 - FontDiffuser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41" name="Google Shape;141;p1"/>
          <p:cNvSpPr txBox="1"/>
          <p:nvPr>
            <p:ph idx="2" type="body"/>
          </p:nvPr>
        </p:nvSpPr>
        <p:spPr>
          <a:xfrm>
            <a:off x="725331" y="3429000"/>
            <a:ext cx="49875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rPr lang="zh-TW"/>
              <a:t>賴秋彤</a:t>
            </a:r>
            <a:r>
              <a:rPr lang="zh-TW"/>
              <a:t>-林家弘</a:t>
            </a:r>
            <a:endParaRPr/>
          </a:p>
        </p:txBody>
      </p:sp>
      <p:sp>
        <p:nvSpPr>
          <p:cNvPr id="142" name="Google Shape;142;p1"/>
          <p:cNvSpPr txBox="1"/>
          <p:nvPr>
            <p:ph idx="3" type="body"/>
          </p:nvPr>
        </p:nvSpPr>
        <p:spPr>
          <a:xfrm>
            <a:off x="725331" y="3768755"/>
            <a:ext cx="49875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rPr lang="zh-TW"/>
              <a:t>國立臺北科技大學資訊工程系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目錄</a:t>
            </a:r>
            <a:endParaRPr/>
          </a:p>
        </p:txBody>
      </p:sp>
      <p:sp>
        <p:nvSpPr>
          <p:cNvPr id="148" name="Google Shape;148;p2"/>
          <p:cNvSpPr txBox="1"/>
          <p:nvPr>
            <p:ph idx="2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149" name="Google Shape;149;p2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目錄</a:t>
            </a:r>
            <a:endParaRPr/>
          </a:p>
        </p:txBody>
      </p:sp>
      <p:sp>
        <p:nvSpPr>
          <p:cNvPr id="155" name="Google Shape;155;p3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6" name="Google Shape;156;p3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57" name="Google Shape;157;p3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55600" lvl="0" marL="45720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介紹</a:t>
            </a:r>
            <a:endParaRPr/>
          </a:p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流程</a:t>
            </a:r>
            <a:endParaRPr/>
          </a:p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實作</a:t>
            </a:r>
            <a:endParaRPr/>
          </a:p>
          <a:p>
            <a:pPr indent="0" lvl="0" marL="34290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215900" lvl="0" marL="52070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介紹</a:t>
            </a:r>
            <a:endParaRPr/>
          </a:p>
        </p:txBody>
      </p:sp>
      <p:sp>
        <p:nvSpPr>
          <p:cNvPr id="163" name="Google Shape;163;p4"/>
          <p:cNvSpPr txBox="1"/>
          <p:nvPr>
            <p:ph idx="1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zh-TW"/>
              <a:t>01</a:t>
            </a:r>
            <a:endParaRPr/>
          </a:p>
        </p:txBody>
      </p:sp>
      <p:sp>
        <p:nvSpPr>
          <p:cNvPr id="164" name="Google Shape;164;p4"/>
          <p:cNvSpPr txBox="1"/>
          <p:nvPr>
            <p:ph idx="2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165" name="Google Shape;165;p4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ee1ebd2a2_0_441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字的來源</a:t>
            </a:r>
            <a:endParaRPr/>
          </a:p>
        </p:txBody>
      </p:sp>
      <p:sp>
        <p:nvSpPr>
          <p:cNvPr id="171" name="Google Shape;171;g3dee1ebd2a2_0_441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dee1ebd2a2_0_441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55600" lvl="0" marL="457200" rtl="0" algn="l">
              <a:spcBef>
                <a:spcPts val="110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為了讓同學們未來可以隨意更換自己想要的字體內容，因此我們</a:t>
            </a:r>
            <a:r>
              <a:rPr lang="zh-TW"/>
              <a:t>透過此講義</a:t>
            </a:r>
            <a:r>
              <a:rPr lang="zh-TW"/>
              <a:t>將</a:t>
            </a:r>
            <a:r>
              <a:rPr b="1" lang="zh-TW">
                <a:solidFill>
                  <a:schemeClr val="accent3"/>
                </a:solidFill>
              </a:rPr>
              <a:t>如何取得字的方式</a:t>
            </a:r>
            <a:r>
              <a:rPr lang="zh-TW"/>
              <a:t>給同學們參考</a:t>
            </a:r>
            <a:endParaRPr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如果要完成作業的同學，所有字的輸出結果已經放在 </a:t>
            </a:r>
            <a:r>
              <a:rPr lang="zh-TW" u="sng">
                <a:solidFill>
                  <a:schemeClr val="hlink"/>
                </a:solidFill>
                <a:hlinkClick r:id="rId3"/>
              </a:rPr>
              <a:t>Github - fontdiffuser-finetune</a:t>
            </a:r>
            <a:r>
              <a:rPr lang="zh-TW"/>
              <a:t> 內，在 Colab 載完專案的同時，也會下載到這些內容，直接使用即可，不需額外執行此專案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ee1ebd2a2_0_85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字數統計</a:t>
            </a:r>
            <a:endParaRPr/>
          </a:p>
        </p:txBody>
      </p:sp>
      <p:sp>
        <p:nvSpPr>
          <p:cNvPr id="179" name="Google Shape;179;g3dee1ebd2a2_0_85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dee1ebd2a2_0_85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222222"/>
                </a:solidFill>
                <a:highlight>
                  <a:srgbClr val="FFFFFF"/>
                </a:highlight>
              </a:rPr>
              <a:t>計算稿紙撰寫過的數量及實際蒐集到的字元數</a:t>
            </a:r>
            <a:endParaRPr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292100" lvl="0" marL="4445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Microsoft JhengHei"/>
              <a:buChar char="●"/>
            </a:pPr>
            <a:r>
              <a:rPr lang="zh-TW">
                <a:solidFill>
                  <a:srgbClr val="222222"/>
                </a:solidFill>
                <a:highlight>
                  <a:srgbClr val="FFFFFF"/>
                </a:highlight>
              </a:rPr>
              <a:t>手寫</a:t>
            </a:r>
            <a:r>
              <a:rPr lang="zh-TW">
                <a:solidFill>
                  <a:srgbClr val="222222"/>
                </a:solidFill>
                <a:highlight>
                  <a:srgbClr val="FFFFFF"/>
                </a:highlight>
              </a:rPr>
              <a:t>過的</a:t>
            </a:r>
            <a:r>
              <a:rPr lang="zh-TW">
                <a:solidFill>
                  <a:srgbClr val="222222"/>
                </a:solidFill>
                <a:highlight>
                  <a:srgbClr val="FFFFFF"/>
                </a:highlight>
              </a:rPr>
              <a:t>字數:  4493</a:t>
            </a:r>
            <a:r>
              <a:rPr lang="zh-TW">
                <a:solidFill>
                  <a:srgbClr val="222222"/>
                </a:solidFill>
                <a:highlight>
                  <a:srgbClr val="FFFFFF"/>
                </a:highlight>
              </a:rPr>
              <a:t>字</a:t>
            </a:r>
            <a:endParaRPr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2921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Microsoft JhengHei"/>
              <a:buChar char="●"/>
            </a:pPr>
            <a:r>
              <a:rPr lang="zh-TW">
                <a:solidFill>
                  <a:srgbClr val="222222"/>
                </a:solidFill>
                <a:highlight>
                  <a:srgbClr val="FFFFFF"/>
                </a:highlight>
              </a:rPr>
              <a:t>手寫過的字 - 重複字</a:t>
            </a:r>
            <a:r>
              <a:rPr lang="zh-TW">
                <a:solidFill>
                  <a:srgbClr val="222222"/>
                </a:solidFill>
                <a:highlight>
                  <a:srgbClr val="FFFFFF"/>
                </a:highlight>
              </a:rPr>
              <a:t>:  2830</a:t>
            </a:r>
            <a:r>
              <a:rPr lang="zh-TW">
                <a:solidFill>
                  <a:srgbClr val="222222"/>
                </a:solidFill>
                <a:highlight>
                  <a:srgbClr val="FFFFFF"/>
                </a:highlight>
              </a:rPr>
              <a:t>字</a:t>
            </a:r>
            <a:endParaRPr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2921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Microsoft JhengHei"/>
              <a:buChar char="●"/>
            </a:pPr>
            <a:r>
              <a:rPr lang="zh-TW">
                <a:solidFill>
                  <a:srgbClr val="222222"/>
                </a:solidFill>
                <a:highlight>
                  <a:schemeClr val="lt1"/>
                </a:highlight>
              </a:rPr>
              <a:t>不同書寫方式可能會略有誤差 (約±10字)</a:t>
            </a:r>
            <a:endParaRPr>
              <a:solidFill>
                <a:srgbClr val="222222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  <p:sp>
        <p:nvSpPr>
          <p:cNvPr id="181" name="Google Shape;181;g3dee1ebd2a2_0_85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ee1ebd2a2_0_93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zh-TW"/>
              <a:t>字數統計</a:t>
            </a:r>
            <a:endParaRPr/>
          </a:p>
        </p:txBody>
      </p:sp>
      <p:sp>
        <p:nvSpPr>
          <p:cNvPr id="188" name="Google Shape;188;g3dee1ebd2a2_0_93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dee1ebd2a2_0_93"/>
          <p:cNvSpPr txBox="1"/>
          <p:nvPr>
            <p:ph idx="2" type="body"/>
          </p:nvPr>
        </p:nvSpPr>
        <p:spPr>
          <a:xfrm>
            <a:off x="715575" y="1213950"/>
            <a:ext cx="7912800" cy="3251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55600" lvl="0" marL="457200" rtl="0" algn="l">
              <a:spcBef>
                <a:spcPts val="1100"/>
              </a:spcBef>
              <a:spcAft>
                <a:spcPts val="0"/>
              </a:spcAft>
              <a:buSzPts val="2000"/>
              <a:buChar char="●"/>
            </a:pPr>
            <a:r>
              <a:rPr b="1" lang="zh-TW"/>
              <a:t>作業三的 simple, medium, strong baseline 的總字數</a:t>
            </a:r>
            <a:endParaRPr b="1"/>
          </a:p>
          <a:p>
            <a:pPr indent="-292100" lvl="0" marL="901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AutoNum type="arabicPeriod"/>
            </a:pPr>
            <a:r>
              <a:rPr b="1" lang="zh-TW">
                <a:solidFill>
                  <a:schemeClr val="accent6"/>
                </a:solidFill>
              </a:rPr>
              <a:t>MOE4808(教育部常用字):  4808</a:t>
            </a:r>
            <a:r>
              <a:rPr b="1" lang="zh-TW">
                <a:solidFill>
                  <a:schemeClr val="accent6"/>
                </a:solidFill>
              </a:rPr>
              <a:t>字</a:t>
            </a:r>
            <a:endParaRPr b="1">
              <a:solidFill>
                <a:schemeClr val="accent6"/>
              </a:solidFill>
            </a:endParaRPr>
          </a:p>
          <a:p>
            <a:pPr indent="-292100" lvl="0" marL="901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AutoNum type="arabicPeriod"/>
            </a:pPr>
            <a:r>
              <a:rPr b="1" lang="zh-TW">
                <a:solidFill>
                  <a:schemeClr val="accent3"/>
                </a:solidFill>
              </a:rPr>
              <a:t>Big5:  13466</a:t>
            </a:r>
            <a:r>
              <a:rPr b="1" lang="zh-TW">
                <a:solidFill>
                  <a:schemeClr val="accent3"/>
                </a:solidFill>
              </a:rPr>
              <a:t>字</a:t>
            </a:r>
            <a:endParaRPr b="1">
              <a:solidFill>
                <a:schemeClr val="accent3"/>
              </a:solidFill>
            </a:endParaRPr>
          </a:p>
          <a:p>
            <a:pPr indent="-292100" lvl="0" marL="901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AutoNum type="arabicPeriod"/>
            </a:pPr>
            <a:r>
              <a:rPr b="1" lang="zh-TW">
                <a:solidFill>
                  <a:schemeClr val="accent2"/>
                </a:solidFill>
              </a:rPr>
              <a:t>notosans(思源黑體)  20740</a:t>
            </a:r>
            <a:r>
              <a:rPr b="1" lang="zh-TW">
                <a:solidFill>
                  <a:schemeClr val="accent2"/>
                </a:solidFill>
              </a:rPr>
              <a:t>字</a:t>
            </a:r>
            <a:endParaRPr b="1">
              <a:solidFill>
                <a:schemeClr val="accent2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b="1" lang="zh-TW"/>
              <a:t>實作需生成的目標字數</a:t>
            </a:r>
            <a:endParaRPr b="1"/>
          </a:p>
          <a:p>
            <a:pPr indent="-292100" lvl="0" marL="901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zh-TW"/>
              <a:t>MOE4808 - 手寫過的字數</a:t>
            </a:r>
            <a:r>
              <a:rPr lang="zh-TW"/>
              <a:t>，</a:t>
            </a:r>
            <a:r>
              <a:rPr lang="zh-TW"/>
              <a:t>共有:  3296</a:t>
            </a:r>
            <a:r>
              <a:rPr lang="zh-TW"/>
              <a:t>字</a:t>
            </a:r>
            <a:endParaRPr/>
          </a:p>
          <a:p>
            <a:pPr indent="-292100" lvl="0" marL="901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zh-TW"/>
              <a:t>big5 - MOE4808 - 手寫過的字數</a:t>
            </a:r>
            <a:r>
              <a:rPr lang="zh-TW"/>
              <a:t>，</a:t>
            </a:r>
            <a:r>
              <a:rPr lang="zh-TW"/>
              <a:t>共有:  8193</a:t>
            </a:r>
            <a:r>
              <a:rPr lang="zh-TW"/>
              <a:t>字</a:t>
            </a:r>
            <a:endParaRPr/>
          </a:p>
          <a:p>
            <a:pPr indent="-292100" lvl="0" marL="901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zh-TW"/>
              <a:t>notosans - big5 - MOE4808 - 手寫過的字數</a:t>
            </a:r>
            <a:r>
              <a:rPr lang="zh-TW"/>
              <a:t>，</a:t>
            </a:r>
            <a:r>
              <a:rPr lang="zh-TW"/>
              <a:t>共有:  6585</a:t>
            </a:r>
            <a:r>
              <a:rPr lang="zh-TW"/>
              <a:t>字</a:t>
            </a:r>
            <a:endParaRPr sz="2200"/>
          </a:p>
        </p:txBody>
      </p:sp>
      <p:sp>
        <p:nvSpPr>
          <p:cNvPr id="190" name="Google Shape;190;g3dee1ebd2a2_0_93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ee1ebd2a2_0_101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介紹：</a:t>
            </a:r>
            <a:r>
              <a:rPr lang="zh-TW"/>
              <a:t>教育部4808個常用字</a:t>
            </a:r>
            <a:endParaRPr/>
          </a:p>
        </p:txBody>
      </p:sp>
      <p:sp>
        <p:nvSpPr>
          <p:cNvPr id="197" name="Google Shape;197;g3dee1ebd2a2_0_101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dee1ebd2a2_0_101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92100" lvl="0" marL="3429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民國71年9月1日教育部公告的「常用國字標準字體表」所收錄之4,808個常用字</a:t>
            </a:r>
            <a:endParaRPr/>
          </a:p>
          <a:p>
            <a:pPr indent="-2921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資料來源：</a:t>
            </a:r>
            <a:r>
              <a:rPr lang="zh-TW" u="sng">
                <a:solidFill>
                  <a:schemeClr val="hlink"/>
                </a:solidFill>
                <a:hlinkClick r:id="rId3"/>
              </a:rPr>
              <a:t>常用字下載</a:t>
            </a:r>
            <a:endParaRPr/>
          </a:p>
        </p:txBody>
      </p:sp>
      <p:sp>
        <p:nvSpPr>
          <p:cNvPr id="199" name="Google Shape;199;g3dee1ebd2a2_0_101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ee1ebd2a2_0_109"/>
          <p:cNvSpPr txBox="1"/>
          <p:nvPr>
            <p:ph type="ctrTitle"/>
          </p:nvPr>
        </p:nvSpPr>
        <p:spPr>
          <a:xfrm>
            <a:off x="642963" y="331189"/>
            <a:ext cx="65604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介紹：</a:t>
            </a:r>
            <a:r>
              <a:rPr lang="zh-TW"/>
              <a:t>Big5</a:t>
            </a:r>
            <a:endParaRPr/>
          </a:p>
        </p:txBody>
      </p:sp>
      <p:sp>
        <p:nvSpPr>
          <p:cNvPr id="206" name="Google Shape;206;g3dee1ebd2a2_0_109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dee1ebd2a2_0_109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208" name="Google Shape;208;g3dee1ebd2a2_0_109"/>
          <p:cNvGraphicFramePr/>
          <p:nvPr/>
        </p:nvGraphicFramePr>
        <p:xfrm>
          <a:off x="580791" y="8284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{8FD52D1A-67E4-43C9-8DC4-4BE561D99278}</a:tableStyleId>
              </a:tblPr>
              <a:tblGrid>
                <a:gridCol w="2005650"/>
                <a:gridCol w="5976750"/>
              </a:tblGrid>
              <a:tr h="284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b="1" lang="zh-TW" sz="1200">
                          <a:solidFill>
                            <a:schemeClr val="dk1"/>
                          </a:solidFill>
                        </a:rPr>
                        <a:t>分割區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22850" marB="22850" marR="45725" marL="45725" anchor="ctr">
                    <a:lnL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b="1" lang="zh-TW" sz="1200">
                          <a:solidFill>
                            <a:schemeClr val="dk1"/>
                          </a:solidFill>
                        </a:rPr>
                        <a:t>用途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22850" marB="22850" marR="45725" marL="45725" anchor="ctr">
                    <a:lnL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</a:tr>
              <a:tr h="325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0x8140–0xA0FE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22850" marB="22850" marR="45725" marL="45725" anchor="ctr">
                    <a:lnL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保留給使用者自訂字元（造字區）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22850" marB="22850" marR="45725" marL="45725" anchor="ctr">
                    <a:lnL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0xA140–0xA3BF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22850" marB="22850" marR="45725" marL="45725" anchor="ctr">
                    <a:lnL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9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標</a:t>
                      </a: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點符號、希臘字母、特殊符</a:t>
                      </a:r>
                      <a:r>
                        <a:rPr lang="zh-TW" sz="120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號</a:t>
                      </a: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，包括在0xA259–0xA261，安放了九計量用漢字：兙兛兞兝兡兣嗧瓩糎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22850" marB="22850" marR="45725" marL="45725" anchor="ctr">
                    <a:lnL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9EF"/>
                    </a:solidFill>
                  </a:tcPr>
                </a:tc>
              </a:tr>
              <a:tr h="341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0xA3C0–0xA3FE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22850" marB="22850" marR="45725" marL="45725" anchor="ctr">
                    <a:lnL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保留。此區沒有開放作造字區用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22850" marB="22850" marR="45725" marL="45725" anchor="ctr">
                    <a:lnL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1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0xA440–0xC67E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22850" marB="22850" marR="45725" marL="45725" anchor="ctr">
                    <a:lnL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9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常用漢字（5401字），字集來源除教育部「常用國字標準字體表」所列4808字外，並優先收編國中、國小教科書中常用字587字及異體字6字。先按筆畫再按部首排序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22850" marB="22850" marR="45725" marL="45725" anchor="ctr">
                    <a:lnL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9EF"/>
                    </a:solidFill>
                  </a:tcPr>
                </a:tc>
              </a:tr>
              <a:tr h="284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0xC6A1–0xC8FE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22850" marB="22850" marR="45725" marL="45725" anchor="ctr">
                    <a:lnL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保留給使用者自訂字元（造字區）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22850" marB="22850" marR="45725" marL="45725" anchor="ctr">
                    <a:lnL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1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0xC940–0xF9D5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22850" marB="22850" marR="45725" marL="45725" anchor="ctr">
                    <a:lnL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9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次常用漢字（7652字），字集來源除教育部「次常用國字標準字體表」所列6330字外，並篩選編入教育部「罕用國字標準字體表」表中使用頻率較高之1320字。亦是先按筆畫再按部首排序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22850" marB="22850" marR="45725" marL="45725" anchor="ctr">
                    <a:lnL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9EF"/>
                    </a:solidFill>
                  </a:tcPr>
                </a:tc>
              </a:tr>
              <a:tr h="474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0xF9D6–0xF9DC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22850" marB="22850" marR="45725" marL="45725" anchor="ctr">
                    <a:lnL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9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七個倚天外字集的擴充字：碁銹裏墻恒粧嫺（此七字分別為「棋鏽裡牆恆妝嫻」之異體字）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22850" marB="22850" marR="45725" marL="45725" anchor="ctr">
                    <a:lnL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9EF"/>
                    </a:solidFill>
                  </a:tcPr>
                </a:tc>
              </a:tr>
              <a:tr h="284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0xF9DD–0xFEFE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22850" marB="22850" marR="45725" marL="45725" anchor="ctr">
                    <a:lnL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保留給使用者自訂字元（造字區）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22850" marB="22850" marR="45725" marL="45725" anchor="ctr">
                    <a:lnL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dee1ebd2a2_0_117"/>
          <p:cNvSpPr txBox="1"/>
          <p:nvPr>
            <p:ph type="ctrTitle"/>
          </p:nvPr>
        </p:nvSpPr>
        <p:spPr>
          <a:xfrm>
            <a:off x="715011" y="618694"/>
            <a:ext cx="75561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介紹：</a:t>
            </a:r>
            <a:r>
              <a:rPr lang="zh-TW"/>
              <a:t>Noto Sans Traditional Chinese</a:t>
            </a:r>
            <a:endParaRPr/>
          </a:p>
        </p:txBody>
      </p:sp>
      <p:sp>
        <p:nvSpPr>
          <p:cNvPr id="215" name="Google Shape;215;g3dee1ebd2a2_0_117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dee1ebd2a2_0_117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92100" lvl="0" marL="3429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2000"/>
              <a:buFont typeface="Microsoft JhengHei"/>
              <a:buChar char="●"/>
            </a:pPr>
            <a:r>
              <a:rPr lang="zh-TW"/>
              <a:t>簡稱 Noto Sans TC，中文為思源黑體</a:t>
            </a:r>
            <a:endParaRPr/>
          </a:p>
          <a:p>
            <a:pPr indent="-2921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rosoft JhengHei"/>
              <a:buChar char="●"/>
            </a:pPr>
            <a:r>
              <a:rPr lang="zh-TW"/>
              <a:t>是一款為了臺灣、澳門設計的無襯線字體</a:t>
            </a:r>
            <a:endParaRPr/>
          </a:p>
          <a:p>
            <a:pPr indent="-2921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rosoft JhengHei"/>
              <a:buChar char="●"/>
            </a:pPr>
            <a:r>
              <a:rPr lang="zh-TW"/>
              <a:t>目前在 Google Font 上有 9 種字體粗細可選擇</a:t>
            </a:r>
            <a:endParaRPr/>
          </a:p>
          <a:p>
            <a:pPr indent="-292100" lvl="1" marL="685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rosoft JhengHei"/>
              <a:buChar char="○"/>
            </a:pPr>
            <a:r>
              <a:rPr lang="zh-TW" sz="2000">
                <a:latin typeface="Microsoft JhengHei"/>
                <a:ea typeface="Microsoft JhengHei"/>
                <a:cs typeface="Microsoft JhengHei"/>
                <a:sym typeface="Microsoft JhengHei"/>
              </a:rPr>
              <a:t>如：Thin, ExtraLight, …… , Bold, Black等</a:t>
            </a:r>
            <a:endParaRPr sz="20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17" name="Google Shape;217;g3dee1ebd2a2_0_117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18" name="Google Shape;218;g3dee1ebd2a2_0_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6844" y="3071099"/>
            <a:ext cx="3573654" cy="1867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流程</a:t>
            </a:r>
            <a:endParaRPr/>
          </a:p>
        </p:txBody>
      </p:sp>
      <p:sp>
        <p:nvSpPr>
          <p:cNvPr id="224" name="Google Shape;224;p11"/>
          <p:cNvSpPr txBox="1"/>
          <p:nvPr>
            <p:ph idx="1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zh-TW"/>
              <a:t>02</a:t>
            </a:r>
            <a:endParaRPr/>
          </a:p>
        </p:txBody>
      </p:sp>
      <p:sp>
        <p:nvSpPr>
          <p:cNvPr id="225" name="Google Shape;225;p11"/>
          <p:cNvSpPr txBox="1"/>
          <p:nvPr>
            <p:ph idx="2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226" name="Google Shape;226;p11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dee1ebd2a2_0_170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流程：教育部4808個</a:t>
            </a:r>
            <a:r>
              <a:rPr lang="zh-TW"/>
              <a:t>常用</a:t>
            </a:r>
            <a:r>
              <a:rPr lang="zh-TW"/>
              <a:t>字</a:t>
            </a:r>
            <a:endParaRPr/>
          </a:p>
        </p:txBody>
      </p:sp>
      <p:sp>
        <p:nvSpPr>
          <p:cNvPr id="232" name="Google Shape;232;g3dee1ebd2a2_0_170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3" name="Google Shape;233;g3dee1ebd2a2_0_1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2875" y="1675945"/>
            <a:ext cx="1199034" cy="1199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g3dee1ebd2a2_0_1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7292" y="1675980"/>
            <a:ext cx="1199034" cy="1199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g3dee1ebd2a2_0_1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5925" y="1786166"/>
            <a:ext cx="978592" cy="978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g3dee1ebd2a2_0_170" title="ods-file-format-symbol-svgrepo-co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63825" y="1746328"/>
            <a:ext cx="1058268" cy="1058268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g3dee1ebd2a2_0_170"/>
          <p:cNvSpPr/>
          <p:nvPr/>
        </p:nvSpPr>
        <p:spPr>
          <a:xfrm>
            <a:off x="1482925" y="2215183"/>
            <a:ext cx="502500" cy="233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dee1ebd2a2_0_170"/>
          <p:cNvSpPr/>
          <p:nvPr/>
        </p:nvSpPr>
        <p:spPr>
          <a:xfrm>
            <a:off x="3256225" y="2215183"/>
            <a:ext cx="502500" cy="233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dee1ebd2a2_0_170"/>
          <p:cNvSpPr/>
          <p:nvPr/>
        </p:nvSpPr>
        <p:spPr>
          <a:xfrm>
            <a:off x="5188350" y="2215183"/>
            <a:ext cx="502500" cy="233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dee1ebd2a2_0_170"/>
          <p:cNvSpPr txBox="1"/>
          <p:nvPr/>
        </p:nvSpPr>
        <p:spPr>
          <a:xfrm>
            <a:off x="5725" y="3088945"/>
            <a:ext cx="1979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上網搜尋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教育部常用字</a:t>
            </a:r>
            <a:endParaRPr/>
          </a:p>
        </p:txBody>
      </p:sp>
      <p:sp>
        <p:nvSpPr>
          <p:cNvPr id="241" name="Google Shape;241;g3dee1ebd2a2_0_170"/>
          <p:cNvSpPr txBox="1"/>
          <p:nvPr/>
        </p:nvSpPr>
        <p:spPr>
          <a:xfrm>
            <a:off x="2014113" y="3107395"/>
            <a:ext cx="1157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下載 .ods 版</a:t>
            </a:r>
            <a:endParaRPr/>
          </a:p>
        </p:txBody>
      </p:sp>
      <p:sp>
        <p:nvSpPr>
          <p:cNvPr id="242" name="Google Shape;242;g3dee1ebd2a2_0_170"/>
          <p:cNvSpPr txBox="1"/>
          <p:nvPr/>
        </p:nvSpPr>
        <p:spPr>
          <a:xfrm>
            <a:off x="3913538" y="3107395"/>
            <a:ext cx="1157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開啟表格</a:t>
            </a:r>
            <a:endParaRPr/>
          </a:p>
        </p:txBody>
      </p:sp>
      <p:sp>
        <p:nvSpPr>
          <p:cNvPr id="243" name="Google Shape;243;g3dee1ebd2a2_0_170"/>
          <p:cNvSpPr txBox="1"/>
          <p:nvPr/>
        </p:nvSpPr>
        <p:spPr>
          <a:xfrm>
            <a:off x="5620300" y="2973295"/>
            <a:ext cx="1533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「常用字」那欄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貼到編輯器</a:t>
            </a:r>
            <a:endParaRPr/>
          </a:p>
        </p:txBody>
      </p:sp>
      <p:pic>
        <p:nvPicPr>
          <p:cNvPr id="244" name="Google Shape;244;g3dee1ebd2a2_0_17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22975" y="1732233"/>
            <a:ext cx="1199026" cy="1199026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g3dee1ebd2a2_0_170"/>
          <p:cNvSpPr/>
          <p:nvPr/>
        </p:nvSpPr>
        <p:spPr>
          <a:xfrm>
            <a:off x="7031285" y="2215183"/>
            <a:ext cx="502500" cy="233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dee1ebd2a2_0_170"/>
          <p:cNvSpPr txBox="1"/>
          <p:nvPr/>
        </p:nvSpPr>
        <p:spPr>
          <a:xfrm>
            <a:off x="7407239" y="2973295"/>
            <a:ext cx="16305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另存文字檔</a:t>
            </a:r>
            <a:br>
              <a:rPr lang="zh-TW"/>
            </a:br>
            <a:r>
              <a:rPr lang="zh-TW"/>
              <a:t>(1_MOE4808.txt)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dee1ebd2a2_0_198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流程：</a:t>
            </a:r>
            <a:r>
              <a:rPr lang="zh-TW"/>
              <a:t>Big5</a:t>
            </a:r>
            <a:endParaRPr/>
          </a:p>
        </p:txBody>
      </p:sp>
      <p:sp>
        <p:nvSpPr>
          <p:cNvPr id="252" name="Google Shape;252;g3dee1ebd2a2_0_198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3" name="Google Shape;253;g3dee1ebd2a2_0_1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787" y="1935133"/>
            <a:ext cx="978592" cy="978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g3dee1ebd2a2_0_1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9923" y="1718372"/>
            <a:ext cx="1199034" cy="1199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g3dee1ebd2a2_0_1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72500" y="1718376"/>
            <a:ext cx="1199025" cy="119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g3dee1ebd2a2_0_19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95000" y="1718376"/>
            <a:ext cx="1199026" cy="1199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g3dee1ebd2a2_0_19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52038" y="1751900"/>
            <a:ext cx="1199026" cy="1199026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g3dee1ebd2a2_0_198"/>
          <p:cNvSpPr/>
          <p:nvPr/>
        </p:nvSpPr>
        <p:spPr>
          <a:xfrm>
            <a:off x="1526888" y="2307863"/>
            <a:ext cx="502500" cy="233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dee1ebd2a2_0_198"/>
          <p:cNvSpPr/>
          <p:nvPr/>
        </p:nvSpPr>
        <p:spPr>
          <a:xfrm>
            <a:off x="3426749" y="2307863"/>
            <a:ext cx="502500" cy="233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dee1ebd2a2_0_198"/>
          <p:cNvSpPr/>
          <p:nvPr/>
        </p:nvSpPr>
        <p:spPr>
          <a:xfrm>
            <a:off x="5214774" y="2307863"/>
            <a:ext cx="502500" cy="233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dee1ebd2a2_0_198"/>
          <p:cNvSpPr/>
          <p:nvPr/>
        </p:nvSpPr>
        <p:spPr>
          <a:xfrm>
            <a:off x="7071799" y="2307863"/>
            <a:ext cx="502500" cy="233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dee1ebd2a2_0_198"/>
          <p:cNvSpPr txBox="1"/>
          <p:nvPr/>
        </p:nvSpPr>
        <p:spPr>
          <a:xfrm>
            <a:off x="292363" y="3027575"/>
            <a:ext cx="12648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上網搜尋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來源檔案</a:t>
            </a:r>
            <a:endParaRPr/>
          </a:p>
        </p:txBody>
      </p:sp>
      <p:sp>
        <p:nvSpPr>
          <p:cNvPr id="263" name="Google Shape;263;g3dee1ebd2a2_0_198"/>
          <p:cNvSpPr txBox="1"/>
          <p:nvPr/>
        </p:nvSpPr>
        <p:spPr>
          <a:xfrm>
            <a:off x="2044713" y="3027575"/>
            <a:ext cx="12648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複製到編輯器</a:t>
            </a:r>
            <a:endParaRPr/>
          </a:p>
        </p:txBody>
      </p:sp>
      <p:sp>
        <p:nvSpPr>
          <p:cNvPr id="264" name="Google Shape;264;g3dee1ebd2a2_0_198"/>
          <p:cNvSpPr txBox="1"/>
          <p:nvPr/>
        </p:nvSpPr>
        <p:spPr>
          <a:xfrm>
            <a:off x="3907275" y="3027575"/>
            <a:ext cx="12648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保留所需範圍</a:t>
            </a:r>
            <a:endParaRPr/>
          </a:p>
        </p:txBody>
      </p:sp>
      <p:sp>
        <p:nvSpPr>
          <p:cNvPr id="265" name="Google Shape;265;g3dee1ebd2a2_0_198"/>
          <p:cNvSpPr txBox="1"/>
          <p:nvPr/>
        </p:nvSpPr>
        <p:spPr>
          <a:xfrm>
            <a:off x="5729788" y="3027575"/>
            <a:ext cx="12648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執行程式</a:t>
            </a:r>
            <a:endParaRPr/>
          </a:p>
        </p:txBody>
      </p:sp>
      <p:sp>
        <p:nvSpPr>
          <p:cNvPr id="266" name="Google Shape;266;g3dee1ebd2a2_0_198"/>
          <p:cNvSpPr txBox="1"/>
          <p:nvPr/>
        </p:nvSpPr>
        <p:spPr>
          <a:xfrm>
            <a:off x="5762100" y="1437315"/>
            <a:ext cx="12648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latin typeface="Consolas"/>
                <a:ea typeface="Consolas"/>
                <a:cs typeface="Consolas"/>
                <a:sym typeface="Consolas"/>
              </a:rPr>
              <a:t>big5_to_char.py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7" name="Google Shape;267;g3dee1ebd2a2_0_198"/>
          <p:cNvSpPr txBox="1"/>
          <p:nvPr/>
        </p:nvSpPr>
        <p:spPr>
          <a:xfrm>
            <a:off x="7586825" y="3027575"/>
            <a:ext cx="12648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輸出文字檔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(2_big5.txt)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dee1ebd2a2_0_220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流程：</a:t>
            </a:r>
            <a:r>
              <a:rPr lang="zh-TW"/>
              <a:t>Noto Sans TC</a:t>
            </a:r>
            <a:endParaRPr/>
          </a:p>
        </p:txBody>
      </p:sp>
      <p:sp>
        <p:nvSpPr>
          <p:cNvPr id="273" name="Google Shape;273;g3dee1ebd2a2_0_220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g3dee1ebd2a2_0_220" title="unicode-svgrepo-co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1725" y="1773473"/>
            <a:ext cx="1043650" cy="104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g3dee1ebd2a2_0_220" title="dropper-svgrepo-co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7625" y="1788026"/>
            <a:ext cx="981025" cy="98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g3dee1ebd2a2_0_2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34925" y="1679026"/>
            <a:ext cx="1199026" cy="1199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g3dee1ebd2a2_0_2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91963" y="1712550"/>
            <a:ext cx="1199026" cy="1199026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g3dee1ebd2a2_0_220"/>
          <p:cNvSpPr/>
          <p:nvPr/>
        </p:nvSpPr>
        <p:spPr>
          <a:xfrm>
            <a:off x="6911724" y="2268513"/>
            <a:ext cx="502500" cy="233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9" name="Google Shape;279;g3dee1ebd2a2_0_2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0662" y="1679025"/>
            <a:ext cx="1199024" cy="1199024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g3dee1ebd2a2_0_220"/>
          <p:cNvSpPr/>
          <p:nvPr/>
        </p:nvSpPr>
        <p:spPr>
          <a:xfrm>
            <a:off x="5132424" y="2268513"/>
            <a:ext cx="502500" cy="233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dee1ebd2a2_0_220"/>
          <p:cNvSpPr/>
          <p:nvPr/>
        </p:nvSpPr>
        <p:spPr>
          <a:xfrm>
            <a:off x="3188951" y="2268513"/>
            <a:ext cx="502500" cy="233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3dee1ebd2a2_0_220"/>
          <p:cNvSpPr/>
          <p:nvPr/>
        </p:nvSpPr>
        <p:spPr>
          <a:xfrm>
            <a:off x="1563786" y="2268513"/>
            <a:ext cx="502500" cy="233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dee1ebd2a2_0_220"/>
          <p:cNvSpPr txBox="1"/>
          <p:nvPr/>
        </p:nvSpPr>
        <p:spPr>
          <a:xfrm>
            <a:off x="307750" y="3027550"/>
            <a:ext cx="12648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下載字體包</a:t>
            </a:r>
            <a:endParaRPr/>
          </a:p>
        </p:txBody>
      </p:sp>
      <p:sp>
        <p:nvSpPr>
          <p:cNvPr id="284" name="Google Shape;284;g3dee1ebd2a2_0_220"/>
          <p:cNvSpPr txBox="1"/>
          <p:nvPr/>
        </p:nvSpPr>
        <p:spPr>
          <a:xfrm>
            <a:off x="1873850" y="3027550"/>
            <a:ext cx="12648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字體萃取</a:t>
            </a:r>
            <a:endParaRPr/>
          </a:p>
        </p:txBody>
      </p:sp>
      <p:sp>
        <p:nvSpPr>
          <p:cNvPr id="285" name="Google Shape;285;g3dee1ebd2a2_0_220"/>
          <p:cNvSpPr txBox="1"/>
          <p:nvPr/>
        </p:nvSpPr>
        <p:spPr>
          <a:xfrm>
            <a:off x="3771150" y="3027550"/>
            <a:ext cx="12648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取得 Unicode</a:t>
            </a:r>
            <a:endParaRPr/>
          </a:p>
        </p:txBody>
      </p:sp>
      <p:sp>
        <p:nvSpPr>
          <p:cNvPr id="286" name="Google Shape;286;g3dee1ebd2a2_0_220"/>
          <p:cNvSpPr txBox="1"/>
          <p:nvPr/>
        </p:nvSpPr>
        <p:spPr>
          <a:xfrm>
            <a:off x="5602038" y="3027550"/>
            <a:ext cx="12648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執行程式</a:t>
            </a:r>
            <a:endParaRPr/>
          </a:p>
        </p:txBody>
      </p:sp>
      <p:sp>
        <p:nvSpPr>
          <p:cNvPr id="287" name="Google Shape;287;g3dee1ebd2a2_0_220"/>
          <p:cNvSpPr txBox="1"/>
          <p:nvPr/>
        </p:nvSpPr>
        <p:spPr>
          <a:xfrm>
            <a:off x="7346738" y="3027550"/>
            <a:ext cx="14895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輸出文字檔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(3_notosans.txt)</a:t>
            </a:r>
            <a:endParaRPr/>
          </a:p>
        </p:txBody>
      </p:sp>
      <p:sp>
        <p:nvSpPr>
          <p:cNvPr id="288" name="Google Shape;288;g3dee1ebd2a2_0_220"/>
          <p:cNvSpPr txBox="1"/>
          <p:nvPr/>
        </p:nvSpPr>
        <p:spPr>
          <a:xfrm>
            <a:off x="5576263" y="1410984"/>
            <a:ext cx="12648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latin typeface="Consolas"/>
                <a:ea typeface="Consolas"/>
                <a:cs typeface="Consolas"/>
                <a:sym typeface="Consolas"/>
              </a:rPr>
              <a:t>ttf</a:t>
            </a:r>
            <a:r>
              <a:rPr lang="zh-TW" sz="1000">
                <a:latin typeface="Consolas"/>
                <a:ea typeface="Consolas"/>
                <a:cs typeface="Consolas"/>
                <a:sym typeface="Consolas"/>
              </a:rPr>
              <a:t>_to_char.py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bcf1ea64fb_0_1308"/>
          <p:cNvSpPr txBox="1"/>
          <p:nvPr>
            <p:ph type="ctrTitle"/>
          </p:nvPr>
        </p:nvSpPr>
        <p:spPr>
          <a:xfrm>
            <a:off x="725332" y="1814327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實作</a:t>
            </a:r>
            <a:r>
              <a:rPr lang="zh-TW"/>
              <a:t>-教育部4808個常用字</a:t>
            </a:r>
            <a:endParaRPr/>
          </a:p>
        </p:txBody>
      </p:sp>
      <p:sp>
        <p:nvSpPr>
          <p:cNvPr id="294" name="Google Shape;294;g3bcf1ea64fb_0_1308"/>
          <p:cNvSpPr txBox="1"/>
          <p:nvPr/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0" i="0" lang="zh-TW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rPr>
              <a:t>0</a:t>
            </a:r>
            <a:r>
              <a:rPr lang="zh-TW" sz="4400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rPr>
              <a:t>3</a:t>
            </a:r>
            <a:endParaRPr b="0" i="0" sz="4400" u="none" cap="none" strike="noStrike">
              <a:solidFill>
                <a:schemeClr val="lt1"/>
              </a:solidFill>
              <a:latin typeface="Mulish ExtraLight"/>
              <a:ea typeface="Mulish ExtraLight"/>
              <a:cs typeface="Mulish ExtraLight"/>
              <a:sym typeface="Mulish ExtraLigh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dee1ebd2a2_0_272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ods</a:t>
            </a:r>
            <a:r>
              <a:rPr lang="zh-TW"/>
              <a:t>檔下載</a:t>
            </a:r>
            <a:endParaRPr/>
          </a:p>
        </p:txBody>
      </p:sp>
      <p:sp>
        <p:nvSpPr>
          <p:cNvPr id="300" name="Google Shape;300;g3dee1ebd2a2_0_272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1" name="Google Shape;301;g3dee1ebd2a2_0_2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025" y="1132725"/>
            <a:ext cx="7266476" cy="3427637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g3dee1ebd2a2_0_272"/>
          <p:cNvSpPr/>
          <p:nvPr/>
        </p:nvSpPr>
        <p:spPr>
          <a:xfrm>
            <a:off x="1097400" y="4004225"/>
            <a:ext cx="6525600" cy="2682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dee1ebd2a2_0_272"/>
          <p:cNvSpPr/>
          <p:nvPr/>
        </p:nvSpPr>
        <p:spPr>
          <a:xfrm>
            <a:off x="6592700" y="3392725"/>
            <a:ext cx="284700" cy="5529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3dee1ebd2a2_0_272"/>
          <p:cNvSpPr txBox="1"/>
          <p:nvPr/>
        </p:nvSpPr>
        <p:spPr>
          <a:xfrm>
            <a:off x="5943500" y="2982225"/>
            <a:ext cx="15831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點擊下載.ods檔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dee1ebd2a2_0_266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開啟檔案</a:t>
            </a:r>
            <a:endParaRPr/>
          </a:p>
        </p:txBody>
      </p:sp>
      <p:sp>
        <p:nvSpPr>
          <p:cNvPr id="310" name="Google Shape;310;g3dee1ebd2a2_0_266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1" name="Google Shape;311;g3dee1ebd2a2_0_266"/>
          <p:cNvPicPr preferRelativeResize="0"/>
          <p:nvPr/>
        </p:nvPicPr>
        <p:blipFill rotWithShape="1">
          <a:blip r:embed="rId3">
            <a:alphaModFix/>
          </a:blip>
          <a:srcRect b="0" l="0" r="21390" t="0"/>
          <a:stretch/>
        </p:blipFill>
        <p:spPr>
          <a:xfrm>
            <a:off x="326725" y="2061650"/>
            <a:ext cx="3878550" cy="133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g3dee1ebd2a2_0_2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8649" y="1259789"/>
            <a:ext cx="3762701" cy="2942263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g3dee1ebd2a2_0_266"/>
          <p:cNvSpPr/>
          <p:nvPr/>
        </p:nvSpPr>
        <p:spPr>
          <a:xfrm>
            <a:off x="4345500" y="2630400"/>
            <a:ext cx="552900" cy="301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dee1ebd2a2_0_266"/>
          <p:cNvSpPr/>
          <p:nvPr/>
        </p:nvSpPr>
        <p:spPr>
          <a:xfrm>
            <a:off x="385350" y="2630400"/>
            <a:ext cx="1223100" cy="234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dee1ebd2a2_0_291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選取內容</a:t>
            </a:r>
            <a:endParaRPr/>
          </a:p>
        </p:txBody>
      </p:sp>
      <p:sp>
        <p:nvSpPr>
          <p:cNvPr id="320" name="Google Shape;320;g3dee1ebd2a2_0_291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1" name="Google Shape;321;g3dee1ebd2a2_0_291"/>
          <p:cNvPicPr preferRelativeResize="0"/>
          <p:nvPr/>
        </p:nvPicPr>
        <p:blipFill rotWithShape="1">
          <a:blip r:embed="rId3">
            <a:alphaModFix/>
          </a:blip>
          <a:srcRect b="0" l="0" r="0" t="28377"/>
          <a:stretch/>
        </p:blipFill>
        <p:spPr>
          <a:xfrm>
            <a:off x="715025" y="1291262"/>
            <a:ext cx="2682550" cy="3122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g3dee1ebd2a2_0_2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6188" y="1080401"/>
            <a:ext cx="1168518" cy="330152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23" name="Google Shape;323;g3dee1ebd2a2_0_2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03893" y="1111914"/>
            <a:ext cx="1295400" cy="3238500"/>
          </a:xfrm>
          <a:prstGeom prst="rect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4" name="Google Shape;324;g3dee1ebd2a2_0_291"/>
          <p:cNvSpPr/>
          <p:nvPr/>
        </p:nvSpPr>
        <p:spPr>
          <a:xfrm>
            <a:off x="3499425" y="2663900"/>
            <a:ext cx="552900" cy="301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dee1ebd2a2_0_291"/>
          <p:cNvSpPr/>
          <p:nvPr/>
        </p:nvSpPr>
        <p:spPr>
          <a:xfrm>
            <a:off x="5627850" y="2663900"/>
            <a:ext cx="552900" cy="301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dee1ebd2a2_0_291"/>
          <p:cNvSpPr txBox="1"/>
          <p:nvPr/>
        </p:nvSpPr>
        <p:spPr>
          <a:xfrm>
            <a:off x="4975500" y="1365450"/>
            <a:ext cx="946500" cy="385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刪除標題</a:t>
            </a:r>
            <a:endParaRPr/>
          </a:p>
        </p:txBody>
      </p:sp>
      <p:sp>
        <p:nvSpPr>
          <p:cNvPr id="327" name="Google Shape;327;g3dee1ebd2a2_0_291"/>
          <p:cNvSpPr/>
          <p:nvPr/>
        </p:nvSpPr>
        <p:spPr>
          <a:xfrm>
            <a:off x="2873350" y="1293525"/>
            <a:ext cx="484200" cy="32385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dee1ebd2a2_0_291"/>
          <p:cNvSpPr txBox="1"/>
          <p:nvPr/>
        </p:nvSpPr>
        <p:spPr>
          <a:xfrm>
            <a:off x="2402900" y="3823375"/>
            <a:ext cx="1506600" cy="590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複製這欄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貼到文字編輯器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dee1ebd2a2_0_306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儲存檔案</a:t>
            </a:r>
            <a:endParaRPr/>
          </a:p>
        </p:txBody>
      </p:sp>
      <p:sp>
        <p:nvSpPr>
          <p:cNvPr id="334" name="Google Shape;334;g3dee1ebd2a2_0_306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dee1ebd2a2_0_306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55600" lvl="0" marL="457200" rtl="0" algn="l">
              <a:spcBef>
                <a:spcPts val="110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將檔案儲存為文字檔(.txt)</a:t>
            </a:r>
            <a:endParaRPr/>
          </a:p>
        </p:txBody>
      </p:sp>
      <p:pic>
        <p:nvPicPr>
          <p:cNvPr id="336" name="Google Shape;336;g3dee1ebd2a2_0_306"/>
          <p:cNvPicPr preferRelativeResize="0"/>
          <p:nvPr/>
        </p:nvPicPr>
        <p:blipFill rotWithShape="1">
          <a:blip r:embed="rId3">
            <a:alphaModFix/>
          </a:blip>
          <a:srcRect b="0" l="1730" r="0" t="0"/>
          <a:stretch/>
        </p:blipFill>
        <p:spPr>
          <a:xfrm>
            <a:off x="1678087" y="1652050"/>
            <a:ext cx="5652075" cy="27542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dee1ebd2a2_0_282"/>
          <p:cNvSpPr txBox="1"/>
          <p:nvPr>
            <p:ph type="ctrTitle"/>
          </p:nvPr>
        </p:nvSpPr>
        <p:spPr>
          <a:xfrm>
            <a:off x="725332" y="1814327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實作-Big5</a:t>
            </a:r>
            <a:endParaRPr/>
          </a:p>
        </p:txBody>
      </p:sp>
      <p:sp>
        <p:nvSpPr>
          <p:cNvPr id="342" name="Google Shape;342;g3dee1ebd2a2_0_282"/>
          <p:cNvSpPr txBox="1"/>
          <p:nvPr/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0" i="0" lang="zh-TW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rPr>
              <a:t>0</a:t>
            </a:r>
            <a:r>
              <a:rPr lang="zh-TW" sz="4400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rPr>
              <a:t>4</a:t>
            </a:r>
            <a:endParaRPr b="0" i="0" sz="4400" u="none" cap="none" strike="noStrike">
              <a:solidFill>
                <a:schemeClr val="lt1"/>
              </a:solidFill>
              <a:latin typeface="Mulish ExtraLight"/>
              <a:ea typeface="Mulish ExtraLight"/>
              <a:cs typeface="Mulish ExtraLight"/>
              <a:sym typeface="Mulish ExtraLigh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dee1ebd2a2_0_245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專案下載</a:t>
            </a:r>
            <a:endParaRPr/>
          </a:p>
        </p:txBody>
      </p:sp>
      <p:sp>
        <p:nvSpPr>
          <p:cNvPr id="348" name="Google Shape;348;g3dee1ebd2a2_0_245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3dee1ebd2a2_0_245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rtl="0" algn="l">
              <a:spcBef>
                <a:spcPts val="1100"/>
              </a:spcBef>
              <a:spcAft>
                <a:spcPts val="0"/>
              </a:spcAft>
              <a:buSzPts val="1800"/>
              <a:buChar char="●"/>
            </a:pPr>
            <a:r>
              <a:rPr lang="zh-TW" sz="1800">
                <a:latin typeface="Arial"/>
                <a:ea typeface="Arial"/>
                <a:cs typeface="Arial"/>
                <a:sym typeface="Arial"/>
              </a:rPr>
              <a:t>點擊網址：</a:t>
            </a:r>
            <a:r>
              <a:rPr lang="zh-TW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https://github.com/lctung/char-extractor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0" name="Google Shape;350;g3dee1ebd2a2_0_245"/>
          <p:cNvPicPr preferRelativeResize="0"/>
          <p:nvPr/>
        </p:nvPicPr>
        <p:blipFill rotWithShape="1">
          <a:blip r:embed="rId4">
            <a:alphaModFix/>
          </a:blip>
          <a:srcRect b="24278" l="20617" r="20428" t="13994"/>
          <a:stretch/>
        </p:blipFill>
        <p:spPr>
          <a:xfrm>
            <a:off x="1455750" y="1658675"/>
            <a:ext cx="6232500" cy="2905549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g3dee1ebd2a2_0_245"/>
          <p:cNvSpPr/>
          <p:nvPr/>
        </p:nvSpPr>
        <p:spPr>
          <a:xfrm>
            <a:off x="6777019" y="2154971"/>
            <a:ext cx="804300" cy="3801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3dee1ebd2a2_0_245"/>
          <p:cNvSpPr/>
          <p:nvPr/>
        </p:nvSpPr>
        <p:spPr>
          <a:xfrm>
            <a:off x="7731575" y="2232375"/>
            <a:ext cx="485700" cy="2253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dee1ebd2a2_0_253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專案下載</a:t>
            </a:r>
            <a:endParaRPr/>
          </a:p>
        </p:txBody>
      </p:sp>
      <p:sp>
        <p:nvSpPr>
          <p:cNvPr id="358" name="Google Shape;358;g3dee1ebd2a2_0_253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3dee1ebd2a2_0_253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0" name="Google Shape;360;g3dee1ebd2a2_0_2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6263" y="1254501"/>
            <a:ext cx="6031476" cy="3296274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g3dee1ebd2a2_0_253"/>
          <p:cNvSpPr/>
          <p:nvPr/>
        </p:nvSpPr>
        <p:spPr>
          <a:xfrm>
            <a:off x="4925700" y="3618871"/>
            <a:ext cx="2538300" cy="27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g3dee1ebd2a2_0_253"/>
          <p:cNvSpPr/>
          <p:nvPr/>
        </p:nvSpPr>
        <p:spPr>
          <a:xfrm rot="-2123">
            <a:off x="7690143" y="3661274"/>
            <a:ext cx="485700" cy="2253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dee1ebd2a2_0_314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開啟官方對照表</a:t>
            </a:r>
            <a:endParaRPr/>
          </a:p>
        </p:txBody>
      </p:sp>
      <p:sp>
        <p:nvSpPr>
          <p:cNvPr id="368" name="Google Shape;368;g3dee1ebd2a2_0_314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g3dee1ebd2a2_0_314"/>
          <p:cNvSpPr txBox="1"/>
          <p:nvPr>
            <p:ph idx="2" type="body"/>
          </p:nvPr>
        </p:nvSpPr>
        <p:spPr>
          <a:xfrm>
            <a:off x="715576" y="1213950"/>
            <a:ext cx="8155800" cy="3066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rtl="0" algn="l">
              <a:spcBef>
                <a:spcPts val="1100"/>
              </a:spcBef>
              <a:spcAft>
                <a:spcPts val="0"/>
              </a:spcAft>
              <a:buSzPts val="1800"/>
              <a:buChar char="●"/>
            </a:pPr>
            <a:r>
              <a:rPr lang="zh-TW" sz="1800">
                <a:latin typeface="Arial"/>
                <a:ea typeface="Arial"/>
                <a:cs typeface="Arial"/>
                <a:sym typeface="Arial"/>
              </a:rPr>
              <a:t>點擊連結：</a:t>
            </a:r>
            <a:r>
              <a:rPr lang="zh-TW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Unicode官網提供 CP950.TXT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0" name="Google Shape;370;g3dee1ebd2a2_0_314"/>
          <p:cNvPicPr preferRelativeResize="0"/>
          <p:nvPr/>
        </p:nvPicPr>
        <p:blipFill rotWithShape="1">
          <a:blip r:embed="rId4">
            <a:alphaModFix/>
          </a:blip>
          <a:srcRect b="0" l="0" r="0" t="16444"/>
          <a:stretch/>
        </p:blipFill>
        <p:spPr>
          <a:xfrm>
            <a:off x="715032" y="1768200"/>
            <a:ext cx="4091443" cy="278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g3dee1ebd2a2_0_3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85900" y="2061475"/>
            <a:ext cx="2891475" cy="2496275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g3dee1ebd2a2_0_314"/>
          <p:cNvSpPr txBox="1"/>
          <p:nvPr/>
        </p:nvSpPr>
        <p:spPr>
          <a:xfrm>
            <a:off x="5269183" y="1768200"/>
            <a:ext cx="28914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/>
              <a:t>Big5    </a:t>
            </a:r>
            <a:r>
              <a:rPr lang="zh-TW" sz="1100"/>
              <a:t>   </a:t>
            </a:r>
            <a:r>
              <a:rPr lang="zh-TW" sz="1100"/>
              <a:t>Unicode  </a:t>
            </a:r>
            <a:r>
              <a:rPr lang="zh-TW" sz="1100"/>
              <a:t>對應說明</a:t>
            </a:r>
            <a:endParaRPr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dee1ebd2a2_0_322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內容確認</a:t>
            </a:r>
            <a:endParaRPr/>
          </a:p>
        </p:txBody>
      </p:sp>
      <p:sp>
        <p:nvSpPr>
          <p:cNvPr id="378" name="Google Shape;378;g3dee1ebd2a2_0_322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g3dee1ebd2a2_0_322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55600" lvl="0" marL="457200" rtl="0" algn="l">
              <a:spcBef>
                <a:spcPts val="110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複製網頁上的內容至文字編輯器</a:t>
            </a:r>
            <a:endParaRPr/>
          </a:p>
        </p:txBody>
      </p:sp>
      <p:pic>
        <p:nvPicPr>
          <p:cNvPr id="380" name="Google Shape;380;g3dee1ebd2a2_0_322"/>
          <p:cNvPicPr preferRelativeResize="0"/>
          <p:nvPr/>
        </p:nvPicPr>
        <p:blipFill rotWithShape="1">
          <a:blip r:embed="rId3">
            <a:alphaModFix/>
          </a:blip>
          <a:srcRect b="21808" l="0" r="0" t="0"/>
          <a:stretch/>
        </p:blipFill>
        <p:spPr>
          <a:xfrm>
            <a:off x="2124563" y="1631500"/>
            <a:ext cx="4894875" cy="2934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dee1ebd2a2_0_330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保留所需範圍</a:t>
            </a:r>
            <a:endParaRPr/>
          </a:p>
        </p:txBody>
      </p:sp>
      <p:sp>
        <p:nvSpPr>
          <p:cNvPr id="386" name="Google Shape;386;g3dee1ebd2a2_0_330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g3dee1ebd2a2_0_330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55600" lvl="0" marL="457200" rtl="0" algn="l">
              <a:spcBef>
                <a:spcPts val="110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從 Big5 0xA140 </a:t>
            </a:r>
            <a:r>
              <a:rPr lang="zh-TW"/>
              <a:t>(第275行)</a:t>
            </a:r>
            <a:r>
              <a:rPr lang="zh-TW"/>
              <a:t> 開始，這之前的全部刪除 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另存此文字檔，作為 big5_to_char.py 的輸入</a:t>
            </a:r>
            <a:endParaRPr/>
          </a:p>
        </p:txBody>
      </p:sp>
      <p:pic>
        <p:nvPicPr>
          <p:cNvPr id="388" name="Google Shape;388;g3dee1ebd2a2_0_3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1808" y="2034570"/>
            <a:ext cx="4064747" cy="252590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g3dee1ebd2a2_0_330"/>
          <p:cNvSpPr/>
          <p:nvPr/>
        </p:nvSpPr>
        <p:spPr>
          <a:xfrm>
            <a:off x="2537440" y="2267598"/>
            <a:ext cx="2534100" cy="153000"/>
          </a:xfrm>
          <a:prstGeom prst="rect">
            <a:avLst/>
          </a:prstGeom>
          <a:noFill/>
          <a:ln cap="flat" cmpd="sng" w="248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475" lIns="79475" spcFirstLastPara="1" rIns="79475" wrap="square" tIns="7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7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dee1ebd2a2_0_341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執行程式</a:t>
            </a:r>
            <a:endParaRPr/>
          </a:p>
        </p:txBody>
      </p:sp>
      <p:sp>
        <p:nvSpPr>
          <p:cNvPr id="395" name="Google Shape;395;g3dee1ebd2a2_0_341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g3dee1ebd2a2_0_341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55600" lvl="0" marL="457200" rtl="0" algn="l">
              <a:spcBef>
                <a:spcPts val="110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啟動虛擬環境 fontenv 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修改檔案</a:t>
            </a:r>
            <a:r>
              <a:rPr lang="zh-TW"/>
              <a:t>路徑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輸入指令 </a:t>
            </a:r>
            <a:endParaRPr/>
          </a:p>
        </p:txBody>
      </p:sp>
      <p:sp>
        <p:nvSpPr>
          <p:cNvPr id="397" name="Google Shape;397;g3dee1ebd2a2_0_341"/>
          <p:cNvSpPr/>
          <p:nvPr/>
        </p:nvSpPr>
        <p:spPr>
          <a:xfrm>
            <a:off x="2471925" y="2040350"/>
            <a:ext cx="4967700" cy="855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conda activate fontenv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python big5_to_char.py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98" name="Google Shape;398;g3dee1ebd2a2_0_3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1775" y="3291825"/>
            <a:ext cx="6120450" cy="66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dee1ebd2a2_0_351"/>
          <p:cNvSpPr txBox="1"/>
          <p:nvPr>
            <p:ph type="ctrTitle"/>
          </p:nvPr>
        </p:nvSpPr>
        <p:spPr>
          <a:xfrm>
            <a:off x="725332" y="1814327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實作-</a:t>
            </a:r>
            <a:r>
              <a:rPr lang="zh-TW"/>
              <a:t>NotoSansTC</a:t>
            </a:r>
            <a:endParaRPr/>
          </a:p>
        </p:txBody>
      </p:sp>
      <p:sp>
        <p:nvSpPr>
          <p:cNvPr id="404" name="Google Shape;404;g3dee1ebd2a2_0_351"/>
          <p:cNvSpPr txBox="1"/>
          <p:nvPr/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0" i="0" lang="zh-TW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rPr>
              <a:t>0</a:t>
            </a:r>
            <a:r>
              <a:rPr lang="zh-TW" sz="4400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rPr>
              <a:t>5</a:t>
            </a:r>
            <a:endParaRPr b="0" i="0" sz="4400" u="none" cap="none" strike="noStrike">
              <a:solidFill>
                <a:schemeClr val="lt1"/>
              </a:solidFill>
              <a:latin typeface="Mulish ExtraLight"/>
              <a:ea typeface="Mulish ExtraLight"/>
              <a:cs typeface="Mulish ExtraLight"/>
              <a:sym typeface="Mulish ExtraLigh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dee1ebd2a2_0_369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專案下載</a:t>
            </a:r>
            <a:endParaRPr/>
          </a:p>
        </p:txBody>
      </p:sp>
      <p:sp>
        <p:nvSpPr>
          <p:cNvPr id="410" name="Google Shape;410;g3dee1ebd2a2_0_369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g3dee1ebd2a2_0_369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rtl="0" algn="l">
              <a:spcBef>
                <a:spcPts val="1100"/>
              </a:spcBef>
              <a:spcAft>
                <a:spcPts val="0"/>
              </a:spcAft>
              <a:buSzPts val="1800"/>
              <a:buChar char="●"/>
            </a:pPr>
            <a:r>
              <a:rPr lang="zh-TW" sz="1800">
                <a:latin typeface="Arial"/>
                <a:ea typeface="Arial"/>
                <a:cs typeface="Arial"/>
                <a:sym typeface="Arial"/>
              </a:rPr>
              <a:t>點擊網址：</a:t>
            </a:r>
            <a:r>
              <a:rPr lang="zh-TW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https://github.com/lctung/char-extractor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2" name="Google Shape;412;g3dee1ebd2a2_0_369"/>
          <p:cNvPicPr preferRelativeResize="0"/>
          <p:nvPr/>
        </p:nvPicPr>
        <p:blipFill rotWithShape="1">
          <a:blip r:embed="rId4">
            <a:alphaModFix/>
          </a:blip>
          <a:srcRect b="24278" l="20617" r="20428" t="13994"/>
          <a:stretch/>
        </p:blipFill>
        <p:spPr>
          <a:xfrm>
            <a:off x="1656950" y="1650300"/>
            <a:ext cx="5915875" cy="2757949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g3dee1ebd2a2_0_369"/>
          <p:cNvSpPr/>
          <p:nvPr/>
        </p:nvSpPr>
        <p:spPr>
          <a:xfrm>
            <a:off x="6693250" y="2069125"/>
            <a:ext cx="804300" cy="4305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3dee1ebd2a2_0_369"/>
          <p:cNvSpPr/>
          <p:nvPr/>
        </p:nvSpPr>
        <p:spPr>
          <a:xfrm>
            <a:off x="7656625" y="2171725"/>
            <a:ext cx="485700" cy="2253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g3dee1ebd2a2_0_369"/>
          <p:cNvSpPr txBox="1"/>
          <p:nvPr/>
        </p:nvSpPr>
        <p:spPr>
          <a:xfrm>
            <a:off x="5124850" y="3786425"/>
            <a:ext cx="3417900" cy="4305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僅需下載一次，下載過可以略過此步驟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dee1ebd2a2_0_378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專案下載</a:t>
            </a:r>
            <a:endParaRPr/>
          </a:p>
        </p:txBody>
      </p:sp>
      <p:sp>
        <p:nvSpPr>
          <p:cNvPr id="421" name="Google Shape;421;g3dee1ebd2a2_0_378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g3dee1ebd2a2_0_378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3" name="Google Shape;423;g3dee1ebd2a2_0_3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6263" y="1254501"/>
            <a:ext cx="6031476" cy="3296274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g3dee1ebd2a2_0_378"/>
          <p:cNvSpPr/>
          <p:nvPr/>
        </p:nvSpPr>
        <p:spPr>
          <a:xfrm>
            <a:off x="4925700" y="3618871"/>
            <a:ext cx="2538300" cy="27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g3dee1ebd2a2_0_378"/>
          <p:cNvSpPr/>
          <p:nvPr/>
        </p:nvSpPr>
        <p:spPr>
          <a:xfrm rot="-2123">
            <a:off x="7690143" y="3661274"/>
            <a:ext cx="485700" cy="2253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dee1ebd2a2_0_363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下載字體包</a:t>
            </a:r>
            <a:endParaRPr/>
          </a:p>
        </p:txBody>
      </p:sp>
      <p:sp>
        <p:nvSpPr>
          <p:cNvPr id="431" name="Google Shape;431;g3dee1ebd2a2_0_363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2" name="Google Shape;432;g3dee1ebd2a2_0_363"/>
          <p:cNvPicPr preferRelativeResize="0"/>
          <p:nvPr/>
        </p:nvPicPr>
        <p:blipFill rotWithShape="1">
          <a:blip r:embed="rId3">
            <a:alphaModFix/>
          </a:blip>
          <a:srcRect b="0" l="2200" r="0" t="0"/>
          <a:stretch/>
        </p:blipFill>
        <p:spPr>
          <a:xfrm>
            <a:off x="979738" y="1250200"/>
            <a:ext cx="7184525" cy="3116875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g3dee1ebd2a2_0_363"/>
          <p:cNvSpPr/>
          <p:nvPr/>
        </p:nvSpPr>
        <p:spPr>
          <a:xfrm>
            <a:off x="7472319" y="1566500"/>
            <a:ext cx="666900" cy="4305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g3dee1ebd2a2_0_363"/>
          <p:cNvSpPr/>
          <p:nvPr/>
        </p:nvSpPr>
        <p:spPr>
          <a:xfrm>
            <a:off x="8268150" y="1658600"/>
            <a:ext cx="494400" cy="2463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dee1ebd2a2_0_391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下載字體包</a:t>
            </a:r>
            <a:endParaRPr/>
          </a:p>
        </p:txBody>
      </p:sp>
      <p:sp>
        <p:nvSpPr>
          <p:cNvPr id="440" name="Google Shape;440;g3dee1ebd2a2_0_391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1" name="Google Shape;441;g3dee1ebd2a2_0_3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863" y="1469313"/>
            <a:ext cx="8216275" cy="2204875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g3dee1ebd2a2_0_391"/>
          <p:cNvSpPr/>
          <p:nvPr/>
        </p:nvSpPr>
        <p:spPr>
          <a:xfrm>
            <a:off x="6693250" y="2705100"/>
            <a:ext cx="1825800" cy="3810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dee1ebd2a2_0_391"/>
          <p:cNvSpPr/>
          <p:nvPr/>
        </p:nvSpPr>
        <p:spPr>
          <a:xfrm>
            <a:off x="6088375" y="2606050"/>
            <a:ext cx="213300" cy="2439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g3dee1ebd2a2_0_391"/>
          <p:cNvSpPr txBox="1"/>
          <p:nvPr/>
        </p:nvSpPr>
        <p:spPr>
          <a:xfrm>
            <a:off x="9525000" y="2476500"/>
            <a:ext cx="43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g3dee1ebd2a2_0_391"/>
          <p:cNvSpPr txBox="1"/>
          <p:nvPr/>
        </p:nvSpPr>
        <p:spPr>
          <a:xfrm>
            <a:off x="6045725" y="3800100"/>
            <a:ext cx="1825800" cy="4305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點擊兩者皆可下載</a:t>
            </a:r>
            <a:endParaRPr/>
          </a:p>
        </p:txBody>
      </p:sp>
      <p:sp>
        <p:nvSpPr>
          <p:cNvPr id="446" name="Google Shape;446;g3dee1ebd2a2_0_391"/>
          <p:cNvSpPr/>
          <p:nvPr/>
        </p:nvSpPr>
        <p:spPr>
          <a:xfrm>
            <a:off x="6088375" y="2992400"/>
            <a:ext cx="213300" cy="723900"/>
          </a:xfrm>
          <a:prstGeom prst="upArrow">
            <a:avLst>
              <a:gd fmla="val 50000" name="adj1"/>
              <a:gd fmla="val 51078" name="adj2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g3dee1ebd2a2_0_391"/>
          <p:cNvSpPr/>
          <p:nvPr/>
        </p:nvSpPr>
        <p:spPr>
          <a:xfrm>
            <a:off x="7627675" y="3154700"/>
            <a:ext cx="213300" cy="561600"/>
          </a:xfrm>
          <a:prstGeom prst="upArrow">
            <a:avLst>
              <a:gd fmla="val 50000" name="adj1"/>
              <a:gd fmla="val 51078" name="adj2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dee1ebd2a2_0_417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解壓縮字體包</a:t>
            </a:r>
            <a:endParaRPr/>
          </a:p>
        </p:txBody>
      </p:sp>
      <p:sp>
        <p:nvSpPr>
          <p:cNvPr id="453" name="Google Shape;453;g3dee1ebd2a2_0_417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4" name="Google Shape;454;g3dee1ebd2a2_0_417"/>
          <p:cNvPicPr preferRelativeResize="0"/>
          <p:nvPr/>
        </p:nvPicPr>
        <p:blipFill rotWithShape="1">
          <a:blip r:embed="rId3">
            <a:alphaModFix/>
          </a:blip>
          <a:srcRect b="0" l="0" r="0" t="3865"/>
          <a:stretch/>
        </p:blipFill>
        <p:spPr>
          <a:xfrm>
            <a:off x="230625" y="1828800"/>
            <a:ext cx="3800350" cy="15549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55" name="Google Shape;455;g3dee1ebd2a2_0_417"/>
          <p:cNvPicPr preferRelativeResize="0"/>
          <p:nvPr/>
        </p:nvPicPr>
        <p:blipFill rotWithShape="1">
          <a:blip r:embed="rId4">
            <a:alphaModFix/>
          </a:blip>
          <a:srcRect b="0" l="0" r="15154" t="0"/>
          <a:stretch/>
        </p:blipFill>
        <p:spPr>
          <a:xfrm>
            <a:off x="4900676" y="1669375"/>
            <a:ext cx="3839475" cy="19145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56" name="Google Shape;456;g3dee1ebd2a2_0_417"/>
          <p:cNvSpPr/>
          <p:nvPr/>
        </p:nvSpPr>
        <p:spPr>
          <a:xfrm>
            <a:off x="4203925" y="2571750"/>
            <a:ext cx="523800" cy="225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g3dee1ebd2a2_0_417"/>
          <p:cNvSpPr/>
          <p:nvPr/>
        </p:nvSpPr>
        <p:spPr>
          <a:xfrm>
            <a:off x="4838700" y="2560325"/>
            <a:ext cx="3993000" cy="2250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g3dee1ebd2a2_0_417"/>
          <p:cNvSpPr/>
          <p:nvPr/>
        </p:nvSpPr>
        <p:spPr>
          <a:xfrm>
            <a:off x="1158250" y="3048000"/>
            <a:ext cx="2042100" cy="2250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g3dee1ebd2a2_0_417"/>
          <p:cNvSpPr txBox="1"/>
          <p:nvPr/>
        </p:nvSpPr>
        <p:spPr>
          <a:xfrm>
            <a:off x="4983950" y="3634725"/>
            <a:ext cx="3672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放在這，或移動到專案資料夾底下都可以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dee1ebd2a2_0_407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執行程式</a:t>
            </a:r>
            <a:endParaRPr/>
          </a:p>
        </p:txBody>
      </p:sp>
      <p:sp>
        <p:nvSpPr>
          <p:cNvPr id="465" name="Google Shape;465;g3dee1ebd2a2_0_407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g3dee1ebd2a2_0_407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55600" lvl="0" marL="457200" rtl="0" algn="l">
              <a:spcBef>
                <a:spcPts val="110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啟動虛擬環境 fontenv 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修改檔案路徑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輸入指令</a:t>
            </a:r>
            <a:endParaRPr/>
          </a:p>
        </p:txBody>
      </p:sp>
      <p:sp>
        <p:nvSpPr>
          <p:cNvPr id="467" name="Google Shape;467;g3dee1ebd2a2_0_407"/>
          <p:cNvSpPr/>
          <p:nvPr/>
        </p:nvSpPr>
        <p:spPr>
          <a:xfrm>
            <a:off x="2471925" y="2040350"/>
            <a:ext cx="4967700" cy="855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conda activate fontenv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python ttf_to_char.py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68" name="Google Shape;468;g3dee1ebd2a2_0_4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7888" y="3337550"/>
            <a:ext cx="7488225" cy="53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1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聯絡資訊</a:t>
            </a:r>
            <a:endParaRPr/>
          </a:p>
        </p:txBody>
      </p:sp>
      <p:sp>
        <p:nvSpPr>
          <p:cNvPr id="474" name="Google Shape;474;p61"/>
          <p:cNvSpPr txBox="1"/>
          <p:nvPr>
            <p:ph idx="1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zh-TW"/>
              <a:t>06</a:t>
            </a:r>
            <a:endParaRPr/>
          </a:p>
        </p:txBody>
      </p:sp>
      <p:sp>
        <p:nvSpPr>
          <p:cNvPr id="475" name="Google Shape;475;p61"/>
          <p:cNvSpPr txBox="1"/>
          <p:nvPr>
            <p:ph idx="2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476" name="Google Shape;476;p61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bcf1ea64fb_0_1536"/>
          <p:cNvSpPr txBox="1"/>
          <p:nvPr>
            <p:ph type="ctrTitle"/>
          </p:nvPr>
        </p:nvSpPr>
        <p:spPr>
          <a:xfrm>
            <a:off x="536264" y="464026"/>
            <a:ext cx="49206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/>
              <a:t>助教聯絡資訊</a:t>
            </a:r>
            <a:endParaRPr/>
          </a:p>
        </p:txBody>
      </p:sp>
      <p:sp>
        <p:nvSpPr>
          <p:cNvPr id="483" name="Google Shape;483;g3bcf1ea64fb_0_1536"/>
          <p:cNvSpPr txBox="1"/>
          <p:nvPr>
            <p:ph idx="1" type="body"/>
          </p:nvPr>
        </p:nvSpPr>
        <p:spPr>
          <a:xfrm>
            <a:off x="964958" y="4621850"/>
            <a:ext cx="7871100" cy="1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/>
          </a:p>
        </p:txBody>
      </p:sp>
      <p:sp>
        <p:nvSpPr>
          <p:cNvPr id="484" name="Google Shape;484;g3bcf1ea64fb_0_1536"/>
          <p:cNvSpPr txBox="1"/>
          <p:nvPr>
            <p:ph idx="12" type="sldNum"/>
          </p:nvPr>
        </p:nvSpPr>
        <p:spPr>
          <a:xfrm>
            <a:off x="536276" y="4615550"/>
            <a:ext cx="428700" cy="1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85" name="Google Shape;485;g3bcf1ea64fb_0_1536"/>
          <p:cNvSpPr txBox="1"/>
          <p:nvPr/>
        </p:nvSpPr>
        <p:spPr>
          <a:xfrm>
            <a:off x="715566" y="1213947"/>
            <a:ext cx="75771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55600" lvl="0" marL="457200" marR="0" rtl="0" algn="l">
              <a:lnSpc>
                <a:spcPct val="2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zh-TW" sz="20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TA Email</a:t>
            </a:r>
            <a:endParaRPr b="0" i="0" sz="2000" u="none" cap="none" strike="noStrik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icrosoft JhengHei"/>
              <a:buChar char="○"/>
            </a:pPr>
            <a:r>
              <a:rPr b="0" i="0" lang="zh-TW" sz="18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賴秋彤 </a:t>
            </a:r>
            <a:r>
              <a:rPr b="0" i="0" lang="zh-TW" sz="1600" u="sng" cap="none" strike="noStrike">
                <a:solidFill>
                  <a:srgbClr val="0563C1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t114598033@ntut.org.tw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zh-TW" sz="20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Email 標題(主旨)</a:t>
            </a:r>
            <a:endParaRPr b="0" i="0" sz="2000" u="none" cap="none" strike="noStrik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b="0" i="0" lang="zh-TW" sz="18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請按照此格式(X為作業編號)</a:t>
            </a:r>
            <a:r>
              <a:rPr b="0" i="0" lang="zh-TW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：</a:t>
            </a:r>
            <a:r>
              <a:rPr b="0" i="0" lang="zh-TW" sz="18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b="0" i="0" lang="zh-TW" sz="18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[ai2026s-hwX-學號]</a:t>
            </a:r>
            <a:endParaRPr b="0" i="0" sz="1800" u="none" cap="none" strike="noStrike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內容頁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章節頁_章節N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章節頁_章節N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內容頁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首頁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