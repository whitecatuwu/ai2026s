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0" r:id="rId7"/>
    <p:sldMasterId id="214748367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y="5143500" cx="9144000"/>
  <p:notesSz cx="6858000" cy="9144000"/>
  <p:embeddedFontLst>
    <p:embeddedFont>
      <p:font typeface="Mulish ExtraLight"/>
      <p:regular r:id="rId38"/>
      <p:bold r:id="rId39"/>
      <p:italic r:id="rId40"/>
      <p:boldItalic r:id="rId41"/>
    </p:embeddedFont>
    <p:embeddedFont>
      <p:font typeface="Mulish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i5iv4zMDUH/bukDl6VclEqpf1A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ulishExtraLight-italic.fntdata"/><Relationship Id="rId20" Type="http://schemas.openxmlformats.org/officeDocument/2006/relationships/slide" Target="slides/slide11.xml"/><Relationship Id="rId42" Type="http://schemas.openxmlformats.org/officeDocument/2006/relationships/font" Target="fonts/Mulish-regular.fntdata"/><Relationship Id="rId41" Type="http://schemas.openxmlformats.org/officeDocument/2006/relationships/font" Target="fonts/MulishExtraLight-boldItalic.fntdata"/><Relationship Id="rId22" Type="http://schemas.openxmlformats.org/officeDocument/2006/relationships/slide" Target="slides/slide13.xml"/><Relationship Id="rId44" Type="http://schemas.openxmlformats.org/officeDocument/2006/relationships/font" Target="fonts/Mulish-italic.fntdata"/><Relationship Id="rId21" Type="http://schemas.openxmlformats.org/officeDocument/2006/relationships/slide" Target="slides/slide12.xml"/><Relationship Id="rId43" Type="http://schemas.openxmlformats.org/officeDocument/2006/relationships/font" Target="fonts/Mulish-bold.fntdata"/><Relationship Id="rId24" Type="http://schemas.openxmlformats.org/officeDocument/2006/relationships/slide" Target="slides/slide15.xml"/><Relationship Id="rId46" Type="http://customschemas.google.com/relationships/presentationmetadata" Target="metadata"/><Relationship Id="rId23" Type="http://schemas.openxmlformats.org/officeDocument/2006/relationships/slide" Target="slides/slide14.xml"/><Relationship Id="rId45" Type="http://schemas.openxmlformats.org/officeDocument/2006/relationships/font" Target="fonts/Mulish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slide" Target="slides/slide28.xml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39" Type="http://schemas.openxmlformats.org/officeDocument/2006/relationships/font" Target="fonts/MulishExtraLight-bold.fntdata"/><Relationship Id="rId16" Type="http://schemas.openxmlformats.org/officeDocument/2006/relationships/slide" Target="slides/slide7.xml"/><Relationship Id="rId38" Type="http://schemas.openxmlformats.org/officeDocument/2006/relationships/font" Target="fonts/MulishExtraLight-regular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圖形識別</a:t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f1ea64f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bcf1ea64f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cf1ea64f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bcf1ea64f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f1ea64fb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bcf1ea64fb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e71b6907c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e71b6907c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cf1ea64fb_0_1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bcf1ea64fb_0_1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cf1ea64fb_0_9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bcf1ea64fb_0_9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cf1ea64fb_0_1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cf1ea64fb_0_1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cf1ea64fb_0_1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bcf1ea64fb_0_1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cf1ea64fb_0_1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cf1ea64fb_0_1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bcf1ea64fb_0_1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cf1ea64fb_0_1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cf1ea64fb_0_1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bcf1ea64fb_0_1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cf1ea64fb_0_13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cf1ea64fb_0_1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bcf1ea64fb_0_1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3bcf1ea64fb_0_1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cf1ea64fb_0_1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bcf1ea64fb_0_1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cf1ea64fb_0_1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cf1ea64fb_0_1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bcf1ea64fb_0_13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g3bcf1ea64fb_0_13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cf1ea64fb_0_1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bcf1ea64fb_0_1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3bcf1ea64fb_0_1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cf1ea64fb_0_1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bcf1ea64fb_0_1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3bcf1ea64fb_0_13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cf1ea64fb_0_1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bcf1ea64fb_0_1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3bcf1ea64fb_0_1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cf1ea64fb_0_1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bcf1ea64fb_0_1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g3bcf1ea64fb_0_1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cf1ea64fb_0_1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bcf1ea64fb_0_1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cf1ea64fb_0_15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5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5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5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5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9"/>
          <p:cNvSpPr txBox="1"/>
          <p:nvPr>
            <p:ph type="ctrTitle"/>
          </p:nvPr>
        </p:nvSpPr>
        <p:spPr>
          <a:xfrm>
            <a:off x="725332" y="1606129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9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9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0"/>
          <p:cNvSpPr txBox="1"/>
          <p:nvPr>
            <p:ph idx="1" type="body"/>
          </p:nvPr>
        </p:nvSpPr>
        <p:spPr>
          <a:xfrm>
            <a:off x="725332" y="1621650"/>
            <a:ext cx="4767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80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0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" name="Google Shape;22;p6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6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0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102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103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03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03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cf1ea64fb_0_1426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bcf1ea64fb_0_142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g3bcf1ea64fb_0_142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g3bcf1ea64fb_0_142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g3bcf1ea64fb_0_1426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cf1ea64fb_0_143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" name="Google Shape;45;g3bcf1ea64fb_0_143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bcf1ea64fb_0_1432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bcf1ea64fb_0_143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cf1ea64fb_0_143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" name="Google Shape;50;g3bcf1ea64fb_0_1437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g3bcf1ea64fb_0_143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g3bcf1ea64fb_0_1437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cf1ea64fb_0_1546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cf1ea64fb_0_154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bcf1ea64fb_0_1546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bcf1ea64fb_0_154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f1ea64fb_0_155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bcf1ea64fb_0_155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g3bcf1ea64fb_0_15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f1ea64fb_0_1555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bcf1ea64fb_0_155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bcf1ea64fb_0_1555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bcf1ea64fb_0_155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cf1ea64fb_0_1560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g3bcf1ea64fb_0_156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f1ea64fb_0_1563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bcf1ea64fb_0_1563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bcf1ea64fb_0_1563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bcf1ea64fb_0_15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f1ea64fb_0_1568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bcf1ea64fb_0_1568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bcf1ea64fb_0_156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1" name="Google Shape;81;g3bcf1ea64fb_0_1568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cf1ea64fb_0_1573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g3bcf1ea64fb_0_157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bcf1ea64fb_0_157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f1ea64fb_0_157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bcf1ea64fb_0_157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cf1ea64fb_0_158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bcf1ea64fb_0_158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bcf1ea64fb_0_1580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bcf1ea64fb_0_158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f1ea64fb_0_15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g3bcf1ea64fb_0_1585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bcf1ea64fb_0_1585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bcf1ea64fb_0_1585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71b6907c_1_243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3de71b6907c_1_2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de71b6907c_1_243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g3de71b6907c_1_2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4" name="Google Shape;104;g3de71b6907c_1_243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71b6907c_1_17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3de71b6907c_1_17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g3de71b6907c_1_17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71b6907c_1_18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g3de71b6907c_1_18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g3de71b6907c_1_18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g3de71b6907c_1_18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71b6907c_1_186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de71b6907c_1_18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g3de71b6907c_1_186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g3de71b6907c_1_18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e71b6907c_1_191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g3de71b6907c_1_1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71b6907c_1_194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g3de71b6907c_1_194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e71b6907c_1_194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g3de71b6907c_1_19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71b6907c_1_199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g3de71b6907c_1_199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e71b6907c_1_19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2" name="Google Shape;132;g3de71b6907c_1_199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71b6907c_1_204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g3de71b6907c_1_20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g3de71b6907c_1_20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e71b6907c_1_20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g3de71b6907c_1_20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71b6907c_1_21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g3de71b6907c_1_21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g3de71b6907c_1_21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g3de71b6907c_1_2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71b6907c_1_21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" name="Google Shape;147;g3de71b6907c_1_216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g3de71b6907c_1_216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g3de71b6907c_1_216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71b6907c_1_221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g3de71b6907c_1_22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g3de71b6907c_1_22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g3de71b6907c_1_2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5" name="Google Shape;155;g3de71b6907c_1_221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cf1ea64fb_0_15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jpg"/><Relationship Id="rId6" Type="http://schemas.openxmlformats.org/officeDocument/2006/relationships/image" Target="../media/image29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yeungchenwa/FontDiffuser?tab=readme-ov-fi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lab.research.google.com/github/lctung/fontdiffuser-finetune-colab/blob/main/FontDiffuser_sample.ipynb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lctung/fontdiffuser-finetune-colab" TargetMode="External"/><Relationship Id="rId4" Type="http://schemas.openxmlformats.org/officeDocument/2006/relationships/hyperlink" Target="https://github.com/lctung/fontdiffuser-finetune" TargetMode="External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61" name="Google Shape;161;p1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生成字體 - FontDiffuser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2" name="Google Shape;162;p1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賴秋彤-林家弘-曾詠暄</a:t>
            </a:r>
            <a:endParaRPr/>
          </a:p>
        </p:txBody>
      </p:sp>
      <p:sp>
        <p:nvSpPr>
          <p:cNvPr id="163" name="Google Shape;163;p1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69" name="Google Shape;169;p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70" name="Google Shape;170;p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76" name="Google Shape;176;p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介紹</a:t>
            </a:r>
            <a:endParaRPr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流程</a:t>
            </a:r>
            <a:endParaRPr/>
          </a:p>
          <a:p>
            <a:pPr indent="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&gt; 建立環境、專案下載、前置作業、訓練結果及推論</a:t>
            </a:r>
            <a:endParaRPr/>
          </a:p>
          <a:p>
            <a:pPr indent="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介紹</a:t>
            </a:r>
            <a:endParaRPr/>
          </a:p>
        </p:txBody>
      </p:sp>
      <p:sp>
        <p:nvSpPr>
          <p:cNvPr id="184" name="Google Shape;184;p4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185" name="Google Shape;185;p4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2" name="Google Shape;192;p6"/>
          <p:cNvSpPr txBox="1"/>
          <p:nvPr>
            <p:ph type="ctrTitle"/>
          </p:nvPr>
        </p:nvSpPr>
        <p:spPr>
          <a:xfrm>
            <a:off x="691250" y="425275"/>
            <a:ext cx="5924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FontDiffuser流程</a:t>
            </a:r>
            <a:endParaRPr sz="3000"/>
          </a:p>
        </p:txBody>
      </p:sp>
      <p:sp>
        <p:nvSpPr>
          <p:cNvPr id="193" name="Google Shape;193;p6"/>
          <p:cNvSpPr txBox="1"/>
          <p:nvPr/>
        </p:nvSpPr>
        <p:spPr>
          <a:xfrm>
            <a:off x="409138" y="1682713"/>
            <a:ext cx="9762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手寫體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734837" y="1682713"/>
            <a:ext cx="1076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取得權重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733" y="2180633"/>
            <a:ext cx="1156750" cy="1156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6"/>
          <p:cNvCxnSpPr/>
          <p:nvPr/>
        </p:nvCxnSpPr>
        <p:spPr>
          <a:xfrm flipH="1" rot="10800000">
            <a:off x="13853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6"/>
          <p:cNvCxnSpPr/>
          <p:nvPr/>
        </p:nvCxnSpPr>
        <p:spPr>
          <a:xfrm flipH="1" rot="10800000">
            <a:off x="35255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98" name="Google Shape;198;p6"/>
          <p:cNvPicPr preferRelativeResize="0"/>
          <p:nvPr/>
        </p:nvPicPr>
        <p:blipFill rotWithShape="1">
          <a:blip r:embed="rId4">
            <a:alphaModFix/>
          </a:blip>
          <a:srcRect b="34567" l="0" r="0" t="0"/>
          <a:stretch/>
        </p:blipFill>
        <p:spPr>
          <a:xfrm>
            <a:off x="4373850" y="2145613"/>
            <a:ext cx="1832725" cy="122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 rotWithShape="1">
          <a:blip r:embed="rId5">
            <a:alphaModFix/>
          </a:blip>
          <a:srcRect b="26975" l="5761" r="68841" t="0"/>
          <a:stretch/>
        </p:blipFill>
        <p:spPr>
          <a:xfrm>
            <a:off x="393262" y="1987350"/>
            <a:ext cx="976200" cy="135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6"/>
          <p:cNvCxnSpPr/>
          <p:nvPr/>
        </p:nvCxnSpPr>
        <p:spPr>
          <a:xfrm flipH="1" rot="10800000">
            <a:off x="63135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1" name="Google Shape;201;p6"/>
          <p:cNvPicPr preferRelativeResize="0"/>
          <p:nvPr/>
        </p:nvPicPr>
        <p:blipFill rotWithShape="1">
          <a:blip r:embed="rId6">
            <a:alphaModFix/>
          </a:blip>
          <a:srcRect b="26975" l="0" r="31143" t="0"/>
          <a:stretch/>
        </p:blipFill>
        <p:spPr>
          <a:xfrm>
            <a:off x="7281038" y="2145613"/>
            <a:ext cx="1156750" cy="1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 txBox="1"/>
          <p:nvPr/>
        </p:nvSpPr>
        <p:spPr>
          <a:xfrm>
            <a:off x="7054876" y="1682725"/>
            <a:ext cx="1778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取得結果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2500988" y="1682713"/>
            <a:ext cx="741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微調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4375" y="2579150"/>
            <a:ext cx="359750" cy="3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7">
            <a:alphaModFix/>
          </a:blip>
          <a:srcRect b="0" l="0" r="0" t="13321"/>
          <a:stretch/>
        </p:blipFill>
        <p:spPr>
          <a:xfrm>
            <a:off x="137250" y="3917275"/>
            <a:ext cx="1879549" cy="5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2016800" y="4056775"/>
            <a:ext cx="10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(樣本)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6"/>
          <p:cNvCxnSpPr>
            <a:endCxn id="199" idx="2"/>
          </p:cNvCxnSpPr>
          <p:nvPr/>
        </p:nvCxnSpPr>
        <p:spPr>
          <a:xfrm flipH="1" rot="10800000">
            <a:off x="879862" y="3337375"/>
            <a:ext cx="1500" cy="5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6"/>
          <p:cNvSpPr txBox="1"/>
          <p:nvPr/>
        </p:nvSpPr>
        <p:spPr>
          <a:xfrm>
            <a:off x="492400" y="3404125"/>
            <a:ext cx="8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生   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f1ea64fb_0_0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14" name="Google Shape;214;g3bcf1ea64fb_0_0"/>
          <p:cNvSpPr txBox="1"/>
          <p:nvPr>
            <p:ph idx="2" type="body"/>
          </p:nvPr>
        </p:nvSpPr>
        <p:spPr>
          <a:xfrm>
            <a:off x="710804" y="1206410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https://github.com/yeungchenwa/FontDiffuser?tab=readme-ov-file</a:t>
            </a:r>
            <a:endParaRPr sz="1800"/>
          </a:p>
          <a:p>
            <a:pPr indent="-29210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FontDiffuser，這是一種基於</a:t>
            </a:r>
            <a:r>
              <a:rPr lang="zh-TW">
                <a:solidFill>
                  <a:srgbClr val="FF0000"/>
                </a:solidFill>
              </a:rPr>
              <a:t>擴散模型</a:t>
            </a:r>
            <a:r>
              <a:rPr lang="zh-TW"/>
              <a:t>的</a:t>
            </a:r>
            <a:r>
              <a:rPr lang="zh-TW">
                <a:solidFill>
                  <a:srgbClr val="FF0000"/>
                </a:solidFill>
              </a:rPr>
              <a:t>圖像到圖像</a:t>
            </a:r>
            <a:r>
              <a:rPr lang="zh-TW"/>
              <a:t>的一次性字體生成方法。</a:t>
            </a:r>
            <a:endParaRPr/>
          </a:p>
          <a:p>
            <a:pPr indent="-2921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它將字體生成學習建模為噪聲到降噪的範式，</a:t>
            </a:r>
            <a:endParaRPr/>
          </a:p>
          <a:p>
            <a:pPr indent="-2921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並且能夠生成沒見過的字符和樣式。</a:t>
            </a:r>
            <a:endParaRPr/>
          </a:p>
        </p:txBody>
      </p:sp>
      <p:sp>
        <p:nvSpPr>
          <p:cNvPr id="215" name="Google Shape;215;g3bcf1ea64fb_0_0"/>
          <p:cNvSpPr txBox="1"/>
          <p:nvPr>
            <p:ph idx="12" type="sldNum"/>
          </p:nvPr>
        </p:nvSpPr>
        <p:spPr>
          <a:xfrm>
            <a:off x="287588" y="4647880"/>
            <a:ext cx="564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cf1ea64fb_0_41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21" name="Google Shape;221;g3bcf1ea64fb_0_41"/>
          <p:cNvSpPr txBox="1"/>
          <p:nvPr>
            <p:ph idx="2" type="body"/>
          </p:nvPr>
        </p:nvSpPr>
        <p:spPr>
          <a:xfrm>
            <a:off x="710804" y="1206410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g3bcf1ea64fb_0_41"/>
          <p:cNvSpPr txBox="1"/>
          <p:nvPr>
            <p:ph idx="12" type="sldNum"/>
          </p:nvPr>
        </p:nvSpPr>
        <p:spPr>
          <a:xfrm>
            <a:off x="306255" y="4647046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3" name="Google Shape;223;g3bcf1ea64fb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00" y="1108375"/>
            <a:ext cx="6856065" cy="347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cf1ea64fb_0_83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29" name="Google Shape;229;g3bcf1ea64fb_0_83"/>
          <p:cNvSpPr txBox="1"/>
          <p:nvPr>
            <p:ph idx="2" type="body"/>
          </p:nvPr>
        </p:nvSpPr>
        <p:spPr>
          <a:xfrm>
            <a:off x="710800" y="1206400"/>
            <a:ext cx="4494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/>
              <a:t>FontDiffuser的</a:t>
            </a:r>
            <a:r>
              <a:rPr lang="zh-TW">
                <a:solidFill>
                  <a:srgbClr val="FF0000"/>
                </a:solidFill>
              </a:rPr>
              <a:t>主要貢獻</a:t>
            </a:r>
            <a:r>
              <a:rPr lang="zh-TW"/>
              <a:t>有以下四點: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一.提出 FontDiffuser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基於 diffusion 的影像到影像字型生成框架</a:t>
            </a:r>
            <a:br>
              <a:rPr lang="zh-TW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在複雜字元與大幅風格變化下達到 SOTA 表現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二.精細筆劃保留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多尺度內容聚合（MCA）模組</a:t>
            </a:r>
            <a:br>
              <a:rPr b="1" lang="zh-TW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融合不同尺度的全域與區域特徵，強化複雜筆劃表現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0" name="Google Shape;230;g3bcf1ea64fb_0_83"/>
          <p:cNvSpPr txBox="1"/>
          <p:nvPr>
            <p:ph idx="12" type="sldNum"/>
          </p:nvPr>
        </p:nvSpPr>
        <p:spPr>
          <a:xfrm>
            <a:off x="331631" y="4642818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1" name="Google Shape;231;g3bcf1ea64fb_0_83"/>
          <p:cNvSpPr txBox="1"/>
          <p:nvPr/>
        </p:nvSpPr>
        <p:spPr>
          <a:xfrm>
            <a:off x="4693675" y="1637200"/>
            <a:ext cx="4095000" cy="21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三.風格學習與對比強化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風格對比精煉（SCR）模組</a:t>
            </a:r>
            <a:b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引入風格對比損失，有效處理大風格差異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四.優勢與擴展性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在易、中、難字元生成任務上均優於現有方法</a:t>
            </a:r>
            <a:b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能泛化至未見字元與風格</a:t>
            </a:r>
            <a:b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支援跨語言生成（例：中文 → 韓文）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流程</a:t>
            </a:r>
            <a:endParaRPr/>
          </a:p>
        </p:txBody>
      </p:sp>
      <p:sp>
        <p:nvSpPr>
          <p:cNvPr id="237" name="Google Shape;237;p1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238" name="Google Shape;238;p1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>
            <p:ph idx="1" type="body"/>
          </p:nvPr>
        </p:nvSpPr>
        <p:spPr>
          <a:xfrm>
            <a:off x="931736" y="46471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6" name="Google Shape;246;p12"/>
          <p:cNvSpPr txBox="1"/>
          <p:nvPr>
            <p:ph type="ctrTitle"/>
          </p:nvPr>
        </p:nvSpPr>
        <p:spPr>
          <a:xfrm>
            <a:off x="252271" y="78775"/>
            <a:ext cx="4990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>
                <a:solidFill>
                  <a:srgbClr val="674EA7"/>
                </a:solidFill>
              </a:rPr>
              <a:t>執行過程</a:t>
            </a:r>
            <a:endParaRPr b="1" sz="3000">
              <a:solidFill>
                <a:srgbClr val="674EA7"/>
              </a:solidFill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399072" y="1646250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219522" y="180682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3362625" y="3617963"/>
            <a:ext cx="8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5.推論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252275" y="1944238"/>
            <a:ext cx="2209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</a:t>
            </a: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開啟colab並建立sample副本</a:t>
            </a:r>
            <a:endParaRPr b="1" sz="1700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zh-TW" sz="6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https://colab.research.google.com/github/lctung/fontdiffuser-finetune-colab/blob/main/FontDiffuser_sample.ipynb</a:t>
            </a:r>
            <a:endParaRPr b="1" sz="600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File:Google Colab pic.png - Wikimedia Commons" id="251" name="Google Shape;25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78" y="978987"/>
            <a:ext cx="1559101" cy="89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2"/>
          <p:cNvPicPr preferRelativeResize="0"/>
          <p:nvPr/>
        </p:nvPicPr>
        <p:blipFill rotWithShape="1">
          <a:blip r:embed="rId5">
            <a:alphaModFix/>
          </a:blip>
          <a:srcRect b="0" l="0" r="11450" t="0"/>
          <a:stretch/>
        </p:blipFill>
        <p:spPr>
          <a:xfrm>
            <a:off x="3321122" y="956395"/>
            <a:ext cx="1253700" cy="81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 txBox="1"/>
          <p:nvPr/>
        </p:nvSpPr>
        <p:spPr>
          <a:xfrm>
            <a:off x="3095675" y="2235901"/>
            <a:ext cx="1704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2.專案下載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5668" y="1816218"/>
            <a:ext cx="2079179" cy="4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6349100" y="1920675"/>
            <a:ext cx="207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</a:t>
            </a: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安裝所需套件並連結googledrive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56" name="Google Shape;256;p12"/>
          <p:cNvPicPr preferRelativeResize="0"/>
          <p:nvPr/>
        </p:nvPicPr>
        <p:blipFill rotWithShape="1">
          <a:blip r:embed="rId5">
            <a:alphaModFix/>
          </a:blip>
          <a:srcRect b="0" l="0" r="11450" t="0"/>
          <a:stretch/>
        </p:blipFill>
        <p:spPr>
          <a:xfrm>
            <a:off x="6305922" y="1019683"/>
            <a:ext cx="1253700" cy="81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Drive icon (2020).svg - 維基百科，自由的百科全書" id="257" name="Google Shape;257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9700" y="1032552"/>
            <a:ext cx="877501" cy="78428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5455678" y="3992798"/>
            <a:ext cx="16665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3"/>
              <a:buFont typeface="Arial"/>
              <a:buNone/>
            </a:pPr>
            <a:r>
              <a:rPr b="1" lang="zh-TW" sz="1363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b="1" lang="zh-TW" sz="1363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r>
              <a:rPr b="1" lang="zh-TW" sz="1363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</a:t>
            </a:r>
            <a:r>
              <a:rPr b="1" lang="zh-TW" sz="1363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drive中</a:t>
            </a:r>
            <a:r>
              <a:rPr b="1" lang="zh-TW" sz="1363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獲取權重檔</a:t>
            </a:r>
            <a:endParaRPr b="1" i="0" sz="1363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File:Google Drive icon (2020).svg - 維基百科，自由的百科全書" id="259" name="Google Shape;25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1803" y="2999313"/>
            <a:ext cx="865123" cy="77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12013" y="3715319"/>
            <a:ext cx="1666428" cy="34274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/>
          <p:nvPr/>
        </p:nvSpPr>
        <p:spPr>
          <a:xfrm rot="7609765">
            <a:off x="6879101" y="2782676"/>
            <a:ext cx="764220" cy="47304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 rot="10800000">
            <a:off x="4335797" y="361797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e71b6907c_1_116"/>
          <p:cNvSpPr/>
          <p:nvPr/>
        </p:nvSpPr>
        <p:spPr>
          <a:xfrm>
            <a:off x="7530263" y="1855831"/>
            <a:ext cx="14403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fontdiffuser_finetuning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(訓練)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de71b6907c_1_116"/>
          <p:cNvSpPr/>
          <p:nvPr/>
        </p:nvSpPr>
        <p:spPr>
          <a:xfrm>
            <a:off x="7439505" y="1059886"/>
            <a:ext cx="1621800" cy="3666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同學手寫體(4495字).png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e71b6907c_1_116"/>
          <p:cNvSpPr/>
          <p:nvPr/>
        </p:nvSpPr>
        <p:spPr>
          <a:xfrm>
            <a:off x="229971" y="974749"/>
            <a:ext cx="1340700" cy="3063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manuscript_paper.txt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e71b6907c_1_116"/>
          <p:cNvSpPr/>
          <p:nvPr/>
        </p:nvSpPr>
        <p:spPr>
          <a:xfrm>
            <a:off x="375566" y="1974611"/>
            <a:ext cx="1063500" cy="2685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character.txt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de71b6907c_1_116"/>
          <p:cNvSpPr/>
          <p:nvPr/>
        </p:nvSpPr>
        <p:spPr>
          <a:xfrm>
            <a:off x="83812" y="1511483"/>
            <a:ext cx="1639500" cy="2949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1_preprocess_characters.py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e71b6907c_1_116"/>
          <p:cNvSpPr/>
          <p:nvPr/>
        </p:nvSpPr>
        <p:spPr>
          <a:xfrm>
            <a:off x="1798759" y="3689055"/>
            <a:ext cx="92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稿紙(空白).pdf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e71b6907c_1_116"/>
          <p:cNvSpPr/>
          <p:nvPr/>
        </p:nvSpPr>
        <p:spPr>
          <a:xfrm>
            <a:off x="3450953" y="1582037"/>
            <a:ext cx="9252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4"/>
              <a:buFont typeface="Arial"/>
              <a:buNone/>
            </a:pPr>
            <a:r>
              <a:rPr b="0" i="0" lang="zh-TW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s1_rotate_page.py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e71b6907c_1_116"/>
          <p:cNvSpPr/>
          <p:nvPr/>
        </p:nvSpPr>
        <p:spPr>
          <a:xfrm>
            <a:off x="10580" y="292243"/>
            <a:ext cx="24924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倉庫一 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製作稿紙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01-1_generate_paper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e71b6907c_1_116"/>
          <p:cNvSpPr/>
          <p:nvPr/>
        </p:nvSpPr>
        <p:spPr>
          <a:xfrm>
            <a:off x="2502919" y="292243"/>
            <a:ext cx="19848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倉庫二(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裁切稿紙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02-1_crop_paper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de71b6907c_1_116"/>
          <p:cNvSpPr/>
          <p:nvPr/>
        </p:nvSpPr>
        <p:spPr>
          <a:xfrm>
            <a:off x="4492309" y="292243"/>
            <a:ext cx="13002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倉庫三(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向量化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lang="zh-TW" sz="1000"/>
              <a:t>02-2_glyph_vector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e71b6907c_1_116"/>
          <p:cNvSpPr/>
          <p:nvPr/>
        </p:nvSpPr>
        <p:spPr>
          <a:xfrm>
            <a:off x="7209930" y="292243"/>
            <a:ext cx="19347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倉庫五(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生成字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fontdiffuser-finetune-colab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e71b6907c_1_116"/>
          <p:cNvSpPr/>
          <p:nvPr/>
        </p:nvSpPr>
        <p:spPr>
          <a:xfrm>
            <a:off x="3004977" y="3473672"/>
            <a:ext cx="984000" cy="240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一格手寫字.png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3de71b6907c_1_116"/>
          <p:cNvCxnSpPr>
            <a:stCxn id="269" idx="2"/>
            <a:endCxn id="271" idx="0"/>
          </p:cNvCxnSpPr>
          <p:nvPr/>
        </p:nvCxnSpPr>
        <p:spPr>
          <a:xfrm>
            <a:off x="900321" y="1281049"/>
            <a:ext cx="3300" cy="230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g3de71b6907c_1_116"/>
          <p:cNvCxnSpPr>
            <a:stCxn id="271" idx="2"/>
            <a:endCxn id="270" idx="0"/>
          </p:cNvCxnSpPr>
          <p:nvPr/>
        </p:nvCxnSpPr>
        <p:spPr>
          <a:xfrm>
            <a:off x="903562" y="1806383"/>
            <a:ext cx="3900" cy="168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g3de71b6907c_1_116"/>
          <p:cNvSpPr/>
          <p:nvPr/>
        </p:nvSpPr>
        <p:spPr>
          <a:xfrm>
            <a:off x="153865" y="2413786"/>
            <a:ext cx="1511400" cy="362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2_generate_CP950.py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g3de71b6907c_1_116"/>
          <p:cNvCxnSpPr>
            <a:stCxn id="270" idx="2"/>
            <a:endCxn id="281" idx="0"/>
          </p:cNvCxnSpPr>
          <p:nvPr/>
        </p:nvCxnSpPr>
        <p:spPr>
          <a:xfrm>
            <a:off x="907316" y="2243111"/>
            <a:ext cx="2100" cy="1707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g3de71b6907c_1_116"/>
          <p:cNvSpPr/>
          <p:nvPr/>
        </p:nvSpPr>
        <p:spPr>
          <a:xfrm>
            <a:off x="122808" y="2958302"/>
            <a:ext cx="1565400" cy="324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./CP950/CP950-稿紙標題.json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g3de71b6907c_1_116"/>
          <p:cNvCxnSpPr>
            <a:stCxn id="281" idx="2"/>
            <a:endCxn id="283" idx="0"/>
          </p:cNvCxnSpPr>
          <p:nvPr/>
        </p:nvCxnSpPr>
        <p:spPr>
          <a:xfrm flipH="1">
            <a:off x="905365" y="2776186"/>
            <a:ext cx="4200" cy="18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g3de71b6907c_1_116"/>
          <p:cNvSpPr/>
          <p:nvPr/>
        </p:nvSpPr>
        <p:spPr>
          <a:xfrm>
            <a:off x="259488" y="3485667"/>
            <a:ext cx="1300200" cy="7308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1_SVGtable.py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2_QR_add.py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3_SVG2PDF.py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4_PDFmerge.py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de71b6907c_1_116"/>
          <p:cNvCxnSpPr>
            <a:stCxn id="283" idx="2"/>
            <a:endCxn id="285" idx="0"/>
          </p:cNvCxnSpPr>
          <p:nvPr/>
        </p:nvCxnSpPr>
        <p:spPr>
          <a:xfrm>
            <a:off x="905508" y="3282302"/>
            <a:ext cx="4200" cy="203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g3de71b6907c_1_116"/>
          <p:cNvCxnSpPr>
            <a:stCxn id="285" idx="3"/>
            <a:endCxn id="272" idx="1"/>
          </p:cNvCxnSpPr>
          <p:nvPr/>
        </p:nvCxnSpPr>
        <p:spPr>
          <a:xfrm flipH="1" rot="10800000">
            <a:off x="1559688" y="3848967"/>
            <a:ext cx="239100" cy="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g3de71b6907c_1_116"/>
          <p:cNvSpPr/>
          <p:nvPr/>
        </p:nvSpPr>
        <p:spPr>
          <a:xfrm>
            <a:off x="1810580" y="3096417"/>
            <a:ext cx="9015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經過手寫後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3de71b6907c_1_116"/>
          <p:cNvCxnSpPr>
            <a:stCxn id="272" idx="0"/>
            <a:endCxn id="288" idx="2"/>
          </p:cNvCxnSpPr>
          <p:nvPr/>
        </p:nvCxnSpPr>
        <p:spPr>
          <a:xfrm rot="10800000">
            <a:off x="2261359" y="3420555"/>
            <a:ext cx="0" cy="268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g3de71b6907c_1_116"/>
          <p:cNvSpPr/>
          <p:nvPr/>
        </p:nvSpPr>
        <p:spPr>
          <a:xfrm>
            <a:off x="1796351" y="2563006"/>
            <a:ext cx="925200" cy="324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稿紙(完成).pdf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g3de71b6907c_1_116"/>
          <p:cNvCxnSpPr>
            <a:stCxn id="288" idx="0"/>
            <a:endCxn id="290" idx="2"/>
          </p:cNvCxnSpPr>
          <p:nvPr/>
        </p:nvCxnSpPr>
        <p:spPr>
          <a:xfrm rot="10800000">
            <a:off x="2258930" y="2887017"/>
            <a:ext cx="2400" cy="20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g3de71b6907c_1_116"/>
          <p:cNvSpPr/>
          <p:nvPr/>
        </p:nvSpPr>
        <p:spPr>
          <a:xfrm>
            <a:off x="2525913" y="1582930"/>
            <a:ext cx="9252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4"/>
              <a:buFont typeface="Arial"/>
              <a:buNone/>
            </a:pPr>
            <a:r>
              <a:rPr b="0" i="0" lang="zh-TW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s1_pdf2png.py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de71b6907c_1_116"/>
          <p:cNvSpPr txBox="1"/>
          <p:nvPr/>
        </p:nvSpPr>
        <p:spPr>
          <a:xfrm>
            <a:off x="2244084" y="993557"/>
            <a:ext cx="719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1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平板寫作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e71b6907c_1_116"/>
          <p:cNvSpPr txBox="1"/>
          <p:nvPr/>
        </p:nvSpPr>
        <p:spPr>
          <a:xfrm>
            <a:off x="3270884" y="1158883"/>
            <a:ext cx="71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1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紙本寫作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e71b6907c_1_116"/>
          <p:cNvSpPr/>
          <p:nvPr/>
        </p:nvSpPr>
        <p:spPr>
          <a:xfrm>
            <a:off x="2914437" y="2273862"/>
            <a:ext cx="116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整張稿紙png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g3de71b6907c_1_116"/>
          <p:cNvCxnSpPr>
            <a:stCxn id="292" idx="2"/>
            <a:endCxn id="295" idx="0"/>
          </p:cNvCxnSpPr>
          <p:nvPr/>
        </p:nvCxnSpPr>
        <p:spPr>
          <a:xfrm>
            <a:off x="2988513" y="1906930"/>
            <a:ext cx="508500" cy="3669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g3de71b6907c_1_116"/>
          <p:cNvCxnSpPr>
            <a:stCxn id="273" idx="2"/>
            <a:endCxn id="295" idx="0"/>
          </p:cNvCxnSpPr>
          <p:nvPr/>
        </p:nvCxnSpPr>
        <p:spPr>
          <a:xfrm flipH="1">
            <a:off x="3497153" y="1906037"/>
            <a:ext cx="416400" cy="3678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g3de71b6907c_1_116"/>
          <p:cNvSpPr/>
          <p:nvPr/>
        </p:nvSpPr>
        <p:spPr>
          <a:xfrm>
            <a:off x="2962383" y="2865937"/>
            <a:ext cx="1069200" cy="2685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s2_crop_page.py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g3de71b6907c_1_116"/>
          <p:cNvCxnSpPr>
            <a:stCxn id="295" idx="2"/>
            <a:endCxn id="298" idx="0"/>
          </p:cNvCxnSpPr>
          <p:nvPr/>
        </p:nvCxnSpPr>
        <p:spPr>
          <a:xfrm>
            <a:off x="3497037" y="2593962"/>
            <a:ext cx="0" cy="27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" name="Google Shape;300;g3de71b6907c_1_116"/>
          <p:cNvCxnSpPr>
            <a:stCxn id="298" idx="2"/>
            <a:endCxn id="278" idx="0"/>
          </p:cNvCxnSpPr>
          <p:nvPr/>
        </p:nvCxnSpPr>
        <p:spPr>
          <a:xfrm>
            <a:off x="3496983" y="3134437"/>
            <a:ext cx="0" cy="339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g3de71b6907c_1_116"/>
          <p:cNvSpPr/>
          <p:nvPr/>
        </p:nvSpPr>
        <p:spPr>
          <a:xfrm>
            <a:off x="4729886" y="1055904"/>
            <a:ext cx="8034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potrace.py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g3de71b6907c_1_116"/>
          <p:cNvCxnSpPr>
            <a:stCxn id="278" idx="3"/>
            <a:endCxn id="301" idx="1"/>
          </p:cNvCxnSpPr>
          <p:nvPr/>
        </p:nvCxnSpPr>
        <p:spPr>
          <a:xfrm flipH="1" rot="10800000">
            <a:off x="3988977" y="1175672"/>
            <a:ext cx="741000" cy="2418000"/>
          </a:xfrm>
          <a:prstGeom prst="bentConnector3">
            <a:avLst>
              <a:gd fmla="val 49994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g3de71b6907c_1_116"/>
          <p:cNvSpPr/>
          <p:nvPr/>
        </p:nvSpPr>
        <p:spPr>
          <a:xfrm>
            <a:off x="4639585" y="1698449"/>
            <a:ext cx="984000" cy="2394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一格手寫字.svg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g3de71b6907c_1_116"/>
          <p:cNvCxnSpPr>
            <a:stCxn id="301" idx="2"/>
            <a:endCxn id="303" idx="0"/>
          </p:cNvCxnSpPr>
          <p:nvPr/>
        </p:nvCxnSpPr>
        <p:spPr>
          <a:xfrm>
            <a:off x="5131586" y="1295304"/>
            <a:ext cx="0" cy="4032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g3de71b6907c_1_116"/>
          <p:cNvSpPr/>
          <p:nvPr/>
        </p:nvSpPr>
        <p:spPr>
          <a:xfrm>
            <a:off x="4716353" y="2363314"/>
            <a:ext cx="8400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run_pico.py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g3de71b6907c_1_116"/>
          <p:cNvCxnSpPr>
            <a:stCxn id="303" idx="2"/>
            <a:endCxn id="305" idx="0"/>
          </p:cNvCxnSpPr>
          <p:nvPr/>
        </p:nvCxnSpPr>
        <p:spPr>
          <a:xfrm>
            <a:off x="5131585" y="1937849"/>
            <a:ext cx="4800" cy="425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g3de71b6907c_1_116"/>
          <p:cNvSpPr/>
          <p:nvPr/>
        </p:nvSpPr>
        <p:spPr>
          <a:xfrm>
            <a:off x="4608086" y="3033117"/>
            <a:ext cx="1068600" cy="4122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手寫字.svg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(去除黑塊)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g3de71b6907c_1_116"/>
          <p:cNvCxnSpPr>
            <a:stCxn id="305" idx="2"/>
            <a:endCxn id="307" idx="0"/>
          </p:cNvCxnSpPr>
          <p:nvPr/>
        </p:nvCxnSpPr>
        <p:spPr>
          <a:xfrm>
            <a:off x="5136353" y="2602714"/>
            <a:ext cx="6000" cy="430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g3de71b6907c_1_116"/>
          <p:cNvSpPr/>
          <p:nvPr/>
        </p:nvSpPr>
        <p:spPr>
          <a:xfrm>
            <a:off x="5946055" y="1797740"/>
            <a:ext cx="1166700" cy="4503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手寫字(一包).svg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(fontpico.svg)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g3de71b6907c_1_116"/>
          <p:cNvCxnSpPr>
            <a:stCxn id="311" idx="2"/>
            <a:endCxn id="309" idx="0"/>
          </p:cNvCxnSpPr>
          <p:nvPr/>
        </p:nvCxnSpPr>
        <p:spPr>
          <a:xfrm>
            <a:off x="6529462" y="1295300"/>
            <a:ext cx="0" cy="502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g3de71b6907c_1_116"/>
          <p:cNvSpPr/>
          <p:nvPr/>
        </p:nvSpPr>
        <p:spPr>
          <a:xfrm>
            <a:off x="6037455" y="2791038"/>
            <a:ext cx="9840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FontForge 打包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3de71b6907c_1_116"/>
          <p:cNvCxnSpPr>
            <a:stCxn id="312" idx="3"/>
            <a:endCxn id="268" idx="1"/>
          </p:cNvCxnSpPr>
          <p:nvPr/>
        </p:nvCxnSpPr>
        <p:spPr>
          <a:xfrm flipH="1" rot="10800000">
            <a:off x="7021455" y="1243188"/>
            <a:ext cx="418200" cy="1707900"/>
          </a:xfrm>
          <a:prstGeom prst="bentConnector3">
            <a:avLst>
              <a:gd fmla="val 49982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g3de71b6907c_1_116"/>
          <p:cNvCxnSpPr>
            <a:stCxn id="309" idx="2"/>
            <a:endCxn id="312" idx="0"/>
          </p:cNvCxnSpPr>
          <p:nvPr/>
        </p:nvCxnSpPr>
        <p:spPr>
          <a:xfrm>
            <a:off x="6529405" y="2248040"/>
            <a:ext cx="0" cy="5430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g3de71b6907c_1_116"/>
          <p:cNvCxnSpPr>
            <a:stCxn id="307" idx="3"/>
            <a:endCxn id="311" idx="1"/>
          </p:cNvCxnSpPr>
          <p:nvPr/>
        </p:nvCxnSpPr>
        <p:spPr>
          <a:xfrm flipH="1" rot="10800000">
            <a:off x="5676686" y="1175517"/>
            <a:ext cx="270300" cy="2063700"/>
          </a:xfrm>
          <a:prstGeom prst="bentConnector3">
            <a:avLst>
              <a:gd fmla="val 49977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g3de71b6907c_1_116"/>
          <p:cNvCxnSpPr>
            <a:stCxn id="290" idx="0"/>
            <a:endCxn id="273" idx="0"/>
          </p:cNvCxnSpPr>
          <p:nvPr/>
        </p:nvCxnSpPr>
        <p:spPr>
          <a:xfrm rot="-5400000">
            <a:off x="2595701" y="1245256"/>
            <a:ext cx="981000" cy="1654500"/>
          </a:xfrm>
          <a:prstGeom prst="bentConnector3">
            <a:avLst>
              <a:gd fmla="val 124271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g3de71b6907c_1_116"/>
          <p:cNvSpPr/>
          <p:nvPr/>
        </p:nvSpPr>
        <p:spPr>
          <a:xfrm>
            <a:off x="7630897" y="2625290"/>
            <a:ext cx="12390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fontdiffuser_sample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(推論)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de71b6907c_1_116"/>
          <p:cNvSpPr/>
          <p:nvPr/>
        </p:nvSpPr>
        <p:spPr>
          <a:xfrm>
            <a:off x="7667809" y="3394786"/>
            <a:ext cx="116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同學手寫體.png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g3de71b6907c_1_116"/>
          <p:cNvCxnSpPr>
            <a:stCxn id="317" idx="2"/>
            <a:endCxn id="318" idx="0"/>
          </p:cNvCxnSpPr>
          <p:nvPr/>
        </p:nvCxnSpPr>
        <p:spPr>
          <a:xfrm>
            <a:off x="8250397" y="2945390"/>
            <a:ext cx="0" cy="44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g3de71b6907c_1_116"/>
          <p:cNvCxnSpPr>
            <a:stCxn id="267" idx="2"/>
            <a:endCxn id="317" idx="0"/>
          </p:cNvCxnSpPr>
          <p:nvPr/>
        </p:nvCxnSpPr>
        <p:spPr>
          <a:xfrm>
            <a:off x="8250413" y="2175931"/>
            <a:ext cx="0" cy="44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g3de71b6907c_1_116"/>
          <p:cNvCxnSpPr>
            <a:stCxn id="268" idx="2"/>
            <a:endCxn id="267" idx="0"/>
          </p:cNvCxnSpPr>
          <p:nvPr/>
        </p:nvCxnSpPr>
        <p:spPr>
          <a:xfrm>
            <a:off x="8250405" y="1426486"/>
            <a:ext cx="0" cy="429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g3de71b6907c_1_116"/>
          <p:cNvSpPr/>
          <p:nvPr/>
        </p:nvSpPr>
        <p:spPr>
          <a:xfrm>
            <a:off x="5946862" y="1055900"/>
            <a:ext cx="11652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merge_svgfont.py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g3de71b6907c_1_116"/>
          <p:cNvCxnSpPr>
            <a:stCxn id="290" idx="0"/>
          </p:cNvCxnSpPr>
          <p:nvPr/>
        </p:nvCxnSpPr>
        <p:spPr>
          <a:xfrm rot="-5400000">
            <a:off x="2123201" y="1724656"/>
            <a:ext cx="974100" cy="702600"/>
          </a:xfrm>
          <a:prstGeom prst="bentConnector3">
            <a:avLst>
              <a:gd fmla="val 134694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g3de71b6907c_1_116"/>
          <p:cNvSpPr/>
          <p:nvPr/>
        </p:nvSpPr>
        <p:spPr>
          <a:xfrm>
            <a:off x="5786754" y="292243"/>
            <a:ext cx="14232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倉庫四(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打包字體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02-3_</a:t>
            </a:r>
            <a:r>
              <a:rPr lang="zh-TW" sz="1000"/>
              <a:t>font_packager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cf1ea64fb_0_1308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FontDiffuser-Finetune 推論</a:t>
            </a:r>
            <a:endParaRPr/>
          </a:p>
        </p:txBody>
      </p:sp>
      <p:sp>
        <p:nvSpPr>
          <p:cNvPr id="329" name="Google Shape;329;g3bcf1ea64fb_0_1308"/>
          <p:cNvSpPr txBox="1"/>
          <p:nvPr/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06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cf1ea64fb_0_90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下載 </a:t>
            </a:r>
            <a:r>
              <a:rPr lang="zh-TW" sz="3300">
                <a:latin typeface="Microsoft JhengHei"/>
                <a:ea typeface="Microsoft JhengHei"/>
                <a:cs typeface="Microsoft JhengHei"/>
                <a:sym typeface="Microsoft JhengHei"/>
              </a:rPr>
              <a:t>ipynb</a:t>
            </a:r>
            <a:endParaRPr/>
          </a:p>
        </p:txBody>
      </p:sp>
      <p:sp>
        <p:nvSpPr>
          <p:cNvPr id="335" name="Google Shape;335;g3bcf1ea64fb_0_90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36" name="Google Shape;336;g3bcf1ea64fb_0_90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7" name="Google Shape;337;g3bcf1ea64fb_0_907"/>
          <p:cNvSpPr txBox="1"/>
          <p:nvPr/>
        </p:nvSpPr>
        <p:spPr>
          <a:xfrm>
            <a:off x="156550" y="1137500"/>
            <a:ext cx="86547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Colab 程式碼下載連結: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"/>
              <a:buChar char="○"/>
            </a:pPr>
            <a:r>
              <a:rPr b="0" i="0" lang="zh-TW" sz="1200" u="sng" cap="none" strike="noStrik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https://github.com/lctung/fontdiffuser-finetune-colab</a:t>
            </a: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(需要</a:t>
            </a: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下載，再上傳。或是一鍵連過去colab</a:t>
            </a: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○"/>
            </a:pPr>
            <a:r>
              <a:rPr lang="zh-TW" sz="12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https://github.com/lctung/fontdiffuser-finetune</a:t>
            </a: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(無須下載，colab會幫你下載)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Fontdiffuser_Finetuning  為微調(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微調</a:t>
            </a: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)程式碼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Fontdiffuser_Sample        為推論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(生成)</a:t>
            </a: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程式碼 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38" name="Google Shape;338;g3bcf1ea64fb_0_907"/>
          <p:cNvPicPr preferRelativeResize="0"/>
          <p:nvPr/>
        </p:nvPicPr>
        <p:blipFill rotWithShape="1">
          <a:blip r:embed="rId5">
            <a:alphaModFix/>
          </a:blip>
          <a:srcRect b="44003" l="0" r="0" t="0"/>
          <a:stretch/>
        </p:blipFill>
        <p:spPr>
          <a:xfrm>
            <a:off x="1433788" y="2883649"/>
            <a:ext cx="6276425" cy="2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cf1ea64fb_0_131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上傳</a:t>
            </a:r>
            <a:r>
              <a:rPr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Colab_ipynb</a:t>
            </a:r>
            <a:endParaRPr/>
          </a:p>
        </p:txBody>
      </p:sp>
      <p:sp>
        <p:nvSpPr>
          <p:cNvPr id="344" name="Google Shape;344;g3bcf1ea64fb_0_131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45" name="Google Shape;345;g3bcf1ea64fb_0_131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6" name="Google Shape;346;g3bcf1ea64fb_0_1313"/>
          <p:cNvSpPr txBox="1"/>
          <p:nvPr/>
        </p:nvSpPr>
        <p:spPr>
          <a:xfrm>
            <a:off x="710804" y="1082192"/>
            <a:ext cx="75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上傳Fontdiffuser_Sample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47" name="Google Shape;347;g3bcf1ea64fb_0_13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589" y="1532315"/>
            <a:ext cx="6210002" cy="2941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cf1ea64fb_0_132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354" name="Google Shape;354;g3bcf1ea64fb_0_132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55" name="Google Shape;355;g3bcf1ea64fb_0_13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6" name="Google Shape;356;g3bcf1ea64fb_0_1321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前四個cell跟微調時一樣依序執行</a:t>
            </a:r>
            <a:r>
              <a:rPr b="1" i="0" lang="zh-TW" sz="18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(有執行問題請往前查看簡報內容)</a:t>
            </a:r>
            <a:endParaRPr b="1" i="0" sz="1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57" name="Google Shape;357;g3bcf1ea64fb_0_1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470" y="1553318"/>
            <a:ext cx="6114241" cy="289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cf1ea64fb_0_133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364" name="Google Shape;364;g3bcf1ea64fb_0_133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65" name="Google Shape;365;g3bcf1ea64fb_0_133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6" name="Google Shape;366;g3bcf1ea64fb_0_1330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載入微調權重檔，一樣需要掛載雲端硬碟空間</a:t>
            </a:r>
            <a:endParaRPr b="1" i="0" sz="1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67" name="Google Shape;367;g3bcf1ea64fb_0_1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470" y="1553318"/>
            <a:ext cx="6114241" cy="289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cf1ea64fb_0_133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374" name="Google Shape;374;g3bcf1ea64fb_0_133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75" name="Google Shape;375;g3bcf1ea64fb_0_133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6" name="Google Shape;376;g3bcf1ea64fb_0_1339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載入權重檔案結束後，會在Fontdiffuser/ckpt中會看到四個預訓練權重檔案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g3bcf1ea64fb_0_1339"/>
          <p:cNvGrpSpPr/>
          <p:nvPr/>
        </p:nvGrpSpPr>
        <p:grpSpPr>
          <a:xfrm>
            <a:off x="1696470" y="1555247"/>
            <a:ext cx="6114237" cy="2895544"/>
            <a:chOff x="2261960" y="2073663"/>
            <a:chExt cx="8152316" cy="3860725"/>
          </a:xfrm>
        </p:grpSpPr>
        <p:pic>
          <p:nvPicPr>
            <p:cNvPr id="378" name="Google Shape;378;g3bcf1ea64fb_0_13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61960" y="2073663"/>
              <a:ext cx="8152316" cy="3860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g3bcf1ea64fb_0_1339"/>
            <p:cNvSpPr/>
            <p:nvPr/>
          </p:nvSpPr>
          <p:spPr>
            <a:xfrm flipH="1" rot="10800000">
              <a:off x="2753359" y="3891179"/>
              <a:ext cx="1091400" cy="7113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0" name="Google Shape;380;g3bcf1ea64fb_0_1339"/>
            <p:cNvCxnSpPr/>
            <p:nvPr/>
          </p:nvCxnSpPr>
          <p:spPr>
            <a:xfrm flipH="1">
              <a:off x="3844780" y="3451442"/>
              <a:ext cx="503700" cy="3753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cf1ea64fb_0_135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387" name="Google Shape;387;g3bcf1ea64fb_0_135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8" name="Google Shape;388;g3bcf1ea64fb_0_13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9" name="Google Shape;389;g3bcf1ea64fb_0_1351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從訓練集挑一張風格參考圖上傳，請選較多筆畫的字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90" name="Google Shape;390;g3bcf1ea64fb_0_1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470" y="1556004"/>
            <a:ext cx="6114241" cy="2894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bcf1ea64fb_0_1351"/>
          <p:cNvSpPr/>
          <p:nvPr/>
        </p:nvSpPr>
        <p:spPr>
          <a:xfrm flipH="1" rot="10800000">
            <a:off x="5707379" y="2735747"/>
            <a:ext cx="586800" cy="4848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g3bcf1ea64fb_0_1351"/>
          <p:cNvCxnSpPr/>
          <p:nvPr/>
        </p:nvCxnSpPr>
        <p:spPr>
          <a:xfrm flipH="1">
            <a:off x="6294137" y="2389383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cf1ea64fb_0_136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399" name="Google Shape;399;g3bcf1ea64fb_0_136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00" name="Google Shape;400;g3bcf1ea64fb_0_136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1" name="Google Shape;401;g3bcf1ea64fb_0_1362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上傳完畢後會在data_examples/sampling中看到example_style.jpg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02" name="Google Shape;402;g3bcf1ea64fb_0_13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470" y="1562875"/>
            <a:ext cx="6114241" cy="288028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bcf1ea64fb_0_1362"/>
          <p:cNvSpPr/>
          <p:nvPr/>
        </p:nvSpPr>
        <p:spPr>
          <a:xfrm flipH="1" rot="10800000">
            <a:off x="2171700" y="3337558"/>
            <a:ext cx="711900" cy="1143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g3bcf1ea64fb_0_1362"/>
          <p:cNvCxnSpPr/>
          <p:nvPr/>
        </p:nvCxnSpPr>
        <p:spPr>
          <a:xfrm flipH="1">
            <a:off x="2883660" y="2984470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cf1ea64fb_0_137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411" name="Google Shape;411;g3bcf1ea64fb_0_137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12" name="Google Shape;412;g3bcf1ea64fb_0_137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3" name="Google Shape;413;g3bcf1ea64fb_0_1373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開始生成前請先打開 V.txt，確認裡面的字是不是你想要生成的字體。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g3bcf1ea64fb_0_13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470" y="1562875"/>
            <a:ext cx="6114236" cy="288028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bcf1ea64fb_0_1373"/>
          <p:cNvSpPr/>
          <p:nvPr/>
        </p:nvSpPr>
        <p:spPr>
          <a:xfrm flipH="1" rot="10800000">
            <a:off x="2905389" y="2102004"/>
            <a:ext cx="711900" cy="13704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g3bcf1ea64fb_0_1373"/>
          <p:cNvCxnSpPr/>
          <p:nvPr/>
        </p:nvCxnSpPr>
        <p:spPr>
          <a:xfrm flipH="1">
            <a:off x="3725718" y="1820434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cf1ea64fb_0_138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423" name="Google Shape;423;g3bcf1ea64fb_0_138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4" name="Google Shape;424;g3bcf1ea64fb_0_138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5" name="Google Shape;425;g3bcf1ea64fb_0_1384"/>
          <p:cNvSpPr txBox="1"/>
          <p:nvPr/>
        </p:nvSpPr>
        <p:spPr>
          <a:xfrm>
            <a:off x="710803" y="1082192"/>
            <a:ext cx="8196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開始執行字體生成會看到outputs_generater_character_list資料夾中會新增許多圖檔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g3bcf1ea64fb_0_1384"/>
          <p:cNvGrpSpPr/>
          <p:nvPr/>
        </p:nvGrpSpPr>
        <p:grpSpPr>
          <a:xfrm>
            <a:off x="1724896" y="1701772"/>
            <a:ext cx="6057386" cy="2880287"/>
            <a:chOff x="2299861" y="2269029"/>
            <a:chExt cx="8076515" cy="3840383"/>
          </a:xfrm>
        </p:grpSpPr>
        <p:pic>
          <p:nvPicPr>
            <p:cNvPr id="427" name="Google Shape;427;g3bcf1ea64fb_0_13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99861" y="2269029"/>
              <a:ext cx="8076515" cy="3840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g3bcf1ea64fb_0_1384"/>
            <p:cNvSpPr/>
            <p:nvPr/>
          </p:nvSpPr>
          <p:spPr>
            <a:xfrm flipH="1" rot="10800000">
              <a:off x="2597731" y="4113032"/>
              <a:ext cx="1247100" cy="17697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9" name="Google Shape;429;g3bcf1ea64fb_0_1384"/>
            <p:cNvCxnSpPr/>
            <p:nvPr/>
          </p:nvCxnSpPr>
          <p:spPr>
            <a:xfrm flipH="1">
              <a:off x="3844780" y="3596181"/>
              <a:ext cx="503700" cy="3753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cf1ea64fb_0_139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436" name="Google Shape;436;g3bcf1ea64fb_0_139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7" name="Google Shape;437;g3bcf1ea64fb_0_139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8" name="Google Shape;438;g3bcf1ea64fb_0_1396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執行修改圖檔大小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g3bcf1ea64fb_0_13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104" y="1819741"/>
            <a:ext cx="3703007" cy="272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cf1ea64fb_0_140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446" name="Google Shape;446;g3bcf1ea64fb_0_140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47" name="Google Shape;447;g3bcf1ea64fb_0_140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8" name="Google Shape;448;g3bcf1ea64fb_0_1405"/>
          <p:cNvSpPr txBox="1"/>
          <p:nvPr/>
        </p:nvSpPr>
        <p:spPr>
          <a:xfrm>
            <a:off x="710803" y="1082192"/>
            <a:ext cx="8196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執行完字體生成後，執行下載可以將outputs_generater_character_list中的所有圖檔壓縮並下載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g3bcf1ea64fb_0_1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582" y="1701772"/>
            <a:ext cx="6032015" cy="288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cf1ea64fb_0_141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執行Fontdiffuser_Sample</a:t>
            </a:r>
            <a:endParaRPr/>
          </a:p>
        </p:txBody>
      </p:sp>
      <p:sp>
        <p:nvSpPr>
          <p:cNvPr id="456" name="Google Shape;456;g3bcf1ea64fb_0_141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57" name="Google Shape;457;g3bcf1ea64fb_0_141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8" name="Google Shape;458;g3bcf1ea64fb_0_1414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解壓縮outputs_generater_character_list.zip後，就可以看到所有生成圖檔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g3bcf1ea64fb_0_1414"/>
          <p:cNvGrpSpPr/>
          <p:nvPr/>
        </p:nvGrpSpPr>
        <p:grpSpPr>
          <a:xfrm>
            <a:off x="1737582" y="1707804"/>
            <a:ext cx="6032014" cy="2868223"/>
            <a:chOff x="2316776" y="2277072"/>
            <a:chExt cx="8042685" cy="3824297"/>
          </a:xfrm>
        </p:grpSpPr>
        <p:pic>
          <p:nvPicPr>
            <p:cNvPr id="460" name="Google Shape;460;g3bcf1ea64fb_0_14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6776" y="2277072"/>
              <a:ext cx="8042685" cy="3824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g3bcf1ea64fb_0_1414"/>
            <p:cNvSpPr/>
            <p:nvPr/>
          </p:nvSpPr>
          <p:spPr>
            <a:xfrm flipH="1" rot="10800000">
              <a:off x="4608653" y="3457553"/>
              <a:ext cx="4442700" cy="18750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查看結果</a:t>
            </a:r>
            <a:endParaRPr/>
          </a:p>
        </p:txBody>
      </p:sp>
      <p:sp>
        <p:nvSpPr>
          <p:cNvPr id="467" name="Google Shape;467;p50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468" name="Google Shape;468;p50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69" name="Google Shape;469;p5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5" name="Google Shape;475;p51"/>
          <p:cNvSpPr txBox="1"/>
          <p:nvPr>
            <p:ph type="ctrTitle"/>
          </p:nvPr>
        </p:nvSpPr>
        <p:spPr>
          <a:xfrm>
            <a:off x="691250" y="425275"/>
            <a:ext cx="5924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FontDiffuser過程</a:t>
            </a:r>
            <a:endParaRPr sz="3000"/>
          </a:p>
        </p:txBody>
      </p:sp>
      <p:sp>
        <p:nvSpPr>
          <p:cNvPr id="476" name="Google Shape;476;p51"/>
          <p:cNvSpPr txBox="1"/>
          <p:nvPr/>
        </p:nvSpPr>
        <p:spPr>
          <a:xfrm>
            <a:off x="3084938" y="1554238"/>
            <a:ext cx="1430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風格參考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1"/>
          <p:cNvSpPr txBox="1"/>
          <p:nvPr/>
        </p:nvSpPr>
        <p:spPr>
          <a:xfrm>
            <a:off x="6398125" y="1531188"/>
            <a:ext cx="1800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訓練結果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1"/>
          <p:cNvSpPr txBox="1"/>
          <p:nvPr/>
        </p:nvSpPr>
        <p:spPr>
          <a:xfrm>
            <a:off x="561938" y="1554250"/>
            <a:ext cx="1430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思源黑體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51"/>
          <p:cNvCxnSpPr/>
          <p:nvPr/>
        </p:nvCxnSpPr>
        <p:spPr>
          <a:xfrm flipH="1" rot="10800000">
            <a:off x="5063508" y="2928888"/>
            <a:ext cx="7611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51"/>
          <p:cNvSpPr txBox="1"/>
          <p:nvPr/>
        </p:nvSpPr>
        <p:spPr>
          <a:xfrm>
            <a:off x="5104501" y="2544450"/>
            <a:ext cx="761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機器學習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p51" title="U+6F2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300" y="2332900"/>
            <a:ext cx="1203400" cy="12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1" title="me_handwri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987" y="2162600"/>
            <a:ext cx="1544000" cy="15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1" title="U+6F2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75" y="2219550"/>
            <a:ext cx="1430100" cy="1430077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1"/>
          <p:cNvSpPr txBox="1"/>
          <p:nvPr/>
        </p:nvSpPr>
        <p:spPr>
          <a:xfrm>
            <a:off x="2308775" y="2743625"/>
            <a:ext cx="4236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zh-TW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聯絡資訊</a:t>
            </a:r>
            <a:endParaRPr/>
          </a:p>
        </p:txBody>
      </p:sp>
      <p:sp>
        <p:nvSpPr>
          <p:cNvPr id="490" name="Google Shape;490;p6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491" name="Google Shape;491;p6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92" name="Google Shape;492;p6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cf1ea64fb_0_1536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499" name="Google Shape;499;g3bcf1ea64fb_0_1536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500" name="Google Shape;500;g3bcf1ea64fb_0_1536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1" name="Google Shape;501;g3bcf1ea64fb_0_1536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b="0" i="0" lang="zh-TW" sz="16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b="0" i="0" lang="zh-TW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b="0" i="0" lang="zh-TW" sz="18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b="0" i="0" sz="1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