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2" r:id="rId5"/>
    <p:sldMasterId id="2147483656" r:id="rId6"/>
    <p:sldMasterId id="2147483666" r:id="rId7"/>
    <p:sldMasterId id="2147483670" r:id="rId8"/>
    <p:sldMasterId id="2147483674" r:id="rId9"/>
    <p:sldMasterId id="2147483678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</p:sldIdLst>
  <p:sldSz cy="5143500" cx="9144000"/>
  <p:notesSz cx="6858000" cy="9144000"/>
  <p:embeddedFontLst>
    <p:embeddedFont>
      <p:font typeface="Mulish ExtraLight"/>
      <p:regular r:id="rId51"/>
      <p:bold r:id="rId52"/>
      <p:italic r:id="rId53"/>
      <p:boldItalic r:id="rId54"/>
    </p:embeddedFont>
    <p:embeddedFont>
      <p:font typeface="Mulish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9" roundtripDataSignature="AMtx7miZJWqGIAp90dzFE5bBKpF2tecn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9.xml"/><Relationship Id="rId42" Type="http://schemas.openxmlformats.org/officeDocument/2006/relationships/slide" Target="slides/slide31.xml"/><Relationship Id="rId41" Type="http://schemas.openxmlformats.org/officeDocument/2006/relationships/slide" Target="slides/slide30.xml"/><Relationship Id="rId44" Type="http://schemas.openxmlformats.org/officeDocument/2006/relationships/slide" Target="slides/slide33.xml"/><Relationship Id="rId43" Type="http://schemas.openxmlformats.org/officeDocument/2006/relationships/slide" Target="slides/slide32.xml"/><Relationship Id="rId46" Type="http://schemas.openxmlformats.org/officeDocument/2006/relationships/slide" Target="slides/slide35.xml"/><Relationship Id="rId45" Type="http://schemas.openxmlformats.org/officeDocument/2006/relationships/slide" Target="slides/slide3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slide" Target="slides/slide37.xml"/><Relationship Id="rId47" Type="http://schemas.openxmlformats.org/officeDocument/2006/relationships/slide" Target="slides/slide36.xml"/><Relationship Id="rId49" Type="http://schemas.openxmlformats.org/officeDocument/2006/relationships/slide" Target="slides/slide38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33" Type="http://schemas.openxmlformats.org/officeDocument/2006/relationships/slide" Target="slides/slide22.xml"/><Relationship Id="rId32" Type="http://schemas.openxmlformats.org/officeDocument/2006/relationships/slide" Target="slides/slide21.xml"/><Relationship Id="rId35" Type="http://schemas.openxmlformats.org/officeDocument/2006/relationships/slide" Target="slides/slide24.xml"/><Relationship Id="rId34" Type="http://schemas.openxmlformats.org/officeDocument/2006/relationships/slide" Target="slides/slide23.xml"/><Relationship Id="rId37" Type="http://schemas.openxmlformats.org/officeDocument/2006/relationships/slide" Target="slides/slide26.xml"/><Relationship Id="rId36" Type="http://schemas.openxmlformats.org/officeDocument/2006/relationships/slide" Target="slides/slide25.xml"/><Relationship Id="rId39" Type="http://schemas.openxmlformats.org/officeDocument/2006/relationships/slide" Target="slides/slide28.xml"/><Relationship Id="rId38" Type="http://schemas.openxmlformats.org/officeDocument/2006/relationships/slide" Target="slides/slide27.xml"/><Relationship Id="rId20" Type="http://schemas.openxmlformats.org/officeDocument/2006/relationships/slide" Target="slides/slide9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29" Type="http://schemas.openxmlformats.org/officeDocument/2006/relationships/slide" Target="slides/slide18.xml"/><Relationship Id="rId51" Type="http://schemas.openxmlformats.org/officeDocument/2006/relationships/font" Target="fonts/MulishExtraLight-regular.fntdata"/><Relationship Id="rId50" Type="http://schemas.openxmlformats.org/officeDocument/2006/relationships/slide" Target="slides/slide39.xml"/><Relationship Id="rId53" Type="http://schemas.openxmlformats.org/officeDocument/2006/relationships/font" Target="fonts/MulishExtraLight-italic.fntdata"/><Relationship Id="rId52" Type="http://schemas.openxmlformats.org/officeDocument/2006/relationships/font" Target="fonts/MulishExtraLight-bold.fntdata"/><Relationship Id="rId11" Type="http://schemas.openxmlformats.org/officeDocument/2006/relationships/notesMaster" Target="notesMasters/notesMaster1.xml"/><Relationship Id="rId55" Type="http://schemas.openxmlformats.org/officeDocument/2006/relationships/font" Target="fonts/Mulish-regular.fntdata"/><Relationship Id="rId10" Type="http://schemas.openxmlformats.org/officeDocument/2006/relationships/slideMaster" Target="slideMasters/slideMaster7.xml"/><Relationship Id="rId54" Type="http://schemas.openxmlformats.org/officeDocument/2006/relationships/font" Target="fonts/MulishExtraLight-boldItalic.fntdata"/><Relationship Id="rId13" Type="http://schemas.openxmlformats.org/officeDocument/2006/relationships/slide" Target="slides/slide2.xml"/><Relationship Id="rId57" Type="http://schemas.openxmlformats.org/officeDocument/2006/relationships/font" Target="fonts/Mulish-italic.fntdata"/><Relationship Id="rId12" Type="http://schemas.openxmlformats.org/officeDocument/2006/relationships/slide" Target="slides/slide1.xml"/><Relationship Id="rId56" Type="http://schemas.openxmlformats.org/officeDocument/2006/relationships/font" Target="fonts/Mulish-bold.fntdata"/><Relationship Id="rId15" Type="http://schemas.openxmlformats.org/officeDocument/2006/relationships/slide" Target="slides/slide4.xml"/><Relationship Id="rId59" Type="http://customschemas.google.com/relationships/presentationmetadata" Target="metadata"/><Relationship Id="rId14" Type="http://schemas.openxmlformats.org/officeDocument/2006/relationships/slide" Target="slides/slide3.xml"/><Relationship Id="rId58" Type="http://schemas.openxmlformats.org/officeDocument/2006/relationships/font" Target="fonts/Mulish-boldItalic.fntdata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9" Type="http://schemas.openxmlformats.org/officeDocument/2006/relationships/slide" Target="slides/slide8.xml"/><Relationship Id="rId18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b="1" lang="zh-TW" sz="3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圖形識別</a:t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https://www.irasutoya.com/2018/11/blog-post_67.html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4d1040f63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c4d1040f63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cc72abd92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g3bcc72abd92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5c89b858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c5c89b858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5c89b858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c5c89b858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5c89b858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c5c89b858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5c89b858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c5c89b858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c5c89b858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c5c89b858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c5c89b8585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g3c5c89b8585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f535aaf7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bf535aaf7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f535aaf7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bf535aaf7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bf535aaf7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bf535aaf7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bf535aaf7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bf535aaf7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bcc72abd92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3bcc72abd92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g3bcc72abd92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de30b0a115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de30b0a115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de30b0a1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de30b0a1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de30b0a11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de30b0a11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e30b0a11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de30b0a11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e30b0a11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de30b0a11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de30b0a11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de30b0a11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de30b0a11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de30b0a11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e30b0a11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de30b0a11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英標題">
  <p:cSld name="首頁_中英標題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73"/>
          <p:cNvSpPr txBox="1"/>
          <p:nvPr>
            <p:ph type="ctrTitle"/>
          </p:nvPr>
        </p:nvSpPr>
        <p:spPr>
          <a:xfrm>
            <a:off x="725332" y="1705871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3"/>
          <p:cNvSpPr txBox="1"/>
          <p:nvPr>
            <p:ph idx="1" type="body"/>
          </p:nvPr>
        </p:nvSpPr>
        <p:spPr>
          <a:xfrm>
            <a:off x="725332" y="2255322"/>
            <a:ext cx="76434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3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3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文標題">
  <p:cSld name="首頁_中文標題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8"/>
          <p:cNvSpPr txBox="1"/>
          <p:nvPr>
            <p:ph type="ctrTitle"/>
          </p:nvPr>
        </p:nvSpPr>
        <p:spPr>
          <a:xfrm>
            <a:off x="725332" y="1606129"/>
            <a:ext cx="4767300" cy="14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8"/>
          <p:cNvSpPr txBox="1"/>
          <p:nvPr>
            <p:ph idx="1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8"/>
          <p:cNvSpPr txBox="1"/>
          <p:nvPr>
            <p:ph idx="2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英文標題">
  <p:cSld name="首頁_英文標題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9"/>
          <p:cNvSpPr txBox="1"/>
          <p:nvPr>
            <p:ph idx="1" type="body"/>
          </p:nvPr>
        </p:nvSpPr>
        <p:spPr>
          <a:xfrm>
            <a:off x="725332" y="1621650"/>
            <a:ext cx="47673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99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99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中英標題">
  <p:cSld name="章節1_中英標題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5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75"/>
          <p:cNvSpPr txBox="1"/>
          <p:nvPr>
            <p:ph idx="1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75"/>
          <p:cNvSpPr txBox="1"/>
          <p:nvPr>
            <p:ph idx="2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7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中文標題">
  <p:cSld name="章節1_中文標題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0"/>
          <p:cNvSpPr txBox="1"/>
          <p:nvPr>
            <p:ph idx="1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0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" name="Google Shape;30;p100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英文標題">
  <p:cSld name="章節1_英文標題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1"/>
          <p:cNvSpPr txBox="1"/>
          <p:nvPr>
            <p:ph idx="1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0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4" name="Google Shape;34;p101"/>
          <p:cNvSpPr txBox="1"/>
          <p:nvPr>
            <p:ph idx="2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8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81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8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">
  <p:cSld name="內容頁_僅中文標題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0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9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9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1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9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91"/>
          <p:cNvSpPr txBox="1"/>
          <p:nvPr>
            <p:ph idx="2" type="body"/>
          </p:nvPr>
        </p:nvSpPr>
        <p:spPr>
          <a:xfrm>
            <a:off x="715566" y="1184141"/>
            <a:ext cx="7577100" cy="30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9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2"/>
          <p:cNvSpPr/>
          <p:nvPr>
            <p:ph idx="2" type="pic"/>
          </p:nvPr>
        </p:nvSpPr>
        <p:spPr>
          <a:xfrm>
            <a:off x="0" y="0"/>
            <a:ext cx="9002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9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3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93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93"/>
          <p:cNvSpPr txBox="1"/>
          <p:nvPr>
            <p:ph type="ctrTitle"/>
          </p:nvPr>
        </p:nvSpPr>
        <p:spPr>
          <a:xfrm>
            <a:off x="715019" y="269254"/>
            <a:ext cx="7841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icrosoft JhengHei"/>
              <a:buNone/>
              <a:defRPr b="1" i="0" sz="2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9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4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94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9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2" name="Google Shape;62;p94"/>
          <p:cNvSpPr txBox="1"/>
          <p:nvPr>
            <p:ph type="ctrTitle"/>
          </p:nvPr>
        </p:nvSpPr>
        <p:spPr>
          <a:xfrm>
            <a:off x="715019" y="270478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5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9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9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9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7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9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97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9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5" name="Google Shape;75;p97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中英標題">
  <p:cSld name="章節2_中英標題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9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79"/>
          <p:cNvSpPr txBox="1"/>
          <p:nvPr>
            <p:ph idx="1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79"/>
          <p:cNvSpPr txBox="1"/>
          <p:nvPr>
            <p:ph idx="2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7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中文標題">
  <p:cSld name="章節2_中文標題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2"/>
          <p:cNvSpPr txBox="1"/>
          <p:nvPr>
            <p:ph idx="1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0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7" name="Google Shape;87;p102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英文標題">
  <p:cSld name="章節2_英文標題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3"/>
          <p:cNvSpPr txBox="1"/>
          <p:nvPr>
            <p:ph idx="1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0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1" name="Google Shape;91;p103"/>
          <p:cNvSpPr txBox="1"/>
          <p:nvPr>
            <p:ph idx="2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中英標題">
  <p:cSld name="章節4_中英標題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5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85"/>
          <p:cNvSpPr txBox="1"/>
          <p:nvPr>
            <p:ph idx="1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85"/>
          <p:cNvSpPr txBox="1"/>
          <p:nvPr>
            <p:ph idx="2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8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中文標題">
  <p:cSld name="章節4_中文標題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6"/>
          <p:cNvSpPr txBox="1"/>
          <p:nvPr>
            <p:ph idx="1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10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3" name="Google Shape;103;p106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1_英文標題">
  <p:cSld name="章節4_英文標題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7"/>
          <p:cNvSpPr txBox="1"/>
          <p:nvPr>
            <p:ph idx="1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10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7" name="Google Shape;107;p107"/>
          <p:cNvSpPr txBox="1"/>
          <p:nvPr>
            <p:ph idx="2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0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11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110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11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4" name="Google Shape;114;p110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7" name="Google Shape;117;p89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89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89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2" name="Google Shape;122;p111"/>
          <p:cNvSpPr txBox="1"/>
          <p:nvPr>
            <p:ph idx="1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111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111"/>
          <p:cNvSpPr txBox="1"/>
          <p:nvPr>
            <p:ph idx="3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4d1040f63_0_4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9" name="Google Shape;129;g3c4d1040f63_0_41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g3c4d1040f63_0_41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g3c4d1040f63_0_41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4d1040f63_0_46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g3c4d1040f63_0_4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g3c4d1040f63_0_46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" name="Google Shape;136;g3c4d1040f63_0_4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7" name="Google Shape;137;g3c4d1040f63_0_46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4d1040f63_0_5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0" name="Google Shape;140;g3c4d1040f63_0_52"/>
          <p:cNvSpPr txBox="1"/>
          <p:nvPr>
            <p:ph idx="1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g3c4d1040f63_0_52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g3c4d1040f63_0_52"/>
          <p:cNvSpPr txBox="1"/>
          <p:nvPr>
            <p:ph idx="3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5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theme" Target="../theme/theme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theme" Target="../theme/theme7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theme" Target="../theme/theme8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4"/>
          <p:cNvSpPr txBox="1"/>
          <p:nvPr/>
        </p:nvSpPr>
        <p:spPr>
          <a:xfrm>
            <a:off x="725091" y="538051"/>
            <a:ext cx="26367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zh-TW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rPr>
              <a:t>01</a:t>
            </a:r>
            <a:endParaRPr b="0" i="0" sz="4400" u="none" cap="none" strike="noStrike">
              <a:solidFill>
                <a:schemeClr val="lt1"/>
              </a:solidFill>
              <a:latin typeface="Mulish ExtraLight"/>
              <a:ea typeface="Mulish ExtraLight"/>
              <a:cs typeface="Mulish ExtraLight"/>
              <a:sym typeface="Mulish ExtraLight"/>
            </a:endParaRPr>
          </a:p>
        </p:txBody>
      </p:sp>
      <p:sp>
        <p:nvSpPr>
          <p:cNvPr id="21" name="Google Shape;21;p74"/>
          <p:cNvSpPr txBox="1"/>
          <p:nvPr/>
        </p:nvSpPr>
        <p:spPr>
          <a:xfrm>
            <a:off x="931712" y="4634583"/>
            <a:ext cx="55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章節 01</a:t>
            </a:r>
            <a:endParaRPr b="1" i="0" sz="9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8"/>
          <p:cNvSpPr txBox="1"/>
          <p:nvPr/>
        </p:nvSpPr>
        <p:spPr>
          <a:xfrm>
            <a:off x="725091" y="538051"/>
            <a:ext cx="26367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zh-TW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rPr>
              <a:t>02</a:t>
            </a:r>
            <a:endParaRPr b="0" i="0" sz="4400" u="none" cap="none" strike="noStrike">
              <a:solidFill>
                <a:schemeClr val="lt1"/>
              </a:solidFill>
              <a:latin typeface="Mulish ExtraLight"/>
              <a:ea typeface="Mulish ExtraLight"/>
              <a:cs typeface="Mulish ExtraLight"/>
              <a:sym typeface="Mulish ExtraLight"/>
            </a:endParaRPr>
          </a:p>
        </p:txBody>
      </p:sp>
      <p:sp>
        <p:nvSpPr>
          <p:cNvPr id="78" name="Google Shape;78;p78"/>
          <p:cNvSpPr txBox="1"/>
          <p:nvPr/>
        </p:nvSpPr>
        <p:spPr>
          <a:xfrm>
            <a:off x="931712" y="4634583"/>
            <a:ext cx="55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章節 02</a:t>
            </a:r>
            <a:endParaRPr b="1" i="0" sz="9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  <p:sldLayoutId id="2147483668" r:id="rId3"/>
    <p:sldLayoutId id="2147483669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4"/>
          <p:cNvSpPr txBox="1"/>
          <p:nvPr/>
        </p:nvSpPr>
        <p:spPr>
          <a:xfrm>
            <a:off x="725091" y="538051"/>
            <a:ext cx="26367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zh-TW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rPr>
              <a:t>04</a:t>
            </a:r>
            <a:endParaRPr b="0" i="0" sz="4400" u="none" cap="none" strike="noStrike">
              <a:solidFill>
                <a:schemeClr val="lt1"/>
              </a:solidFill>
              <a:latin typeface="Mulish ExtraLight"/>
              <a:ea typeface="Mulish ExtraLight"/>
              <a:cs typeface="Mulish ExtraLight"/>
              <a:sym typeface="Mulish ExtraLight"/>
            </a:endParaRPr>
          </a:p>
        </p:txBody>
      </p:sp>
      <p:sp>
        <p:nvSpPr>
          <p:cNvPr id="94" name="Google Shape;94;p84"/>
          <p:cNvSpPr txBox="1"/>
          <p:nvPr/>
        </p:nvSpPr>
        <p:spPr>
          <a:xfrm>
            <a:off x="931712" y="4634583"/>
            <a:ext cx="55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章節 04</a:t>
            </a:r>
            <a:endParaRPr b="1" i="0" sz="9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2"/>
    <p:sldLayoutId id="2147483676" r:id="rId3"/>
    <p:sldLayoutId id="2147483677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4d1040f63_0_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2"/>
    <p:sldLayoutId id="2147483680" r:id="rId3"/>
    <p:sldLayoutId id="214748368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hyperlink" Target="https://github.com/lctung/02-2_glyph_vector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hyperlink" Target="mailto:t114598033@ntut.org.tw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github.com/lctung/02-2_glyph_vector" TargetMode="External"/><Relationship Id="rId4" Type="http://schemas.openxmlformats.org/officeDocument/2006/relationships/hyperlink" Target="https://inkscape.org/release/inkscape-1.4.3/windows/64-bit/msi/dl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docs.google.com/presentation/d/17_6F86F5RYyckuZeMMcrSHAkCEHfMVOw/edit?usp=sharing&amp;ouid=116834695962505686161&amp;rtpof=true&amp;s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725332" y="1705871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生成式人工智慧導論</a:t>
            </a:r>
            <a:endParaRPr/>
          </a:p>
        </p:txBody>
      </p:sp>
      <p:sp>
        <p:nvSpPr>
          <p:cNvPr id="148" name="Google Shape;148;p1"/>
          <p:cNvSpPr txBox="1"/>
          <p:nvPr>
            <p:ph idx="1" type="body"/>
          </p:nvPr>
        </p:nvSpPr>
        <p:spPr>
          <a:xfrm>
            <a:off x="750260" y="2298091"/>
            <a:ext cx="76434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sh"/>
              <a:buNone/>
            </a:pPr>
            <a:r>
              <a:rPr lang="zh-TW"/>
              <a:t>向量化</a:t>
            </a:r>
            <a:r>
              <a:rPr lang="zh-TW"/>
              <a:t> </a:t>
            </a:r>
            <a:r>
              <a:rPr lang="zh-TW"/>
              <a:t>SVG</a:t>
            </a:r>
            <a:endParaRPr/>
          </a:p>
        </p:txBody>
      </p:sp>
      <p:sp>
        <p:nvSpPr>
          <p:cNvPr id="149" name="Google Shape;149;p1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zh-TW"/>
              <a:t>賴秋彤-</a:t>
            </a:r>
            <a:r>
              <a:rPr lang="zh-TW"/>
              <a:t>林家弘-蕭裕憲</a:t>
            </a:r>
            <a:endParaRPr/>
          </a:p>
        </p:txBody>
      </p:sp>
      <p:sp>
        <p:nvSpPr>
          <p:cNvPr id="150" name="Google Shape;150;p1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zh-TW"/>
              <a:t>國立臺北科技大學資訊工程所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156" name="Google Shape;156;p2"/>
          <p:cNvSpPr txBox="1"/>
          <p:nvPr>
            <p:ph idx="2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157" name="Google Shape;157;p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163" name="Google Shape;163;p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4" name="Google Shape;164;p3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520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zh-TW"/>
              <a:t>流程介紹</a:t>
            </a:r>
            <a:endParaRPr/>
          </a:p>
          <a:p>
            <a:pPr indent="-342900" lvl="0" marL="520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zh-TW"/>
              <a:t>評分標準</a:t>
            </a:r>
            <a:endParaRPr/>
          </a:p>
          <a:p>
            <a:pPr indent="-342900" lvl="0" marL="520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zh-TW"/>
              <a:t>作業說明</a:t>
            </a:r>
            <a:endParaRPr/>
          </a:p>
          <a:p>
            <a:pPr indent="-342900" lvl="0" marL="520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zh-TW"/>
              <a:t>繳交資訊</a:t>
            </a:r>
            <a:endParaRPr/>
          </a:p>
        </p:txBody>
      </p:sp>
      <p:sp>
        <p:nvSpPr>
          <p:cNvPr id="165" name="Google Shape;165;p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流程介紹</a:t>
            </a:r>
            <a:endParaRPr sz="3600"/>
          </a:p>
        </p:txBody>
      </p:sp>
      <p:sp>
        <p:nvSpPr>
          <p:cNvPr id="171" name="Google Shape;171;p4"/>
          <p:cNvSpPr txBox="1"/>
          <p:nvPr>
            <p:ph idx="1" type="body"/>
          </p:nvPr>
        </p:nvSpPr>
        <p:spPr>
          <a:xfrm>
            <a:off x="750269" y="2244950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4"/>
          <p:cNvSpPr txBox="1"/>
          <p:nvPr>
            <p:ph idx="2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000">
                <a:solidFill>
                  <a:srgbClr val="674EA7"/>
                </a:solidFill>
              </a:rPr>
              <a:t>流程</a:t>
            </a:r>
            <a:endParaRPr/>
          </a:p>
        </p:txBody>
      </p:sp>
      <p:sp>
        <p:nvSpPr>
          <p:cNvPr id="179" name="Google Shape;179;p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pic>
        <p:nvPicPr>
          <p:cNvPr id="180" name="Google Shape;18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450" y="2001525"/>
            <a:ext cx="1682050" cy="95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"/>
          <p:cNvSpPr txBox="1"/>
          <p:nvPr/>
        </p:nvSpPr>
        <p:spPr>
          <a:xfrm>
            <a:off x="556415" y="2964883"/>
            <a:ext cx="938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TW" sz="14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下載專案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776176" y="1869436"/>
            <a:ext cx="1314350" cy="134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 txBox="1"/>
          <p:nvPr/>
        </p:nvSpPr>
        <p:spPr>
          <a:xfrm>
            <a:off x="4759124" y="3200854"/>
            <a:ext cx="120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TW" sz="14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各種轉換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 flipH="1" rot="10800000">
            <a:off x="6256003" y="2495549"/>
            <a:ext cx="707100" cy="7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594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 flipH="1" rot="10800000">
            <a:off x="4121374" y="2510704"/>
            <a:ext cx="311700" cy="4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594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2639973" y="3128650"/>
            <a:ext cx="110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>
                <a:solidFill>
                  <a:srgbClr val="674EA7"/>
                </a:solidFill>
              </a:rPr>
              <a:t>刪除重複字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5"/>
          <p:cNvPicPr preferRelativeResize="0"/>
          <p:nvPr/>
        </p:nvPicPr>
        <p:blipFill rotWithShape="1">
          <a:blip r:embed="rId5">
            <a:alphaModFix/>
          </a:blip>
          <a:srcRect b="14251" l="14251" r="14244" t="14244"/>
          <a:stretch/>
        </p:blipFill>
        <p:spPr>
          <a:xfrm>
            <a:off x="7126025" y="1828500"/>
            <a:ext cx="1410300" cy="141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5"/>
          <p:cNvSpPr txBox="1"/>
          <p:nvPr/>
        </p:nvSpPr>
        <p:spPr>
          <a:xfrm>
            <a:off x="7477625" y="1625475"/>
            <a:ext cx="7071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pico</a:t>
            </a:r>
            <a:endParaRPr sz="1800"/>
          </a:p>
        </p:txBody>
      </p:sp>
      <p:pic>
        <p:nvPicPr>
          <p:cNvPr id="189" name="Google Shape;189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58800" y="1828500"/>
            <a:ext cx="1263050" cy="12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"/>
          <p:cNvSpPr/>
          <p:nvPr/>
        </p:nvSpPr>
        <p:spPr>
          <a:xfrm flipH="1" rot="10800000">
            <a:off x="1933950" y="2514275"/>
            <a:ext cx="531600" cy="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594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2000">
        <p:fade thruBlk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4d1040f63_0_31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操作說明 - 下載</a:t>
            </a:r>
            <a:endParaRPr/>
          </a:p>
        </p:txBody>
      </p:sp>
      <p:sp>
        <p:nvSpPr>
          <p:cNvPr id="196" name="Google Shape;196;g3c4d1040f63_0_31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03</a:t>
            </a:r>
            <a:endParaRPr/>
          </a:p>
        </p:txBody>
      </p:sp>
      <p:sp>
        <p:nvSpPr>
          <p:cNvPr id="197" name="Google Shape;197;g3c4d1040f63_0_31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198" name="Google Shape;198;g3c4d1040f63_0_3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專案下載</a:t>
            </a:r>
            <a:endParaRPr/>
          </a:p>
        </p:txBody>
      </p:sp>
      <p:sp>
        <p:nvSpPr>
          <p:cNvPr id="204" name="Google Shape;204;p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6" name="Google Shape;206;p9"/>
          <p:cNvSpPr txBox="1"/>
          <p:nvPr>
            <p:ph type="ctrTitle"/>
          </p:nvPr>
        </p:nvSpPr>
        <p:spPr>
          <a:xfrm>
            <a:off x="715019" y="12016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zh-TW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下載專案 </a:t>
            </a:r>
            <a:endParaRPr/>
          </a:p>
        </p:txBody>
      </p:sp>
      <p:pic>
        <p:nvPicPr>
          <p:cNvPr id="207" name="Google Shape;2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8767" y="1695856"/>
            <a:ext cx="6066466" cy="2917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/>
          <p:nvPr>
            <p:ph type="ctrTitle"/>
          </p:nvPr>
        </p:nvSpPr>
        <p:spPr>
          <a:xfrm>
            <a:off x="738894" y="783876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專案下載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t/>
            </a:r>
            <a:endParaRPr sz="3300">
              <a:solidFill>
                <a:srgbClr val="00B050"/>
              </a:solidFill>
            </a:endParaRPr>
          </a:p>
        </p:txBody>
      </p:sp>
      <p:sp>
        <p:nvSpPr>
          <p:cNvPr id="213" name="Google Shape;213;p1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15" name="Google Shape;215;p10"/>
          <p:cNvPicPr preferRelativeResize="0"/>
          <p:nvPr/>
        </p:nvPicPr>
        <p:blipFill rotWithShape="1">
          <a:blip r:embed="rId3">
            <a:alphaModFix/>
          </a:blip>
          <a:srcRect b="30938" l="0" r="0" t="0"/>
          <a:stretch/>
        </p:blipFill>
        <p:spPr>
          <a:xfrm>
            <a:off x="738900" y="1655825"/>
            <a:ext cx="7666200" cy="245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 txBox="1"/>
          <p:nvPr/>
        </p:nvSpPr>
        <p:spPr>
          <a:xfrm>
            <a:off x="931725" y="1159650"/>
            <a:ext cx="7561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進入專案GitHub頁面 : </a:t>
            </a:r>
            <a:r>
              <a:rPr lang="zh-TW" sz="1800" u="sng">
                <a:solidFill>
                  <a:schemeClr val="hlink"/>
                </a:solidFill>
                <a:hlinkClick r:id="rId4"/>
              </a:rPr>
              <a:t>https://github.com/lctung/02-2_glyph_vector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專案下載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t/>
            </a:r>
            <a:endParaRPr sz="3300">
              <a:solidFill>
                <a:srgbClr val="00B050"/>
              </a:solidFill>
            </a:endParaRPr>
          </a:p>
        </p:txBody>
      </p:sp>
      <p:sp>
        <p:nvSpPr>
          <p:cNvPr id="222" name="Google Shape;222;p1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4" name="Google Shape;224;p11"/>
          <p:cNvSpPr txBox="1"/>
          <p:nvPr/>
        </p:nvSpPr>
        <p:spPr>
          <a:xfrm>
            <a:off x="931729" y="1159650"/>
            <a:ext cx="7204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點擊 “ &lt;&gt;Code ” 按鈕，在點擊Download ZIP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442975" y="2599175"/>
            <a:ext cx="537300" cy="176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034" y="1620750"/>
            <a:ext cx="6667934" cy="245880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1"/>
          <p:cNvSpPr/>
          <p:nvPr/>
        </p:nvSpPr>
        <p:spPr>
          <a:xfrm>
            <a:off x="5286567" y="2440025"/>
            <a:ext cx="537300" cy="176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4034699" y="3832625"/>
            <a:ext cx="1789200" cy="176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4911171" y="2326577"/>
            <a:ext cx="45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zh-TW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3636975" y="3714990"/>
            <a:ext cx="45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zh-TW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專案下載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t/>
            </a:r>
            <a:endParaRPr sz="3300">
              <a:solidFill>
                <a:srgbClr val="00B050"/>
              </a:solidFill>
            </a:endParaRPr>
          </a:p>
        </p:txBody>
      </p:sp>
      <p:sp>
        <p:nvSpPr>
          <p:cNvPr id="236" name="Google Shape;236;p1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8" name="Google Shape;238;p12"/>
          <p:cNvSpPr txBox="1"/>
          <p:nvPr/>
        </p:nvSpPr>
        <p:spPr>
          <a:xfrm>
            <a:off x="931729" y="1159650"/>
            <a:ext cx="7204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跳出另存新檔畫面點擊下面 ”存檔” 按鈕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5442975" y="2599175"/>
            <a:ext cx="537300" cy="176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674" y="1620750"/>
            <a:ext cx="6602650" cy="245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2"/>
          <p:cNvSpPr/>
          <p:nvPr/>
        </p:nvSpPr>
        <p:spPr>
          <a:xfrm>
            <a:off x="2680166" y="2029086"/>
            <a:ext cx="3202200" cy="20505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4905675" y="3886499"/>
            <a:ext cx="451200" cy="975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p12"/>
          <p:cNvCxnSpPr/>
          <p:nvPr/>
        </p:nvCxnSpPr>
        <p:spPr>
          <a:xfrm>
            <a:off x="4572000" y="3456000"/>
            <a:ext cx="432000" cy="367200"/>
          </a:xfrm>
          <a:prstGeom prst="straightConnector1">
            <a:avLst/>
          </a:prstGeom>
          <a:noFill/>
          <a:ln cap="flat" cmpd="sng" w="28575">
            <a:solidFill>
              <a:srgbClr val="EB253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cc72abd92_4_0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操作說明 - </a:t>
            </a:r>
            <a:r>
              <a:rPr lang="zh-TW"/>
              <a:t>資料準備</a:t>
            </a:r>
            <a:endParaRPr/>
          </a:p>
        </p:txBody>
      </p:sp>
      <p:sp>
        <p:nvSpPr>
          <p:cNvPr id="249" name="Google Shape;249;g3bcc72abd92_4_0"/>
          <p:cNvSpPr txBox="1"/>
          <p:nvPr>
            <p:ph idx="2" type="body"/>
          </p:nvPr>
        </p:nvSpPr>
        <p:spPr>
          <a:xfrm>
            <a:off x="1381915" y="4655528"/>
            <a:ext cx="7322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0" name="Google Shape;250;g3bcc72abd92_4_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前置作業</a:t>
            </a:r>
            <a:endParaRPr/>
          </a:p>
        </p:txBody>
      </p:sp>
      <p:sp>
        <p:nvSpPr>
          <p:cNvPr id="256" name="Google Shape;256;p2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7" name="Google Shape;257;p2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8" name="Google Shape;258;p29"/>
          <p:cNvSpPr txBox="1"/>
          <p:nvPr/>
        </p:nvSpPr>
        <p:spPr>
          <a:xfrm>
            <a:off x="931729" y="1159650"/>
            <a:ext cx="7204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打開 Anaconda Prompt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29"/>
          <p:cNvPicPr preferRelativeResize="0"/>
          <p:nvPr/>
        </p:nvPicPr>
        <p:blipFill rotWithShape="1">
          <a:blip r:embed="rId3">
            <a:alphaModFix/>
          </a:blip>
          <a:srcRect b="0" l="0" r="0" t="2799"/>
          <a:stretch/>
        </p:blipFill>
        <p:spPr>
          <a:xfrm>
            <a:off x="4688525" y="1049200"/>
            <a:ext cx="3800223" cy="352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0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前置作業</a:t>
            </a:r>
            <a:endParaRPr/>
          </a:p>
        </p:txBody>
      </p:sp>
      <p:sp>
        <p:nvSpPr>
          <p:cNvPr id="265" name="Google Shape;265;p3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6" name="Google Shape;266;p3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67" name="Google Shape;267;p30"/>
          <p:cNvSpPr txBox="1"/>
          <p:nvPr/>
        </p:nvSpPr>
        <p:spPr>
          <a:xfrm>
            <a:off x="931729" y="1189349"/>
            <a:ext cx="7204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啟動虛擬環境，進入專案資料夾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212" y="2288874"/>
            <a:ext cx="7461576" cy="12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4" name="Google Shape;274;p3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5" name="Google Shape;275;p34"/>
          <p:cNvSpPr txBox="1"/>
          <p:nvPr/>
        </p:nvSpPr>
        <p:spPr>
          <a:xfrm>
            <a:off x="931724" y="1150900"/>
            <a:ext cx="77775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將 02-1_crop_paper 中的 crop 複製一份至 02-2_glyph_vector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812" y="1928601"/>
            <a:ext cx="6966375" cy="139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4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資料準備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5c89b8585_0_2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資料準備</a:t>
            </a:r>
            <a:endParaRPr/>
          </a:p>
        </p:txBody>
      </p:sp>
      <p:sp>
        <p:nvSpPr>
          <p:cNvPr id="283" name="Google Shape;283;g3c5c89b8585_0_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c5c89b8585_0_2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請確認 </a:t>
            </a:r>
            <a:r>
              <a:rPr lang="zh-TW"/>
              <a:t>crop</a:t>
            </a:r>
            <a:r>
              <a:rPr lang="zh-TW"/>
              <a:t> 中的圖片是否為 png 格式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請確認 crop 底下的資料夾命名方式是否為以下格式</a:t>
            </a:r>
            <a:endParaRPr/>
          </a:p>
        </p:txBody>
      </p:sp>
      <p:sp>
        <p:nvSpPr>
          <p:cNvPr id="285" name="Google Shape;285;g3c5c89b8585_0_2"/>
          <p:cNvSpPr txBox="1"/>
          <p:nvPr/>
        </p:nvSpPr>
        <p:spPr>
          <a:xfrm>
            <a:off x="1122000" y="1960746"/>
            <a:ext cx="3450000" cy="26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/>
              <a:t>📁crop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/>
              <a:t>├── </a:t>
            </a:r>
            <a:r>
              <a:rPr lang="zh-TW" sz="1800">
                <a:solidFill>
                  <a:schemeClr val="dk1"/>
                </a:solidFill>
              </a:rPr>
              <a:t>📁</a:t>
            </a:r>
            <a:r>
              <a:rPr lang="zh-TW" sz="1800"/>
              <a:t>crop_千字文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/>
              <a:t>├── </a:t>
            </a:r>
            <a:r>
              <a:rPr lang="zh-TW" sz="1800">
                <a:solidFill>
                  <a:schemeClr val="dk1"/>
                </a:solidFill>
              </a:rPr>
              <a:t>📁</a:t>
            </a:r>
            <a:r>
              <a:rPr lang="zh-TW" sz="1800"/>
              <a:t>crop_長恨歌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/>
              <a:t>├── </a:t>
            </a:r>
            <a:r>
              <a:rPr lang="zh-TW" sz="1800">
                <a:solidFill>
                  <a:schemeClr val="dk1"/>
                </a:solidFill>
              </a:rPr>
              <a:t>📁</a:t>
            </a:r>
            <a:r>
              <a:rPr lang="zh-TW" sz="1800"/>
              <a:t>crop_洛神賦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/>
              <a:t>├── </a:t>
            </a:r>
            <a:r>
              <a:rPr lang="zh-TW" sz="1800">
                <a:solidFill>
                  <a:schemeClr val="dk1"/>
                </a:solidFill>
              </a:rPr>
              <a:t>📁</a:t>
            </a:r>
            <a:r>
              <a:rPr lang="zh-TW" sz="1800"/>
              <a:t>crop_詩經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/>
              <a:t>├── </a:t>
            </a:r>
            <a:r>
              <a:rPr lang="zh-TW" sz="1800">
                <a:solidFill>
                  <a:schemeClr val="dk1"/>
                </a:solidFill>
              </a:rPr>
              <a:t>📁</a:t>
            </a:r>
            <a:r>
              <a:rPr lang="zh-TW" sz="1800"/>
              <a:t>crop_部首、注音、日文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/>
              <a:t>├── </a:t>
            </a:r>
            <a:r>
              <a:rPr lang="zh-TW" sz="1800">
                <a:solidFill>
                  <a:schemeClr val="dk1"/>
                </a:solidFill>
              </a:rPr>
              <a:t>📁</a:t>
            </a:r>
            <a:r>
              <a:rPr lang="zh-TW" sz="1800"/>
              <a:t>crop_英文、數字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/>
              <a:t>├── </a:t>
            </a:r>
            <a:r>
              <a:rPr lang="zh-TW" sz="1800">
                <a:solidFill>
                  <a:schemeClr val="dk1"/>
                </a:solidFill>
              </a:rPr>
              <a:t>📁</a:t>
            </a:r>
            <a:r>
              <a:rPr lang="zh-TW" sz="1800"/>
              <a:t>crop_標點符號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/>
              <a:t>└── </a:t>
            </a:r>
            <a:r>
              <a:rPr lang="zh-TW" sz="1800">
                <a:solidFill>
                  <a:schemeClr val="dk1"/>
                </a:solidFill>
              </a:rPr>
              <a:t>📁</a:t>
            </a:r>
            <a:r>
              <a:rPr lang="zh-TW" sz="1800"/>
              <a:t>crop_姓氏名字號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5c89b8585_0_22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資料準備 - 刪除重複字</a:t>
            </a:r>
            <a:endParaRPr/>
          </a:p>
        </p:txBody>
      </p:sp>
      <p:sp>
        <p:nvSpPr>
          <p:cNvPr id="291" name="Google Shape;291;g3c5c89b8585_0_2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c5c89b8585_0_22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稿紙撰寫過程有多數重複字，但在字體包使用時，一個字只需要一個手寫字圖檔，因此要篩選出欲保留的最終字形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執行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c5c89b8585_0_22"/>
          <p:cNvSpPr/>
          <p:nvPr/>
        </p:nvSpPr>
        <p:spPr>
          <a:xfrm>
            <a:off x="1962000" y="2594921"/>
            <a:ext cx="3452100" cy="597000"/>
          </a:xfrm>
          <a:prstGeom prst="roundRect">
            <a:avLst>
              <a:gd fmla="val 16667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 </a:t>
            </a:r>
            <a:r>
              <a:rPr lang="zh-TW" sz="2000">
                <a:latin typeface="Consolas"/>
                <a:ea typeface="Consolas"/>
                <a:cs typeface="Consolas"/>
                <a:sym typeface="Consolas"/>
              </a:rPr>
              <a:t>cleaning</a:t>
            </a:r>
            <a:r>
              <a:rPr lang="zh-TW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.py</a:t>
            </a:r>
            <a:endParaRPr sz="2000" u="none" cap="none" strike="noStrike">
              <a:solidFill>
                <a:srgbClr val="FF99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94" name="Google Shape;294;g3c5c89b8585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706" y="3395875"/>
            <a:ext cx="7452832" cy="98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5c89b8585_0_29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資料準備 - 刪除重複字</a:t>
            </a:r>
            <a:endParaRPr/>
          </a:p>
        </p:txBody>
      </p:sp>
      <p:sp>
        <p:nvSpPr>
          <p:cNvPr id="300" name="Google Shape;300;g3c5c89b8585_0_2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c5c89b8585_0_29"/>
          <p:cNvSpPr txBox="1"/>
          <p:nvPr>
            <p:ph idx="2" type="body"/>
          </p:nvPr>
        </p:nvSpPr>
        <p:spPr>
          <a:xfrm>
            <a:off x="715575" y="1213950"/>
            <a:ext cx="7577100" cy="3255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cleaning.py</a:t>
            </a:r>
            <a:r>
              <a:rPr b="1" lang="zh-TW" sz="1800"/>
              <a:t> 執行結果輸出至 </a:t>
            </a:r>
            <a:r>
              <a:rPr b="1" lang="zh-TW" sz="1800">
                <a:latin typeface="Consolas"/>
                <a:ea typeface="Consolas"/>
                <a:cs typeface="Consolas"/>
                <a:sym typeface="Consolas"/>
              </a:rPr>
              <a:t>📁to_be_reviewed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zh-TW" sz="1800">
                <a:latin typeface="Consolas"/>
                <a:ea typeface="Consolas"/>
                <a:cs typeface="Consolas"/>
                <a:sym typeface="Consolas"/>
              </a:rPr>
              <a:t>📁to_be_reviewed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○"/>
            </a:pPr>
            <a:r>
              <a:rPr lang="zh-TW">
                <a:latin typeface="Consolas"/>
                <a:ea typeface="Consolas"/>
                <a:cs typeface="Consolas"/>
                <a:sym typeface="Consolas"/>
              </a:rPr>
              <a:t>📁_unique_items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rosoft JhengHei"/>
              <a:buChar char="■"/>
            </a:pPr>
            <a:r>
              <a:rPr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不重複的字會彙整在此資料夾中</a:t>
            </a:r>
            <a:endParaRPr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rosoft JhengHei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📁東 (以「東」為例)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rosoft JhengHei"/>
              <a:buChar char="■"/>
            </a:pPr>
            <a:r>
              <a:rPr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重複寫過的「東」都會被放置在此</a:t>
            </a:r>
            <a:endParaRPr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rosoft JhengHei"/>
              <a:buChar char="■"/>
            </a:pPr>
            <a:r>
              <a:rPr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手動挑選想要保留的字，並將其餘刪除</a:t>
            </a:r>
            <a:endParaRPr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rosoft JhengHei"/>
              <a:buChar char="■"/>
            </a:pPr>
            <a:r>
              <a:rPr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若不想選擇可以跳過此步驟</a:t>
            </a:r>
            <a:endParaRPr sz="1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02" name="Google Shape;302;g3c5c89b8585_0_29"/>
          <p:cNvPicPr preferRelativeResize="0"/>
          <p:nvPr/>
        </p:nvPicPr>
        <p:blipFill rotWithShape="1">
          <a:blip r:embed="rId3">
            <a:alphaModFix/>
          </a:blip>
          <a:srcRect b="17088" l="0" r="0" t="0"/>
          <a:stretch/>
        </p:blipFill>
        <p:spPr>
          <a:xfrm>
            <a:off x="6447125" y="779339"/>
            <a:ext cx="1845550" cy="3690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5c89b8585_0_38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資料準備 - 整合資料</a:t>
            </a:r>
            <a:endParaRPr/>
          </a:p>
        </p:txBody>
      </p:sp>
      <p:sp>
        <p:nvSpPr>
          <p:cNvPr id="308" name="Google Shape;308;g3c5c89b8585_0_3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c5c89b8585_0_38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完成選擇最終保留的手寫字圖片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執行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針對沒有刪除乾淨(資料夾內容&gt;1)的字，將自動選擇資料夾中檔案容量最大的圖檔，並輸出這些字告知使用者(可忽視)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/>
              <a:t>若想重新選擇，請刪除多餘檔案後，重新執行 </a:t>
            </a:r>
            <a:r>
              <a:rPr lang="zh-TW">
                <a:latin typeface="Consolas"/>
                <a:ea typeface="Consolas"/>
                <a:cs typeface="Consolas"/>
                <a:sym typeface="Consolas"/>
              </a:rPr>
              <a:t>pickone.py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0" name="Google Shape;310;g3c5c89b8585_0_38"/>
          <p:cNvSpPr/>
          <p:nvPr/>
        </p:nvSpPr>
        <p:spPr>
          <a:xfrm>
            <a:off x="1907750" y="1726821"/>
            <a:ext cx="3452100" cy="597000"/>
          </a:xfrm>
          <a:prstGeom prst="roundRect">
            <a:avLst>
              <a:gd fmla="val 16667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 </a:t>
            </a:r>
            <a:r>
              <a:rPr lang="zh-TW" sz="2000">
                <a:latin typeface="Consolas"/>
                <a:ea typeface="Consolas"/>
                <a:cs typeface="Consolas"/>
                <a:sym typeface="Consolas"/>
              </a:rPr>
              <a:t>pickone</a:t>
            </a:r>
            <a:r>
              <a:rPr lang="zh-TW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.py</a:t>
            </a:r>
            <a:endParaRPr sz="2000" u="none" cap="none" strike="noStrike">
              <a:solidFill>
                <a:srgbClr val="FF99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11" name="Google Shape;311;g3c5c89b8585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625" y="4080575"/>
            <a:ext cx="7015005" cy="31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c5c89b8585_0_45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資料準備 - 整合資料</a:t>
            </a:r>
            <a:endParaRPr/>
          </a:p>
        </p:txBody>
      </p:sp>
      <p:sp>
        <p:nvSpPr>
          <p:cNvPr id="317" name="Google Shape;317;g3c5c89b8585_0_4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c5c89b8585_0_45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2000"/>
              <a:buFont typeface="Microsoft JhengHei"/>
              <a:buChar char="●"/>
            </a:pPr>
            <a:r>
              <a:rPr lang="zh-TW"/>
              <a:t>確認資料數量</a:t>
            </a:r>
            <a:endParaRPr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rosoft JhengHei"/>
              <a:buChar char="○"/>
            </a:pPr>
            <a:r>
              <a:rPr lang="zh-TW" sz="2000">
                <a:latin typeface="Microsoft JhengHei"/>
                <a:ea typeface="Microsoft JhengHei"/>
                <a:cs typeface="Microsoft JhengHei"/>
                <a:sym typeface="Microsoft JhengHei"/>
              </a:rPr>
              <a:t>2830、2831 皆合理</a:t>
            </a:r>
            <a:endParaRPr sz="20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rosoft JhengHei"/>
              <a:buChar char="●"/>
            </a:pPr>
            <a:r>
              <a:rPr lang="zh-TW"/>
              <a:t>每張圖是否為 300*300</a:t>
            </a:r>
            <a:endParaRPr/>
          </a:p>
        </p:txBody>
      </p:sp>
      <p:pic>
        <p:nvPicPr>
          <p:cNvPr id="319" name="Google Shape;319;g3c5c89b8585_0_45"/>
          <p:cNvPicPr preferRelativeResize="0"/>
          <p:nvPr/>
        </p:nvPicPr>
        <p:blipFill rotWithShape="1">
          <a:blip r:embed="rId3">
            <a:alphaModFix/>
          </a:blip>
          <a:srcRect b="37415" l="0" r="0" t="650"/>
          <a:stretch/>
        </p:blipFill>
        <p:spPr>
          <a:xfrm>
            <a:off x="4691350" y="1193237"/>
            <a:ext cx="3840026" cy="310832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c5c89b8585_0_45"/>
          <p:cNvSpPr/>
          <p:nvPr/>
        </p:nvSpPr>
        <p:spPr>
          <a:xfrm>
            <a:off x="5631800" y="3462763"/>
            <a:ext cx="748800" cy="249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c5c89b8585_0_45"/>
          <p:cNvSpPr txBox="1"/>
          <p:nvPr/>
        </p:nvSpPr>
        <p:spPr>
          <a:xfrm>
            <a:off x="1095400" y="3224425"/>
            <a:ext cx="2679300" cy="7263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恭喜資料準備完畢！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5c89b8585_0_8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操作說明 - 向量化</a:t>
            </a:r>
            <a:endParaRPr/>
          </a:p>
        </p:txBody>
      </p:sp>
      <p:sp>
        <p:nvSpPr>
          <p:cNvPr id="327" name="Google Shape;327;g3c5c89b8585_0_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28" name="Google Shape;328;g3c5c89b8585_0_8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05</a:t>
            </a:r>
            <a:endParaRPr/>
          </a:p>
        </p:txBody>
      </p:sp>
      <p:sp>
        <p:nvSpPr>
          <p:cNvPr id="329" name="Google Shape;329;g3c5c89b8585_0_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5" name="Google Shape;335;p3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6" name="Google Shape;336;p33"/>
          <p:cNvSpPr txBox="1"/>
          <p:nvPr>
            <p:ph type="ctrTitle"/>
          </p:nvPr>
        </p:nvSpPr>
        <p:spPr>
          <a:xfrm>
            <a:off x="931694" y="119025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lang="zh-TW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PNG</a:t>
            </a:r>
            <a:r>
              <a:rPr b="0" lang="zh-TW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zh-TW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轉換成</a:t>
            </a:r>
            <a:r>
              <a:rPr b="0" lang="zh-TW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zh-TW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SVG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3852950" y="1777500"/>
            <a:ext cx="1935000" cy="21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向量化</a:t>
            </a:r>
            <a:endParaRPr/>
          </a:p>
        </p:txBody>
      </p:sp>
      <p:sp>
        <p:nvSpPr>
          <p:cNvPr id="339" name="Google Shape;339;p33"/>
          <p:cNvSpPr txBox="1"/>
          <p:nvPr/>
        </p:nvSpPr>
        <p:spPr>
          <a:xfrm>
            <a:off x="3888025" y="1370450"/>
            <a:ext cx="17847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PNG</a:t>
            </a:r>
            <a:endParaRPr b="1" sz="3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3"/>
          <p:cNvSpPr txBox="1"/>
          <p:nvPr/>
        </p:nvSpPr>
        <p:spPr>
          <a:xfrm>
            <a:off x="3928100" y="3723775"/>
            <a:ext cx="17847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SVG</a:t>
            </a:r>
            <a:endParaRPr b="1" sz="3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g3bf535aaf77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800" y="2053411"/>
            <a:ext cx="6962150" cy="124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3bf535aaf77_0_8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向量化</a:t>
            </a:r>
            <a:endParaRPr/>
          </a:p>
        </p:txBody>
      </p:sp>
      <p:sp>
        <p:nvSpPr>
          <p:cNvPr id="347" name="Google Shape;347;g3bf535aaf77_0_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bf535aaf77_0_8"/>
          <p:cNvSpPr txBox="1"/>
          <p:nvPr/>
        </p:nvSpPr>
        <p:spPr>
          <a:xfrm>
            <a:off x="931737" y="1150910"/>
            <a:ext cx="73449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調整 protrace.py 中的輸入輸出路徑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bf535aaf77_0_8"/>
          <p:cNvSpPr/>
          <p:nvPr/>
        </p:nvSpPr>
        <p:spPr>
          <a:xfrm>
            <a:off x="3442050" y="2154600"/>
            <a:ext cx="2570700" cy="376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bf535aaf77_0_8"/>
          <p:cNvSpPr/>
          <p:nvPr/>
        </p:nvSpPr>
        <p:spPr>
          <a:xfrm>
            <a:off x="3578675" y="2538150"/>
            <a:ext cx="1537500" cy="326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f535aaf77_0_2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300"/>
              <a:t>向量化</a:t>
            </a:r>
            <a:endParaRPr/>
          </a:p>
        </p:txBody>
      </p:sp>
      <p:sp>
        <p:nvSpPr>
          <p:cNvPr id="356" name="Google Shape;356;g3bf535aaf77_0_2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bf535aaf77_0_23"/>
          <p:cNvSpPr txBox="1"/>
          <p:nvPr/>
        </p:nvSpPr>
        <p:spPr>
          <a:xfrm>
            <a:off x="931725" y="1150899"/>
            <a:ext cx="7344900" cy="14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執行</a:t>
            </a:r>
            <a:endParaRPr sz="2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 </a:t>
            </a:r>
            <a:r>
              <a:rPr lang="zh-TW" sz="2000">
                <a:highlight>
                  <a:schemeClr val="lt2"/>
                </a:highlight>
              </a:rPr>
              <a:t> </a:t>
            </a:r>
            <a:endParaRPr sz="2000"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轉換完成後，輸出至</a:t>
            </a:r>
            <a:r>
              <a:rPr lang="zh-TW" sz="2000">
                <a:solidFill>
                  <a:schemeClr val="dk1"/>
                </a:solidFill>
              </a:rPr>
              <a:t> output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g3bf535aaf77_0_23"/>
          <p:cNvPicPr preferRelativeResize="0"/>
          <p:nvPr/>
        </p:nvPicPr>
        <p:blipFill rotWithShape="1">
          <a:blip r:embed="rId3">
            <a:alphaModFix/>
          </a:blip>
          <a:srcRect b="0" l="-1320" r="1320" t="0"/>
          <a:stretch/>
        </p:blipFill>
        <p:spPr>
          <a:xfrm>
            <a:off x="4717325" y="2281625"/>
            <a:ext cx="4126751" cy="25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g3bf535aaf77_0_23"/>
          <p:cNvSpPr/>
          <p:nvPr/>
        </p:nvSpPr>
        <p:spPr>
          <a:xfrm>
            <a:off x="2183475" y="1150896"/>
            <a:ext cx="3452100" cy="597000"/>
          </a:xfrm>
          <a:prstGeom prst="roundRect">
            <a:avLst>
              <a:gd fmla="val 16667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 </a:t>
            </a:r>
            <a:r>
              <a:rPr lang="zh-TW" sz="2000">
                <a:latin typeface="Consolas"/>
                <a:ea typeface="Consolas"/>
                <a:cs typeface="Consolas"/>
                <a:sym typeface="Consolas"/>
              </a:rPr>
              <a:t>potrace</a:t>
            </a:r>
            <a:r>
              <a:rPr lang="zh-TW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.py</a:t>
            </a:r>
            <a:endParaRPr sz="2000" u="none" cap="none" strike="noStrike">
              <a:solidFill>
                <a:srgbClr val="FF99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3783812" y="1615650"/>
            <a:ext cx="2073250" cy="26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6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向量化</a:t>
            </a:r>
            <a:endParaRPr/>
          </a:p>
        </p:txBody>
      </p:sp>
      <p:sp>
        <p:nvSpPr>
          <p:cNvPr id="366" name="Google Shape;366;p3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67" name="Google Shape;367;p3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68" name="Google Shape;368;p36"/>
          <p:cNvSpPr txBox="1"/>
          <p:nvPr>
            <p:ph type="ctrTitle"/>
          </p:nvPr>
        </p:nvSpPr>
        <p:spPr>
          <a:xfrm>
            <a:off x="715019" y="12016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lang="zh-TW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SVG轉換成SVG去除黑塊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0" name="Google Shape;370;p36"/>
          <p:cNvSpPr txBox="1"/>
          <p:nvPr/>
        </p:nvSpPr>
        <p:spPr>
          <a:xfrm>
            <a:off x="3892425" y="1409988"/>
            <a:ext cx="17847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SVG</a:t>
            </a:r>
            <a:endParaRPr b="1" sz="3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6"/>
          <p:cNvSpPr txBox="1"/>
          <p:nvPr/>
        </p:nvSpPr>
        <p:spPr>
          <a:xfrm>
            <a:off x="3412395" y="3902288"/>
            <a:ext cx="28161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SVG</a:t>
            </a:r>
            <a:r>
              <a:rPr b="1" lang="zh-TW" sz="2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去除黑塊</a:t>
            </a:r>
            <a:endParaRPr b="1" sz="27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7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向量化</a:t>
            </a:r>
            <a:endParaRPr/>
          </a:p>
        </p:txBody>
      </p:sp>
      <p:sp>
        <p:nvSpPr>
          <p:cNvPr id="377" name="Google Shape;377;p3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78" name="Google Shape;378;p3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79" name="Google Shape;3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912" y="1199175"/>
            <a:ext cx="5840176" cy="319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8"/>
          <p:cNvSpPr txBox="1"/>
          <p:nvPr>
            <p:ph type="ctrTitle"/>
          </p:nvPr>
        </p:nvSpPr>
        <p:spPr>
          <a:xfrm>
            <a:off x="931694" y="736776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向量化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t/>
            </a:r>
            <a:endParaRPr sz="3300">
              <a:solidFill>
                <a:srgbClr val="FF0000"/>
              </a:solidFill>
            </a:endParaRPr>
          </a:p>
        </p:txBody>
      </p:sp>
      <p:sp>
        <p:nvSpPr>
          <p:cNvPr id="385" name="Google Shape;385;p3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86" name="Google Shape;386;p3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7" name="Google Shape;387;p38"/>
          <p:cNvSpPr txBox="1"/>
          <p:nvPr/>
        </p:nvSpPr>
        <p:spPr>
          <a:xfrm>
            <a:off x="1007706" y="1050438"/>
            <a:ext cx="7128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如果不做去除黑塊這個步驟直接打包，在 fontforge 顯示會長這樣：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38"/>
          <p:cNvPicPr preferRelativeResize="0"/>
          <p:nvPr/>
        </p:nvPicPr>
        <p:blipFill rotWithShape="1">
          <a:blip r:embed="rId3">
            <a:alphaModFix/>
          </a:blip>
          <a:srcRect b="46273" l="0" r="52498" t="0"/>
          <a:stretch/>
        </p:blipFill>
        <p:spPr>
          <a:xfrm>
            <a:off x="1555277" y="1555637"/>
            <a:ext cx="6033445" cy="281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9"/>
          <p:cNvSpPr txBox="1"/>
          <p:nvPr>
            <p:ph type="ctrTitle"/>
          </p:nvPr>
        </p:nvSpPr>
        <p:spPr>
          <a:xfrm>
            <a:off x="931694" y="807626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 sz="3300"/>
              <a:t>向量化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t/>
            </a:r>
            <a:endParaRPr sz="3300">
              <a:solidFill>
                <a:srgbClr val="FF0000"/>
              </a:solidFill>
            </a:endParaRPr>
          </a:p>
        </p:txBody>
      </p:sp>
      <p:sp>
        <p:nvSpPr>
          <p:cNvPr id="394" name="Google Shape;394;p3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95" name="Google Shape;395;p3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96" name="Google Shape;396;p39"/>
          <p:cNvSpPr txBox="1"/>
          <p:nvPr/>
        </p:nvSpPr>
        <p:spPr>
          <a:xfrm>
            <a:off x="1007706" y="1138913"/>
            <a:ext cx="7128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如果不做去除黑塊這個步驟直接打包，在 fontforge 顯示會長這樣：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 b="0" l="2235" r="2234" t="0"/>
          <a:stretch/>
        </p:blipFill>
        <p:spPr>
          <a:xfrm>
            <a:off x="1555277" y="1655887"/>
            <a:ext cx="6033445" cy="281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f535aaf77_0_49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300"/>
              <a:t>向量化</a:t>
            </a:r>
            <a:endParaRPr/>
          </a:p>
        </p:txBody>
      </p:sp>
      <p:sp>
        <p:nvSpPr>
          <p:cNvPr id="403" name="Google Shape;403;g3bf535aaf77_0_4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bf535aaf77_0_49"/>
          <p:cNvSpPr txBox="1"/>
          <p:nvPr/>
        </p:nvSpPr>
        <p:spPr>
          <a:xfrm>
            <a:off x="931737" y="1150910"/>
            <a:ext cx="73449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調整 run_pico.py 中的輸入輸出路徑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" name="Google Shape;405;g3bf535aaf77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6324" y="2234824"/>
            <a:ext cx="4622951" cy="9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g3bf535aaf77_0_49"/>
          <p:cNvSpPr/>
          <p:nvPr/>
        </p:nvSpPr>
        <p:spPr>
          <a:xfrm>
            <a:off x="5259825" y="2685400"/>
            <a:ext cx="1577700" cy="430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bf535aaf77_0_49"/>
          <p:cNvSpPr/>
          <p:nvPr/>
        </p:nvSpPr>
        <p:spPr>
          <a:xfrm>
            <a:off x="5120825" y="2301875"/>
            <a:ext cx="1830000" cy="383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bf535aaf77_0_58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300"/>
              <a:t>向量化</a:t>
            </a:r>
            <a:endParaRPr/>
          </a:p>
        </p:txBody>
      </p:sp>
      <p:sp>
        <p:nvSpPr>
          <p:cNvPr id="413" name="Google Shape;413;g3bf535aaf77_0_5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bf535aaf77_0_58"/>
          <p:cNvSpPr txBox="1"/>
          <p:nvPr/>
        </p:nvSpPr>
        <p:spPr>
          <a:xfrm>
            <a:off x="931725" y="1150902"/>
            <a:ext cx="73449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執行</a:t>
            </a:r>
            <a:endParaRPr sz="2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📁</a:t>
            </a:r>
            <a:r>
              <a:rPr lang="zh-TW" sz="2000"/>
              <a:t>p</a:t>
            </a:r>
            <a:r>
              <a:rPr lang="zh-TW" sz="2000"/>
              <a:t>ico</a:t>
            </a:r>
            <a:r>
              <a:rPr lang="zh-TW" sz="2000"/>
              <a:t> </a:t>
            </a:r>
            <a:r>
              <a:rPr lang="zh-TW" sz="2000"/>
              <a:t>：</a:t>
            </a:r>
            <a:r>
              <a:rPr lang="zh-TW" sz="2000"/>
              <a:t>轉換完成的結果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" name="Google Shape;415;g3bf535aaf77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1725" y="2210800"/>
            <a:ext cx="4391601" cy="21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bf535aaf77_0_58"/>
          <p:cNvSpPr/>
          <p:nvPr/>
        </p:nvSpPr>
        <p:spPr>
          <a:xfrm>
            <a:off x="2058150" y="1150896"/>
            <a:ext cx="3452100" cy="597000"/>
          </a:xfrm>
          <a:prstGeom prst="roundRect">
            <a:avLst>
              <a:gd fmla="val 16667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 </a:t>
            </a:r>
            <a:r>
              <a:rPr lang="zh-TW" sz="2000">
                <a:latin typeface="Consolas"/>
                <a:ea typeface="Consolas"/>
                <a:cs typeface="Consolas"/>
                <a:sym typeface="Consolas"/>
              </a:rPr>
              <a:t>run_pico</a:t>
            </a:r>
            <a:r>
              <a:rPr lang="zh-TW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.py</a:t>
            </a:r>
            <a:endParaRPr sz="2000" u="none" cap="none" strike="noStrike">
              <a:solidFill>
                <a:srgbClr val="FF99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4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422" name="Google Shape;422;p6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23" name="Google Shape;423;p64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06</a:t>
            </a:r>
            <a:endParaRPr/>
          </a:p>
        </p:txBody>
      </p:sp>
      <p:sp>
        <p:nvSpPr>
          <p:cNvPr id="424" name="Google Shape;424;p6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cc72abd92_2_0"/>
          <p:cNvSpPr txBox="1"/>
          <p:nvPr>
            <p:ph type="ctrTitle"/>
          </p:nvPr>
        </p:nvSpPr>
        <p:spPr>
          <a:xfrm>
            <a:off x="536264" y="464026"/>
            <a:ext cx="49206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431" name="Google Shape;431;g3bcc72abd92_2_0"/>
          <p:cNvSpPr txBox="1"/>
          <p:nvPr>
            <p:ph idx="1" type="body"/>
          </p:nvPr>
        </p:nvSpPr>
        <p:spPr>
          <a:xfrm>
            <a:off x="964958" y="4621850"/>
            <a:ext cx="78711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432" name="Google Shape;432;g3bcc72abd92_2_0"/>
          <p:cNvSpPr txBox="1"/>
          <p:nvPr>
            <p:ph idx="12" type="sldNum"/>
          </p:nvPr>
        </p:nvSpPr>
        <p:spPr>
          <a:xfrm>
            <a:off x="536276" y="4615550"/>
            <a:ext cx="4287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33" name="Google Shape;433;g3bcc72abd92_2_0"/>
          <p:cNvSpPr txBox="1"/>
          <p:nvPr/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zh-TW" sz="20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TA Email</a:t>
            </a:r>
            <a:endParaRPr sz="20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icrosoft JhengHei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賴秋彤 </a:t>
            </a:r>
            <a:r>
              <a:rPr lang="zh-TW" sz="1600" u="sng">
                <a:solidFill>
                  <a:srgbClr val="0563C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t114598033@ntut.org.tw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zh-TW" sz="20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Email 標題(主旨)</a:t>
            </a:r>
            <a:endParaRPr sz="20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請按照此格式(X為作業編號)</a:t>
            </a:r>
            <a:r>
              <a:rPr lang="zh-TW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：</a:t>
            </a: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[ai2026s-hwX-學號]</a:t>
            </a:r>
            <a:endParaRPr sz="1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de30b0a115_0_6"/>
          <p:cNvSpPr txBox="1"/>
          <p:nvPr>
            <p:ph type="ctrTitle"/>
          </p:nvPr>
        </p:nvSpPr>
        <p:spPr>
          <a:xfrm>
            <a:off x="725325" y="1551725"/>
            <a:ext cx="7643400" cy="15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補充：第三組APP撰寫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svg 轉 png</a:t>
            </a:r>
            <a:endParaRPr/>
          </a:p>
        </p:txBody>
      </p:sp>
      <p:sp>
        <p:nvSpPr>
          <p:cNvPr id="439" name="Google Shape;439;g3de30b0a115_0_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40" name="Google Shape;440;g3de30b0a115_0_6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07</a:t>
            </a:r>
            <a:endParaRPr/>
          </a:p>
        </p:txBody>
      </p:sp>
      <p:sp>
        <p:nvSpPr>
          <p:cNvPr id="441" name="Google Shape;441;g3de30b0a115_0_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de30b0a115_0_0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遇到問題</a:t>
            </a:r>
            <a:endParaRPr/>
          </a:p>
        </p:txBody>
      </p:sp>
      <p:sp>
        <p:nvSpPr>
          <p:cNvPr id="447" name="Google Shape;447;g3de30b0a115_0_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de30b0a115_0_0"/>
          <p:cNvSpPr txBox="1"/>
          <p:nvPr>
            <p:ph idx="2" type="body"/>
          </p:nvPr>
        </p:nvSpPr>
        <p:spPr>
          <a:xfrm>
            <a:off x="715575" y="1213950"/>
            <a:ext cx="78570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2000"/>
              <a:buAutoNum type="arabicPeriod"/>
            </a:pPr>
            <a:r>
              <a:rPr lang="zh-TW"/>
              <a:t>FontDiffuser 訓練需要點陣圖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zh-TW"/>
              <a:t>部分同學直接使用svg來做打包，會有黑塊問題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zh-TW"/>
              <a:t>結論：第三組使用 APP 書寫的同學，需要做 svg 轉 png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de30b0a115_0_1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svg2png.py</a:t>
            </a:r>
            <a:endParaRPr/>
          </a:p>
        </p:txBody>
      </p:sp>
      <p:sp>
        <p:nvSpPr>
          <p:cNvPr id="454" name="Google Shape;454;g3de30b0a115_0_1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de30b0a115_0_13"/>
          <p:cNvSpPr txBox="1"/>
          <p:nvPr>
            <p:ph idx="2" type="body"/>
          </p:nvPr>
        </p:nvSpPr>
        <p:spPr>
          <a:xfrm>
            <a:off x="312900" y="1213925"/>
            <a:ext cx="8518200" cy="3441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1800"/>
              <a:buFont typeface="Microsoft JhengHei"/>
              <a:buChar char="●"/>
            </a:pPr>
            <a:r>
              <a:rPr lang="zh-TW" sz="1800"/>
              <a:t>程式碼位置：</a:t>
            </a:r>
            <a:r>
              <a:rPr lang="zh-TW" sz="1800" u="sng">
                <a:solidFill>
                  <a:schemeClr val="hlink"/>
                </a:solidFill>
                <a:hlinkClick r:id="rId3"/>
              </a:rPr>
              <a:t>https://github.com/lctung/02-2_glyph_vector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rosoft JhengHei"/>
              <a:buChar char="●"/>
            </a:pPr>
            <a:r>
              <a:rPr lang="zh-TW" sz="1800"/>
              <a:t>需要安裝 cairosvg 和 inkscape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rosoft JhengHei"/>
              <a:buChar char="●"/>
            </a:pPr>
            <a:r>
              <a:rPr lang="zh-TW" sz="1800"/>
              <a:t>cairosvg 安裝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rosoft JhengHei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在 fontenv 的環境下，輸入指令 </a:t>
            </a:r>
            <a:r>
              <a:rPr lang="zh-TW">
                <a:highlight>
                  <a:schemeClr val="lt2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 pip intall cairosvg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rosoft JhengHei"/>
              <a:buChar char="●"/>
            </a:pPr>
            <a:r>
              <a:rPr lang="zh-TW" sz="1800"/>
              <a:t>inkscape 是一個軟體，需至官網下載安裝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rosoft JhengHei"/>
              <a:buChar char="○"/>
            </a:pPr>
            <a:r>
              <a:rPr lang="zh-TW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4"/>
              </a:rPr>
              <a:t>https://inkscape.org/release/inkscape-1.4.3/windows/64-bit/msi/dl/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rosoft JhengHei"/>
              <a:buChar char="○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設定環境變數，將 C:\Program Files\Inkscape\bin (此路徑為預設安裝位置)，加入系統環境變數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e30b0a115_0_22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設定環境變數</a:t>
            </a:r>
            <a:endParaRPr/>
          </a:p>
        </p:txBody>
      </p:sp>
      <p:sp>
        <p:nvSpPr>
          <p:cNvPr id="461" name="Google Shape;461;g3de30b0a115_0_2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de30b0a115_0_22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spcBef>
                <a:spcPts val="1100"/>
              </a:spcBef>
              <a:spcAft>
                <a:spcPts val="0"/>
              </a:spcAft>
              <a:buSzPts val="1800"/>
              <a:buAutoNum type="arabicPeriod"/>
            </a:pPr>
            <a:r>
              <a:rPr lang="zh-TW" sz="1800"/>
              <a:t>找到 Inkscape 安裝位置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sz="1800"/>
              <a:t>按下鍵盤的 Win + S，搜尋 「編輯系統環境變數」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sz="1800"/>
              <a:t>點擊 「環境變數」 按鈕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sz="1800"/>
              <a:t>在下方的「系統變數」清單中找到 Path，點兩下進去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sz="1800"/>
              <a:t>點擊 「新增」，將 Inkscape 的 bin 資料夾路徑貼上去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sz="1800"/>
              <a:t>通常路徑是：C:\Program Files\Inkscape\bin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sz="1800"/>
              <a:t>一路點「確定」儲存</a:t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de30b0a115_0_30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設定環境變數</a:t>
            </a:r>
            <a:endParaRPr/>
          </a:p>
        </p:txBody>
      </p:sp>
      <p:sp>
        <p:nvSpPr>
          <p:cNvPr id="468" name="Google Shape;468;g3de30b0a115_0_3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9" name="Google Shape;469;g3de30b0a115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4592" y="1202425"/>
            <a:ext cx="6390610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3de30b0a115_0_30"/>
          <p:cNvSpPr/>
          <p:nvPr/>
        </p:nvSpPr>
        <p:spPr>
          <a:xfrm>
            <a:off x="6640975" y="2810475"/>
            <a:ext cx="1030800" cy="293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de30b0a115_0_30"/>
          <p:cNvSpPr txBox="1"/>
          <p:nvPr/>
        </p:nvSpPr>
        <p:spPr>
          <a:xfrm>
            <a:off x="7735200" y="2691225"/>
            <a:ext cx="13455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雙擊進入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編輯畫面</a:t>
            </a:r>
            <a:endParaRPr/>
          </a:p>
        </p:txBody>
      </p:sp>
      <p:sp>
        <p:nvSpPr>
          <p:cNvPr id="472" name="Google Shape;472;g3de30b0a115_0_30"/>
          <p:cNvSpPr/>
          <p:nvPr/>
        </p:nvSpPr>
        <p:spPr>
          <a:xfrm>
            <a:off x="3027500" y="3689425"/>
            <a:ext cx="1030800" cy="293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de30b0a115_0_47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設定環境變數</a:t>
            </a:r>
            <a:endParaRPr/>
          </a:p>
        </p:txBody>
      </p:sp>
      <p:sp>
        <p:nvSpPr>
          <p:cNvPr id="478" name="Google Shape;478;g3de30b0a115_0_4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de30b0a115_0_47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0" name="Google Shape;480;g3de30b0a115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377" y="1103475"/>
            <a:ext cx="4123449" cy="392954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g3de30b0a115_0_47"/>
          <p:cNvSpPr/>
          <p:nvPr/>
        </p:nvSpPr>
        <p:spPr>
          <a:xfrm>
            <a:off x="985950" y="1525250"/>
            <a:ext cx="3027600" cy="221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de30b0a115_0_47"/>
          <p:cNvSpPr/>
          <p:nvPr/>
        </p:nvSpPr>
        <p:spPr>
          <a:xfrm>
            <a:off x="4089422" y="1415350"/>
            <a:ext cx="846600" cy="3378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de30b0a115_0_47"/>
          <p:cNvSpPr txBox="1"/>
          <p:nvPr/>
        </p:nvSpPr>
        <p:spPr>
          <a:xfrm>
            <a:off x="5011900" y="1369000"/>
            <a:ext cx="7596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點擊</a:t>
            </a:r>
            <a:endParaRPr/>
          </a:p>
        </p:txBody>
      </p:sp>
      <p:sp>
        <p:nvSpPr>
          <p:cNvPr id="484" name="Google Shape;484;g3de30b0a115_0_47"/>
          <p:cNvSpPr/>
          <p:nvPr/>
        </p:nvSpPr>
        <p:spPr>
          <a:xfrm>
            <a:off x="4143675" y="3667725"/>
            <a:ext cx="1215300" cy="3378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de30b0a115_0_47"/>
          <p:cNvSpPr txBox="1"/>
          <p:nvPr/>
        </p:nvSpPr>
        <p:spPr>
          <a:xfrm>
            <a:off x="5360525" y="3635175"/>
            <a:ext cx="14865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貼上路徑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de30b0a115_0_59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執行 svg2png.py</a:t>
            </a:r>
            <a:endParaRPr/>
          </a:p>
        </p:txBody>
      </p:sp>
      <p:sp>
        <p:nvSpPr>
          <p:cNvPr id="491" name="Google Shape;491;g3de30b0a115_0_5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de30b0a115_0_59"/>
          <p:cNvSpPr/>
          <p:nvPr/>
        </p:nvSpPr>
        <p:spPr>
          <a:xfrm>
            <a:off x="2778075" y="2084121"/>
            <a:ext cx="3452100" cy="597000"/>
          </a:xfrm>
          <a:prstGeom prst="roundRect">
            <a:avLst>
              <a:gd fmla="val 16667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 </a:t>
            </a:r>
            <a:r>
              <a:rPr lang="zh-TW" sz="2000">
                <a:latin typeface="Consolas"/>
                <a:ea typeface="Consolas"/>
                <a:cs typeface="Consolas"/>
                <a:sym typeface="Consolas"/>
              </a:rPr>
              <a:t>svg2png.py</a:t>
            </a:r>
            <a:endParaRPr sz="2000" u="none" cap="none" strike="noStrike">
              <a:solidFill>
                <a:srgbClr val="FF99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de30b0a115_0_41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將svg轉為png後......</a:t>
            </a:r>
            <a:endParaRPr/>
          </a:p>
        </p:txBody>
      </p:sp>
      <p:sp>
        <p:nvSpPr>
          <p:cNvPr id="498" name="Google Shape;498;g3de30b0a115_0_4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de30b0a115_0_41"/>
          <p:cNvSpPr txBox="1"/>
          <p:nvPr>
            <p:ph idx="2" type="body"/>
          </p:nvPr>
        </p:nvSpPr>
        <p:spPr>
          <a:xfrm>
            <a:off x="664075" y="1257350"/>
            <a:ext cx="8117400" cy="306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2200"/>
              <a:buFont typeface="Microsoft JhengHei"/>
              <a:buChar char="●"/>
            </a:pPr>
            <a:r>
              <a:rPr lang="zh-TW" sz="2200"/>
              <a:t>如果是打包後有黑塊的同學 ......</a:t>
            </a:r>
            <a:endParaRPr sz="2200"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icrosoft JhengHei"/>
              <a:buChar char="○"/>
            </a:pPr>
            <a:r>
              <a:rPr lang="zh-TW" sz="2200">
                <a:latin typeface="Microsoft JhengHei"/>
                <a:ea typeface="Microsoft JhengHei"/>
                <a:cs typeface="Microsoft JhengHei"/>
                <a:sym typeface="Microsoft JhengHei"/>
              </a:rPr>
              <a:t>請回到此簡報第20頁繼續操作，沒錯，就是再轉成向量~</a:t>
            </a:r>
            <a:endParaRPr sz="2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icrosoft JhengHei"/>
              <a:buChar char="●"/>
            </a:pPr>
            <a:r>
              <a:rPr lang="zh-TW" sz="2200"/>
              <a:t>如果是為了訓練轉檔的同學 ......</a:t>
            </a:r>
            <a:endParaRPr sz="2200"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icrosoft JhengHei"/>
              <a:buChar char="○"/>
            </a:pPr>
            <a:r>
              <a:rPr lang="zh-TW" sz="2200">
                <a:latin typeface="Microsoft JhengHei"/>
                <a:ea typeface="Microsoft JhengHei"/>
                <a:cs typeface="Microsoft JhengHei"/>
                <a:sym typeface="Microsoft JhengHei"/>
              </a:rPr>
              <a:t>請至 </a:t>
            </a:r>
            <a:r>
              <a:rPr lang="zh-TW" sz="22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03-機器學習</a:t>
            </a:r>
            <a:r>
              <a:rPr lang="zh-TW" sz="2200">
                <a:latin typeface="Microsoft JhengHei"/>
                <a:ea typeface="Microsoft JhengHei"/>
                <a:cs typeface="Microsoft JhengHei"/>
                <a:sym typeface="Microsoft JhengHei"/>
              </a:rPr>
              <a:t> 進行模型訓練</a:t>
            </a:r>
            <a:endParaRPr sz="22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章節頁_章節2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首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章節頁_章節1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章節頁_章節4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