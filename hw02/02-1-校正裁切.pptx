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2" r:id="rId6"/>
    <p:sldMasterId id="214748365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</p:sldIdLst>
  <p:sldSz cy="5143500" cx="9144000"/>
  <p:notesSz cx="6858000" cy="9144000"/>
  <p:embeddedFontLst>
    <p:embeddedFont>
      <p:font typeface="Mulish ExtraLight"/>
      <p:regular r:id="rId60"/>
      <p:bold r:id="rId61"/>
      <p:italic r:id="rId62"/>
      <p:boldItalic r:id="rId63"/>
    </p:embeddedFont>
    <p:embeddedFont>
      <p:font typeface="Mulish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8" roundtripDataSignature="AMtx7miqnthR9yq3oTD7nbanozo+HCDO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CB88AB-8826-4CAC-8EEF-B1679AB3F2DD}">
  <a:tblStyle styleId="{80CB88AB-8826-4CAC-8EEF-B1679AB3F2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font" Target="fonts/MulishExtraLight-italic.fntdata"/><Relationship Id="rId61" Type="http://schemas.openxmlformats.org/officeDocument/2006/relationships/font" Target="fonts/MulishExtraLight-bold.fntdata"/><Relationship Id="rId20" Type="http://schemas.openxmlformats.org/officeDocument/2006/relationships/slide" Target="slides/slide12.xml"/><Relationship Id="rId64" Type="http://schemas.openxmlformats.org/officeDocument/2006/relationships/font" Target="fonts/Mulish-regular.fntdata"/><Relationship Id="rId63" Type="http://schemas.openxmlformats.org/officeDocument/2006/relationships/font" Target="fonts/MulishExtraLight-boldItalic.fntdata"/><Relationship Id="rId22" Type="http://schemas.openxmlformats.org/officeDocument/2006/relationships/slide" Target="slides/slide14.xml"/><Relationship Id="rId66" Type="http://schemas.openxmlformats.org/officeDocument/2006/relationships/font" Target="fonts/Mulish-italic.fntdata"/><Relationship Id="rId21" Type="http://schemas.openxmlformats.org/officeDocument/2006/relationships/slide" Target="slides/slide13.xml"/><Relationship Id="rId65" Type="http://schemas.openxmlformats.org/officeDocument/2006/relationships/font" Target="fonts/Mulish-bold.fntdata"/><Relationship Id="rId24" Type="http://schemas.openxmlformats.org/officeDocument/2006/relationships/slide" Target="slides/slide16.xml"/><Relationship Id="rId68" Type="http://customschemas.google.com/relationships/presentationmetadata" Target="metadata"/><Relationship Id="rId23" Type="http://schemas.openxmlformats.org/officeDocument/2006/relationships/slide" Target="slides/slide15.xml"/><Relationship Id="rId67" Type="http://schemas.openxmlformats.org/officeDocument/2006/relationships/font" Target="fonts/Mulish-boldItalic.fntdata"/><Relationship Id="rId60" Type="http://schemas.openxmlformats.org/officeDocument/2006/relationships/font" Target="fonts/MulishExtraLight-regular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tutcc-my.sharepoint.com/:f:/r/personal/110598080_cc_ntut_edu_tw/Documents/ntut/111-2/font/%E7%B4%99%E6%9C%AC%E6%8E%83%E6%8F%8F?csf=1&amp;web=1&amp;e=540XuD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tutcc-my.sharepoint.com/:f:/r/personal/110598080_cc_ntut_edu_tw/Documents/ntut/111-2/font/%E7%B4%99%E6%9C%AC%E6%8E%83%E6%8F%8F?csf=1&amp;web=1&amp;e=540XuD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tutcc-my.sharepoint.com/:f:/r/personal/110598080_cc_ntut_edu_tw/Documents/ntut/111-2/font/%E7%B4%99%E6%9C%AC%E6%8E%83%E6%8F%8F?csf=1&amp;web=1&amp;e=540XuD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tutcc-my.sharepoint.com/:f:/r/personal/110598080_cc_ntut_edu_tw/Documents/ntut/111-2/font/%E7%B4%99%E6%9C%AC%E6%8E%83%E6%8F%8F?csf=1&amp;web=1&amp;e=540XuD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tutcc-my.sharepoint.com/:f:/r/personal/110598080_cc_ntut_edu_tw/Documents/ntut/111-2/font/%E7%B4%99%E6%9C%AC%E6%8E%83%E6%8F%8F?csf=1&amp;web=1&amp;e=540XuD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irasutoya.com/2019/09/blog-post_45.html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tutcc-my.sharepoint.com/:f:/r/personal/110598080_cc_ntut_edu_tw/Documents/ntut/111-2/font/%E7%B4%99%E6%9C%AC%E6%8E%83%E6%8F%8F?csf=1&amp;web=1&amp;e=540XuD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d4cd7950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t/>
            </a:r>
            <a:endParaRPr/>
          </a:p>
        </p:txBody>
      </p:sp>
      <p:sp>
        <p:nvSpPr>
          <p:cNvPr id="89" name="Google Shape;89;g2ad4cd7950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e65dac68f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2be65dac68f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8d12f926d_0_4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268d12f926d_0_4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e65dac68f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2be65dac68f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b0caf921ef_1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2b0caf921ef_1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紙本掃描</a:t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8d12f926d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紙本掃描</a:t>
            </a:r>
            <a:endParaRPr/>
          </a:p>
        </p:txBody>
      </p:sp>
      <p:sp>
        <p:nvSpPr>
          <p:cNvPr id="160" name="Google Shape;160;g268d12f926d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9336db4d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39336db4d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9336db4dd_0_2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39336db4dd_0_2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9336db4dd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紙本掃描</a:t>
            </a:r>
            <a:endParaRPr/>
          </a:p>
        </p:txBody>
      </p:sp>
      <p:sp>
        <p:nvSpPr>
          <p:cNvPr id="203" name="Google Shape;203;g339336db4dd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6605dac4b0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26605dac4b0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紙本掃描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https://github.com/syuannnnnn/Gray_manuscript.git </a:t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紙本掃描</a:t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6605dac4b0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26605dac4b0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68d12f926d_0_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プログラムのコードが表示されたコンピューターのイラスト | かわいいフリー素材集 いらすとや (irasutoya.com)</a:t>
            </a:r>
            <a:endParaRPr/>
          </a:p>
        </p:txBody>
      </p:sp>
      <p:sp>
        <p:nvSpPr>
          <p:cNvPr id="269" name="Google Shape;269;g268d12f926d_0_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ca45f19b0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ca45f19b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ca45f19b0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bca45f19b0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68d12f926d_0_3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268d12f926d_0_3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68d12f926d_0_3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g268d12f926d_0_3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68d12f926d_0_3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268d12f926d_0_3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d1fcfb23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3bd1fcfb23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d1fcfb23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3bd1fcfb232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ca45f19b0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紙本掃描</a:t>
            </a:r>
            <a:endParaRPr/>
          </a:p>
        </p:txBody>
      </p:sp>
      <p:sp>
        <p:nvSpPr>
          <p:cNvPr id="365" name="Google Shape;365;g3bca45f19b0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6605dac4b0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g26605dac4b0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68d12f926d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g268d12f926d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c133089727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g2c133089727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39336db4dd_0_3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" name="Google Shape;449;g339336db4dd_0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9336db4dd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g339336db4dd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39336db4dd_0_4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g339336db4dd_0_4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39336db4dd_0_4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2" name="Google Shape;482;g339336db4dd_0_4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d7012ed6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d7012ed6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39336db4dd_0_4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g339336db4dd_0_4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bd7012ed66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g3bd7012ed66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d7012ed6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bd7012ed6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d7012ed6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bd7012ed6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d7012ed6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bd7012ed6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68d12f926d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g268d12f926d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c133089727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g2c133089727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c4cf1de80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3" name="Google Shape;583;g3c4cf1de80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00951c6b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d00951c6b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7" name="Google Shape;60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d7012ed6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bd7012ed6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35bc3dae1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2" name="Google Shape;632;g335bc3dae1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4" name="Google Shape;64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7" name="Google Shape;65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bd7012ed66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1" name="Google Shape;671;g3bd7012ed66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6605dac4b0_0_2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6" name="Google Shape;686;g26605dac4b0_0_2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b0caf921ef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g2b0caf921ef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2b0caf921ef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6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" type="body"/>
          </p:nvPr>
        </p:nvSpPr>
        <p:spPr>
          <a:xfrm>
            <a:off x="725332" y="2255322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6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/>
          <p:nvPr>
            <p:ph type="ctrTitle"/>
          </p:nvPr>
        </p:nvSpPr>
        <p:spPr>
          <a:xfrm>
            <a:off x="725332" y="1606130"/>
            <a:ext cx="47673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43"/>
          <p:cNvSpPr txBox="1"/>
          <p:nvPr>
            <p:ph idx="1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3"/>
          <p:cNvSpPr txBox="1"/>
          <p:nvPr>
            <p:ph idx="2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buNone/>
              <a:defRPr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>
              <a:buNone/>
              <a:defRPr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>
              <a:buNone/>
              <a:defRPr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>
              <a:buNone/>
              <a:defRPr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>
              <a:buNone/>
              <a:defRPr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>
              <a:buNone/>
              <a:defRPr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>
              <a:buNone/>
              <a:defRPr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>
              <a:buNone/>
              <a:defRPr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4"/>
          <p:cNvSpPr txBox="1"/>
          <p:nvPr>
            <p:ph idx="1" type="body"/>
          </p:nvPr>
        </p:nvSpPr>
        <p:spPr>
          <a:xfrm>
            <a:off x="725332" y="1621650"/>
            <a:ext cx="47673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44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1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44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>
              <a:buNone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6605dac4b0_0_10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" name="Google Shape;27;g26605dac4b0_0_105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26605dac4b0_0_105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g26605dac4b0_0_105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6605dac4b0_0_110"/>
          <p:cNvSpPr txBox="1"/>
          <p:nvPr>
            <p:ph type="ctrTitle"/>
          </p:nvPr>
        </p:nvSpPr>
        <p:spPr>
          <a:xfrm>
            <a:off x="725332" y="1814327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g26605dac4b0_0_11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g26605dac4b0_0_110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g26605dac4b0_0_11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5" name="Google Shape;35;g26605dac4b0_0_110"/>
          <p:cNvSpPr txBox="1"/>
          <p:nvPr>
            <p:ph idx="3" type="body"/>
          </p:nvPr>
        </p:nvSpPr>
        <p:spPr>
          <a:xfrm>
            <a:off x="725332" y="2343406"/>
            <a:ext cx="76434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6605dac4b0_0_11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" name="Google Shape;38;g26605dac4b0_0_116"/>
          <p:cNvSpPr txBox="1"/>
          <p:nvPr>
            <p:ph idx="1" type="body"/>
          </p:nvPr>
        </p:nvSpPr>
        <p:spPr>
          <a:xfrm>
            <a:off x="725332" y="1684567"/>
            <a:ext cx="4767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g26605dac4b0_0_116"/>
          <p:cNvSpPr txBox="1"/>
          <p:nvPr>
            <p:ph idx="2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g26605dac4b0_0_116"/>
          <p:cNvSpPr txBox="1"/>
          <p:nvPr>
            <p:ph idx="3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39336db4dd_0_339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g339336db4dd_0_33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g339336db4dd_0_339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g339336db4dd_0_33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39336db4dd_0_335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339336db4dd_0_33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g339336db4dd_0_33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39336db4dd_0_344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39336db4dd_0_34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339336db4dd_0_344"/>
          <p:cNvSpPr txBox="1"/>
          <p:nvPr>
            <p:ph idx="2" type="body"/>
          </p:nvPr>
        </p:nvSpPr>
        <p:spPr>
          <a:xfrm>
            <a:off x="715566" y="1184141"/>
            <a:ext cx="7577100" cy="30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339336db4dd_0_34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9336db4dd_0_349"/>
          <p:cNvSpPr/>
          <p:nvPr>
            <p:ph idx="2" type="pic"/>
          </p:nvPr>
        </p:nvSpPr>
        <p:spPr>
          <a:xfrm>
            <a:off x="0" y="0"/>
            <a:ext cx="9002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g339336db4dd_0_34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9336db4dd_0_352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g339336db4dd_0_352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39336db4dd_0_352"/>
          <p:cNvSpPr txBox="1"/>
          <p:nvPr>
            <p:ph type="ctrTitle"/>
          </p:nvPr>
        </p:nvSpPr>
        <p:spPr>
          <a:xfrm>
            <a:off x="715019" y="269254"/>
            <a:ext cx="7841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icrosoft JhengHei"/>
              <a:buNone/>
              <a:defRPr b="1" i="0" sz="27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39336db4dd_0_35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9336db4dd_0_357"/>
          <p:cNvSpPr/>
          <p:nvPr>
            <p:ph idx="2" type="pic"/>
          </p:nvPr>
        </p:nvSpPr>
        <p:spPr>
          <a:xfrm>
            <a:off x="0" y="891988"/>
            <a:ext cx="9001800" cy="42516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g339336db4dd_0_357"/>
          <p:cNvSpPr/>
          <p:nvPr/>
        </p:nvSpPr>
        <p:spPr>
          <a:xfrm>
            <a:off x="1" y="0"/>
            <a:ext cx="8997900" cy="8919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39336db4dd_0_35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9" name="Google Shape;69;g339336db4dd_0_357"/>
          <p:cNvSpPr txBox="1"/>
          <p:nvPr>
            <p:ph type="ctrTitle"/>
          </p:nvPr>
        </p:nvSpPr>
        <p:spPr>
          <a:xfrm>
            <a:off x="715019" y="270478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9336db4dd_0_362"/>
          <p:cNvSpPr txBox="1"/>
          <p:nvPr>
            <p:ph type="ctrTitle"/>
          </p:nvPr>
        </p:nvSpPr>
        <p:spPr>
          <a:xfrm>
            <a:off x="715019" y="546514"/>
            <a:ext cx="66225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Mulish"/>
              <a:buNone/>
              <a:defRPr b="1" i="0" sz="26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g339336db4dd_0_36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g339336db4dd_0_36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9336db4dd_0_36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g339336db4dd_0_36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 1">
  <p:cSld name="內容頁_中文標題＋文字 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9336db4dd_0_369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39336db4dd_0_36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g339336db4dd_0_369"/>
          <p:cNvSpPr txBox="1"/>
          <p:nvPr>
            <p:ph idx="2" type="body"/>
          </p:nvPr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39336db4dd_0_36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9336db4dd_0_37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4" name="Google Shape;84;g339336db4dd_0_374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  <a:defRPr b="1" i="0" sz="3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39336db4dd_0_374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g339336db4dd_0_374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6605dac4b0_0_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39336db4dd_0_3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lctung/02-1_crop_paper" TargetMode="External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anaconda.com/download" TargetMode="External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Relationship Id="rId4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Relationship Id="rId4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6.png"/><Relationship Id="rId4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9.png"/><Relationship Id="rId4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7.png"/><Relationship Id="rId4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55.png"/><Relationship Id="rId6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1.png"/><Relationship Id="rId4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2.png"/><Relationship Id="rId4" Type="http://schemas.openxmlformats.org/officeDocument/2006/relationships/image" Target="../media/image56.png"/><Relationship Id="rId5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4.png"/><Relationship Id="rId4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Relationship Id="rId4" Type="http://schemas.openxmlformats.org/officeDocument/2006/relationships/image" Target="../media/image21.png"/><Relationship Id="rId5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8.png"/><Relationship Id="rId4" Type="http://schemas.openxmlformats.org/officeDocument/2006/relationships/image" Target="../media/image21.png"/><Relationship Id="rId5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7.png"/><Relationship Id="rId4" Type="http://schemas.openxmlformats.org/officeDocument/2006/relationships/image" Target="../media/image21.png"/><Relationship Id="rId5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0.png"/><Relationship Id="rId4" Type="http://schemas.openxmlformats.org/officeDocument/2006/relationships/image" Target="../media/image62.png"/><Relationship Id="rId5" Type="http://schemas.openxmlformats.org/officeDocument/2006/relationships/image" Target="../media/image21.png"/><Relationship Id="rId6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9.png"/><Relationship Id="rId4" Type="http://schemas.openxmlformats.org/officeDocument/2006/relationships/image" Target="../media/image21.png"/><Relationship Id="rId5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1.png"/><Relationship Id="rId4" Type="http://schemas.openxmlformats.org/officeDocument/2006/relationships/image" Target="../media/image21.png"/><Relationship Id="rId5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png"/><Relationship Id="rId4" Type="http://schemas.openxmlformats.org/officeDocument/2006/relationships/image" Target="../media/image63.png"/><Relationship Id="rId5" Type="http://schemas.openxmlformats.org/officeDocument/2006/relationships/image" Target="../media/image21.png"/><Relationship Id="rId6" Type="http://schemas.openxmlformats.org/officeDocument/2006/relationships/image" Target="../media/image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Relationship Id="rId4" Type="http://schemas.openxmlformats.org/officeDocument/2006/relationships/image" Target="../media/image63.png"/><Relationship Id="rId5" Type="http://schemas.openxmlformats.org/officeDocument/2006/relationships/image" Target="../media/image21.png"/><Relationship Id="rId6" Type="http://schemas.openxmlformats.org/officeDocument/2006/relationships/image" Target="../media/image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hyperlink" Target="mailto:t114598033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d4cd79502_0_0"/>
          <p:cNvSpPr txBox="1"/>
          <p:nvPr>
            <p:ph type="ctrTitle"/>
          </p:nvPr>
        </p:nvSpPr>
        <p:spPr>
          <a:xfrm>
            <a:off x="725332" y="1705871"/>
            <a:ext cx="7643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生成式人工智慧導論</a:t>
            </a:r>
            <a:endParaRPr/>
          </a:p>
        </p:txBody>
      </p:sp>
      <p:sp>
        <p:nvSpPr>
          <p:cNvPr id="92" name="Google Shape;92;g2ad4cd79502_0_0"/>
          <p:cNvSpPr txBox="1"/>
          <p:nvPr>
            <p:ph idx="1" type="body"/>
          </p:nvPr>
        </p:nvSpPr>
        <p:spPr>
          <a:xfrm>
            <a:off x="725332" y="2255322"/>
            <a:ext cx="764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稿紙校正、裁切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3" name="Google Shape;93;g2ad4cd79502_0_0"/>
          <p:cNvSpPr txBox="1"/>
          <p:nvPr>
            <p:ph idx="2" type="body"/>
          </p:nvPr>
        </p:nvSpPr>
        <p:spPr>
          <a:xfrm>
            <a:off x="725331" y="3429000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賴秋彤-</a:t>
            </a:r>
            <a:r>
              <a:rPr lang="zh-TW"/>
              <a:t>林家弘-曾詠暄</a:t>
            </a:r>
            <a:endParaRPr/>
          </a:p>
        </p:txBody>
      </p:sp>
      <p:sp>
        <p:nvSpPr>
          <p:cNvPr id="94" name="Google Shape;94;g2ad4cd79502_0_0"/>
          <p:cNvSpPr txBox="1"/>
          <p:nvPr>
            <p:ph idx="3" type="body"/>
          </p:nvPr>
        </p:nvSpPr>
        <p:spPr>
          <a:xfrm>
            <a:off x="725331" y="3768755"/>
            <a:ext cx="498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zh-TW"/>
              <a:t>國立臺北科技大學資訊工程系</a:t>
            </a:r>
            <a:endParaRPr/>
          </a:p>
        </p:txBody>
      </p:sp>
      <p:sp>
        <p:nvSpPr>
          <p:cNvPr id="95" name="Google Shape;95;g2ad4cd79502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be65dac68f_0_59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01" name="Google Shape;101;g2be65dac68f_0_59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02" name="Google Shape;102;g2be65dac68f_0_5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8d12f926d_0_468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08" name="Google Shape;108;g268d12f926d_0_46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9" name="Google Shape;109;g268d12f926d_0_46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0" name="Google Shape;110;g268d12f926d_0_468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520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流程介紹</a:t>
            </a:r>
            <a:endParaRPr b="0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520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zh-TW" sz="2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流程說明</a:t>
            </a:r>
            <a:endParaRPr b="0" i="0" sz="20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520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zh-TW" sz="2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繳交作業網頁更新教學</a:t>
            </a:r>
            <a:endParaRPr b="0" i="0" sz="20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520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zh-TW" sz="20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助教聯絡資訊</a:t>
            </a:r>
            <a:endParaRPr b="0" i="0" sz="2000" u="none" cap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be65dac68f_0_52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紙本切割流程介紹</a:t>
            </a:r>
            <a:endParaRPr/>
          </a:p>
        </p:txBody>
      </p:sp>
      <p:sp>
        <p:nvSpPr>
          <p:cNvPr id="116" name="Google Shape;116;g2be65dac68f_0_52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01.a</a:t>
            </a:r>
            <a:endParaRPr/>
          </a:p>
        </p:txBody>
      </p:sp>
      <p:sp>
        <p:nvSpPr>
          <p:cNvPr id="117" name="Google Shape;117;g2be65dac68f_0_52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18" name="Google Shape;118;g2be65dac68f_0_5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b0caf921ef_1_182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紙本-旋轉校正及切割</a:t>
            </a:r>
            <a:endParaRPr/>
          </a:p>
        </p:txBody>
      </p:sp>
      <p:sp>
        <p:nvSpPr>
          <p:cNvPr id="124" name="Google Shape;124;g2b0caf921ef_1_18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5" name="Google Shape;125;g2b0caf921ef_1_18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6" name="Google Shape;126;g2b0caf921ef_1_182"/>
          <p:cNvPicPr preferRelativeResize="0"/>
          <p:nvPr/>
        </p:nvPicPr>
        <p:blipFill rotWithShape="1">
          <a:blip r:embed="rId3">
            <a:alphaModFix/>
          </a:blip>
          <a:srcRect b="0" l="2143" r="0" t="0"/>
          <a:stretch/>
        </p:blipFill>
        <p:spPr>
          <a:xfrm>
            <a:off x="321825" y="1527688"/>
            <a:ext cx="2063475" cy="295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b0caf921ef_1_1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2737" y="1492725"/>
            <a:ext cx="2139825" cy="30252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b0caf921ef_1_182"/>
          <p:cNvSpPr/>
          <p:nvPr/>
        </p:nvSpPr>
        <p:spPr>
          <a:xfrm>
            <a:off x="2540500" y="2667200"/>
            <a:ext cx="8115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2b0caf921ef_1_182"/>
          <p:cNvSpPr txBox="1"/>
          <p:nvPr/>
        </p:nvSpPr>
        <p:spPr>
          <a:xfrm>
            <a:off x="2426350" y="2327900"/>
            <a:ext cx="103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zh-TW" sz="15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旋轉校正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b0caf921ef_1_182"/>
          <p:cNvSpPr/>
          <p:nvPr/>
        </p:nvSpPr>
        <p:spPr>
          <a:xfrm>
            <a:off x="5817100" y="2667200"/>
            <a:ext cx="8115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2b0caf921ef_1_182"/>
          <p:cNvSpPr txBox="1"/>
          <p:nvPr/>
        </p:nvSpPr>
        <p:spPr>
          <a:xfrm>
            <a:off x="5855050" y="2327900"/>
            <a:ext cx="577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zh-TW" sz="15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裁切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2b0caf921ef_1_182"/>
          <p:cNvSpPr txBox="1"/>
          <p:nvPr/>
        </p:nvSpPr>
        <p:spPr>
          <a:xfrm>
            <a:off x="729316" y="1066000"/>
            <a:ext cx="286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流程及成果如下: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2b0caf921ef_1_182"/>
          <p:cNvSpPr txBox="1"/>
          <p:nvPr/>
        </p:nvSpPr>
        <p:spPr>
          <a:xfrm>
            <a:off x="2189500" y="2089325"/>
            <a:ext cx="15135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zh-TW" sz="1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s1_rotate_page.py</a:t>
            </a:r>
            <a:endParaRPr b="0" i="0" sz="1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2b0caf921ef_1_182"/>
          <p:cNvSpPr txBox="1"/>
          <p:nvPr/>
        </p:nvSpPr>
        <p:spPr>
          <a:xfrm>
            <a:off x="5418675" y="2151800"/>
            <a:ext cx="1513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zh-TW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s2_crop.py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2b0caf921ef_1_182"/>
          <p:cNvPicPr preferRelativeResize="0"/>
          <p:nvPr/>
        </p:nvPicPr>
        <p:blipFill rotWithShape="1">
          <a:blip r:embed="rId5">
            <a:alphaModFix/>
          </a:blip>
          <a:srcRect b="13681" l="4775" r="1573" t="9241"/>
          <a:stretch/>
        </p:blipFill>
        <p:spPr>
          <a:xfrm>
            <a:off x="6753150" y="2179325"/>
            <a:ext cx="2139826" cy="1321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b0caf921ef_1_182" title="shimekiri_report_woma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2025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3" name="Google Shape;143;p7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>
                <a:solidFill>
                  <a:srgbClr val="674EA7"/>
                </a:solidFill>
              </a:rPr>
              <a:t>紙本流程</a:t>
            </a:r>
            <a:endParaRPr b="1" sz="3000">
              <a:solidFill>
                <a:srgbClr val="674EA7"/>
              </a:solidFill>
            </a:endParaRPr>
          </a:p>
        </p:txBody>
      </p:sp>
      <p:grpSp>
        <p:nvGrpSpPr>
          <p:cNvPr id="144" name="Google Shape;144;p7"/>
          <p:cNvGrpSpPr/>
          <p:nvPr/>
        </p:nvGrpSpPr>
        <p:grpSpPr>
          <a:xfrm>
            <a:off x="379158" y="1230694"/>
            <a:ext cx="1619349" cy="1498457"/>
            <a:chOff x="1061079" y="1163575"/>
            <a:chExt cx="3339552" cy="3339552"/>
          </a:xfrm>
        </p:grpSpPr>
        <p:pic>
          <p:nvPicPr>
            <p:cNvPr id="145" name="Google Shape;14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1079" y="1163575"/>
              <a:ext cx="3339552" cy="33395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7"/>
            <p:cNvPicPr preferRelativeResize="0"/>
            <p:nvPr/>
          </p:nvPicPr>
          <p:blipFill rotWithShape="1">
            <a:blip r:embed="rId4">
              <a:alphaModFix/>
            </a:blip>
            <a:srcRect b="0" l="0" r="11449" t="0"/>
            <a:stretch/>
          </p:blipFill>
          <p:spPr>
            <a:xfrm>
              <a:off x="3099925" y="2571750"/>
              <a:ext cx="535124" cy="373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7" name="Google Shape;14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6275" y="1230700"/>
            <a:ext cx="1619350" cy="16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2427" y="2850050"/>
            <a:ext cx="1703798" cy="18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6485288" y="1460400"/>
            <a:ext cx="1130575" cy="11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2070922" y="1806825"/>
            <a:ext cx="6966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219522" y="1806825"/>
            <a:ext cx="6966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508125" y="2610150"/>
            <a:ext cx="161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1.專案下載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3116275" y="2605675"/>
            <a:ext cx="18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2.建立虛擬環境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6354775" y="2610150"/>
            <a:ext cx="18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3.旋轉校正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5997900" y="4130825"/>
            <a:ext cx="18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4.裁切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6" name="Google Shape;156;p7"/>
          <p:cNvSpPr/>
          <p:nvPr/>
        </p:nvSpPr>
        <p:spPr>
          <a:xfrm rot="8101047">
            <a:off x="6221000" y="3361054"/>
            <a:ext cx="696430" cy="3461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7" title="shimekiri_report_woma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32025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8d12f926d_0_21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63" name="Google Shape;163;g268d12f926d_0_21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4" name="Google Shape;164;g268d12f926d_0_218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>
                <a:solidFill>
                  <a:srgbClr val="674EA7"/>
                </a:solidFill>
              </a:rPr>
              <a:t>旋轉校正-目標</a:t>
            </a:r>
            <a:endParaRPr sz="3000">
              <a:solidFill>
                <a:srgbClr val="674EA7"/>
              </a:solidFill>
            </a:endParaRPr>
          </a:p>
        </p:txBody>
      </p:sp>
      <p:pic>
        <p:nvPicPr>
          <p:cNvPr id="165" name="Google Shape;165;g268d12f926d_0_218"/>
          <p:cNvPicPr preferRelativeResize="0"/>
          <p:nvPr/>
        </p:nvPicPr>
        <p:blipFill rotWithShape="1">
          <a:blip r:embed="rId3">
            <a:alphaModFix/>
          </a:blip>
          <a:srcRect b="0" l="6067" r="0" t="0"/>
          <a:stretch/>
        </p:blipFill>
        <p:spPr>
          <a:xfrm>
            <a:off x="391025" y="1173275"/>
            <a:ext cx="1947100" cy="135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268d12f926d_0_218"/>
          <p:cNvSpPr/>
          <p:nvPr/>
        </p:nvSpPr>
        <p:spPr>
          <a:xfrm>
            <a:off x="2460024" y="1744825"/>
            <a:ext cx="27744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268d12f926d_0_2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6324" y="1011175"/>
            <a:ext cx="2237800" cy="147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268d12f926d_0_2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9738" y="2739012"/>
            <a:ext cx="2105521" cy="1848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g268d12f926d_0_218"/>
          <p:cNvGrpSpPr/>
          <p:nvPr/>
        </p:nvGrpSpPr>
        <p:grpSpPr>
          <a:xfrm>
            <a:off x="2058501" y="2531802"/>
            <a:ext cx="1817750" cy="1919900"/>
            <a:chOff x="1194853" y="3179345"/>
            <a:chExt cx="1181201" cy="1179155"/>
          </a:xfrm>
        </p:grpSpPr>
        <p:pic>
          <p:nvPicPr>
            <p:cNvPr id="170" name="Google Shape;170;g268d12f926d_0_2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94853" y="3179345"/>
              <a:ext cx="1181201" cy="11791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g268d12f926d_0_218"/>
            <p:cNvPicPr preferRelativeResize="0"/>
            <p:nvPr/>
          </p:nvPicPr>
          <p:blipFill rotWithShape="1">
            <a:blip r:embed="rId3">
              <a:alphaModFix/>
            </a:blip>
            <a:srcRect b="0" l="6067" r="0" t="0"/>
            <a:stretch/>
          </p:blipFill>
          <p:spPr>
            <a:xfrm>
              <a:off x="1323749" y="3344398"/>
              <a:ext cx="396407" cy="2827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2" name="Google Shape;172;g268d12f926d_0_2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7125" y="1213800"/>
            <a:ext cx="1245100" cy="127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268d12f926d_0_218"/>
          <p:cNvSpPr txBox="1"/>
          <p:nvPr/>
        </p:nvSpPr>
        <p:spPr>
          <a:xfrm>
            <a:off x="7594125" y="2091025"/>
            <a:ext cx="120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(以利裁切)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74" name="Google Shape;174;g268d12f926d_0_218" title="shimekiri_report_woma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32025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9336db4dd_0_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電子檔(P</a:t>
            </a:r>
            <a:r>
              <a:rPr lang="zh-TW"/>
              <a:t>DF</a:t>
            </a:r>
            <a:r>
              <a:rPr lang="zh-TW"/>
              <a:t>)切割流程介紹</a:t>
            </a:r>
            <a:endParaRPr/>
          </a:p>
        </p:txBody>
      </p:sp>
      <p:sp>
        <p:nvSpPr>
          <p:cNvPr id="180" name="Google Shape;180;g339336db4dd_0_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01.b</a:t>
            </a:r>
            <a:endParaRPr/>
          </a:p>
        </p:txBody>
      </p:sp>
      <p:sp>
        <p:nvSpPr>
          <p:cNvPr id="181" name="Google Shape;181;g339336db4dd_0_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182" name="Google Shape;182;g339336db4dd_0_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9336db4dd_0_263"/>
          <p:cNvSpPr txBox="1"/>
          <p:nvPr>
            <p:ph type="ctrTitle"/>
          </p:nvPr>
        </p:nvSpPr>
        <p:spPr>
          <a:xfrm>
            <a:off x="715019" y="618701"/>
            <a:ext cx="6560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icrosoft JhengHei"/>
              <a:buNone/>
            </a:pPr>
            <a:r>
              <a:rPr lang="zh-TW"/>
              <a:t>切割</a:t>
            </a:r>
            <a:endParaRPr/>
          </a:p>
        </p:txBody>
      </p:sp>
      <p:sp>
        <p:nvSpPr>
          <p:cNvPr id="188" name="Google Shape;188;g339336db4dd_0_26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9" name="Google Shape;189;g339336db4dd_0_26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0" name="Google Shape;190;g339336db4dd_0_263"/>
          <p:cNvSpPr/>
          <p:nvPr/>
        </p:nvSpPr>
        <p:spPr>
          <a:xfrm>
            <a:off x="2540500" y="2667200"/>
            <a:ext cx="8115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39336db4dd_0_263"/>
          <p:cNvSpPr txBox="1"/>
          <p:nvPr/>
        </p:nvSpPr>
        <p:spPr>
          <a:xfrm>
            <a:off x="2426350" y="2327900"/>
            <a:ext cx="103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zh-TW" sz="1500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轉檔</a:t>
            </a:r>
            <a:r>
              <a:rPr b="1" i="0" lang="zh-TW" sz="15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校正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39336db4dd_0_263"/>
          <p:cNvSpPr/>
          <p:nvPr/>
        </p:nvSpPr>
        <p:spPr>
          <a:xfrm>
            <a:off x="5817100" y="2667200"/>
            <a:ext cx="8115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39336db4dd_0_263"/>
          <p:cNvSpPr txBox="1"/>
          <p:nvPr/>
        </p:nvSpPr>
        <p:spPr>
          <a:xfrm>
            <a:off x="5855050" y="2327900"/>
            <a:ext cx="577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zh-TW" sz="15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裁切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39336db4dd_0_263"/>
          <p:cNvSpPr txBox="1"/>
          <p:nvPr/>
        </p:nvSpPr>
        <p:spPr>
          <a:xfrm>
            <a:off x="2189525" y="2179325"/>
            <a:ext cx="1513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zh-TW" sz="1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s1_</a:t>
            </a:r>
            <a:r>
              <a:rPr lang="zh-TW" sz="1000">
                <a:solidFill>
                  <a:schemeClr val="accent3"/>
                </a:solidFill>
              </a:rPr>
              <a:t>p</a:t>
            </a:r>
            <a:r>
              <a:rPr b="0" i="0" lang="zh-TW" sz="1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df2png.py</a:t>
            </a:r>
            <a:endParaRPr b="0" i="0" sz="10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39336db4dd_0_263"/>
          <p:cNvSpPr txBox="1"/>
          <p:nvPr/>
        </p:nvSpPr>
        <p:spPr>
          <a:xfrm>
            <a:off x="5418675" y="2179325"/>
            <a:ext cx="1513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zh-TW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s2_crop.py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39336db4dd_0_263"/>
          <p:cNvPicPr preferRelativeResize="0"/>
          <p:nvPr/>
        </p:nvPicPr>
        <p:blipFill rotWithShape="1">
          <a:blip r:embed="rId3">
            <a:alphaModFix/>
          </a:blip>
          <a:srcRect b="13681" l="4776" r="1573" t="9241"/>
          <a:stretch/>
        </p:blipFill>
        <p:spPr>
          <a:xfrm>
            <a:off x="6753150" y="2179325"/>
            <a:ext cx="2139826" cy="132194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39336db4dd_0_263"/>
          <p:cNvSpPr txBox="1"/>
          <p:nvPr/>
        </p:nvSpPr>
        <p:spPr>
          <a:xfrm>
            <a:off x="839125" y="2416350"/>
            <a:ext cx="81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pdf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39336db4dd_0_263"/>
          <p:cNvSpPr txBox="1"/>
          <p:nvPr/>
        </p:nvSpPr>
        <p:spPr>
          <a:xfrm>
            <a:off x="4122700" y="3275775"/>
            <a:ext cx="108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zh-TW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png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39336db4dd_0_2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3613" y="1113062"/>
            <a:ext cx="1594451" cy="2253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39336db4dd_0_263" title="tablet08_schoolgir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9336db4dd_0_27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06" name="Google Shape;206;g339336db4dd_0_27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7" name="Google Shape;207;g339336db4dd_0_279"/>
          <p:cNvSpPr txBox="1"/>
          <p:nvPr>
            <p:ph type="ctrTitle"/>
          </p:nvPr>
        </p:nvSpPr>
        <p:spPr>
          <a:xfrm>
            <a:off x="1007696" y="425275"/>
            <a:ext cx="4990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>
                <a:solidFill>
                  <a:srgbClr val="674EA7"/>
                </a:solidFill>
              </a:rPr>
              <a:t>流程</a:t>
            </a:r>
            <a:endParaRPr b="1" sz="3000">
              <a:solidFill>
                <a:srgbClr val="674EA7"/>
              </a:solidFill>
            </a:endParaRPr>
          </a:p>
        </p:txBody>
      </p:sp>
      <p:grpSp>
        <p:nvGrpSpPr>
          <p:cNvPr id="208" name="Google Shape;208;g339336db4dd_0_279"/>
          <p:cNvGrpSpPr/>
          <p:nvPr/>
        </p:nvGrpSpPr>
        <p:grpSpPr>
          <a:xfrm>
            <a:off x="379158" y="1230694"/>
            <a:ext cx="1619349" cy="1498457"/>
            <a:chOff x="1061079" y="1163575"/>
            <a:chExt cx="3339552" cy="3339552"/>
          </a:xfrm>
        </p:grpSpPr>
        <p:pic>
          <p:nvPicPr>
            <p:cNvPr id="209" name="Google Shape;209;g339336db4dd_0_2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1079" y="1163575"/>
              <a:ext cx="3339552" cy="33395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g339336db4dd_0_279"/>
            <p:cNvPicPr preferRelativeResize="0"/>
            <p:nvPr/>
          </p:nvPicPr>
          <p:blipFill rotWithShape="1">
            <a:blip r:embed="rId4">
              <a:alphaModFix/>
            </a:blip>
            <a:srcRect b="0" l="0" r="11449" t="0"/>
            <a:stretch/>
          </p:blipFill>
          <p:spPr>
            <a:xfrm>
              <a:off x="3099925" y="2571750"/>
              <a:ext cx="535124" cy="373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1" name="Google Shape;211;g339336db4dd_0_2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6275" y="1230700"/>
            <a:ext cx="1619350" cy="16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39336db4dd_0_2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2427" y="2850050"/>
            <a:ext cx="1703798" cy="18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39336db4dd_0_2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6485288" y="1460400"/>
            <a:ext cx="1130575" cy="11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39336db4dd_0_279"/>
          <p:cNvSpPr/>
          <p:nvPr/>
        </p:nvSpPr>
        <p:spPr>
          <a:xfrm>
            <a:off x="2070922" y="1806825"/>
            <a:ext cx="6966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39336db4dd_0_279"/>
          <p:cNvSpPr/>
          <p:nvPr/>
        </p:nvSpPr>
        <p:spPr>
          <a:xfrm>
            <a:off x="5219522" y="1806825"/>
            <a:ext cx="696600" cy="34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39336db4dd_0_279"/>
          <p:cNvSpPr txBox="1"/>
          <p:nvPr/>
        </p:nvSpPr>
        <p:spPr>
          <a:xfrm>
            <a:off x="508125" y="2610150"/>
            <a:ext cx="161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1.專案下載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7" name="Google Shape;217;g339336db4dd_0_279"/>
          <p:cNvSpPr txBox="1"/>
          <p:nvPr/>
        </p:nvSpPr>
        <p:spPr>
          <a:xfrm>
            <a:off x="3116275" y="2605675"/>
            <a:ext cx="18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2.建立虛擬環境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8" name="Google Shape;218;g339336db4dd_0_279"/>
          <p:cNvSpPr txBox="1"/>
          <p:nvPr/>
        </p:nvSpPr>
        <p:spPr>
          <a:xfrm>
            <a:off x="6549000" y="2610150"/>
            <a:ext cx="18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3.轉檔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9" name="Google Shape;219;g339336db4dd_0_279"/>
          <p:cNvSpPr txBox="1"/>
          <p:nvPr/>
        </p:nvSpPr>
        <p:spPr>
          <a:xfrm>
            <a:off x="5997900" y="4130825"/>
            <a:ext cx="18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zh-TW" sz="1700" u="none" cap="none" strike="noStrike">
                <a:solidFill>
                  <a:srgbClr val="674EA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4.裁切</a:t>
            </a:r>
            <a:endParaRPr b="1" i="0" sz="1700" u="none" cap="none" strike="noStrike">
              <a:solidFill>
                <a:srgbClr val="674EA7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0" name="Google Shape;220;g339336db4dd_0_279"/>
          <p:cNvSpPr/>
          <p:nvPr/>
        </p:nvSpPr>
        <p:spPr>
          <a:xfrm rot="8101047">
            <a:off x="6220963" y="3361091"/>
            <a:ext cx="696430" cy="3461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39336db4dd_0_279" title="tablet08_schoolgirl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6605dac4b0_0_42"/>
          <p:cNvSpPr txBox="1"/>
          <p:nvPr>
            <p:ph type="ctrTitle"/>
          </p:nvPr>
        </p:nvSpPr>
        <p:spPr>
          <a:xfrm>
            <a:off x="725329" y="1681163"/>
            <a:ext cx="61941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專案下載</a:t>
            </a:r>
            <a:endParaRPr/>
          </a:p>
        </p:txBody>
      </p:sp>
      <p:sp>
        <p:nvSpPr>
          <p:cNvPr id="227" name="Google Shape;227;g26605dac4b0_0_42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02</a:t>
            </a:r>
            <a:endParaRPr/>
          </a:p>
        </p:txBody>
      </p:sp>
      <p:sp>
        <p:nvSpPr>
          <p:cNvPr id="228" name="Google Shape;228;g26605dac4b0_0_42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29" name="Google Shape;229;g26605dac4b0_0_4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30" name="Google Shape;230;g26605dac4b0_0_42"/>
          <p:cNvGrpSpPr/>
          <p:nvPr/>
        </p:nvGrpSpPr>
        <p:grpSpPr>
          <a:xfrm>
            <a:off x="6919433" y="3078369"/>
            <a:ext cx="1619349" cy="1498457"/>
            <a:chOff x="1061079" y="1163575"/>
            <a:chExt cx="3339552" cy="3339552"/>
          </a:xfrm>
        </p:grpSpPr>
        <p:pic>
          <p:nvPicPr>
            <p:cNvPr id="231" name="Google Shape;231;g26605dac4b0_0_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1079" y="1163575"/>
              <a:ext cx="3339552" cy="33395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g26605dac4b0_0_42"/>
            <p:cNvPicPr preferRelativeResize="0"/>
            <p:nvPr/>
          </p:nvPicPr>
          <p:blipFill rotWithShape="1">
            <a:blip r:embed="rId4">
              <a:alphaModFix/>
            </a:blip>
            <a:srcRect b="0" l="0" r="11449" t="0"/>
            <a:stretch/>
          </p:blipFill>
          <p:spPr>
            <a:xfrm>
              <a:off x="3099925" y="2571750"/>
              <a:ext cx="535124" cy="37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/>
          <p:nvPr/>
        </p:nvSpPr>
        <p:spPr>
          <a:xfrm>
            <a:off x="748175" y="1115789"/>
            <a:ext cx="7234500" cy="3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	點擊網址: </a:t>
            </a:r>
            <a:r>
              <a:rPr lang="zh-TW" sz="1800" u="sng">
                <a:solidFill>
                  <a:schemeClr val="hlink"/>
                </a:solidFill>
                <a:hlinkClick r:id="rId3"/>
              </a:rPr>
              <a:t>https://github.com/lctung/02-1_crop_paper</a:t>
            </a:r>
            <a:endParaRPr b="0" i="0" sz="25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0" name="Google Shape;240;p9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專案下載</a:t>
            </a:r>
            <a:endParaRPr b="1" sz="3000"/>
          </a:p>
        </p:txBody>
      </p:sp>
      <p:pic>
        <p:nvPicPr>
          <p:cNvPr id="241" name="Google Shape;24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67" y="1571392"/>
            <a:ext cx="6034799" cy="34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/>
          <p:nvPr/>
        </p:nvSpPr>
        <p:spPr>
          <a:xfrm>
            <a:off x="5822817" y="2579800"/>
            <a:ext cx="769500" cy="392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6501649" y="2540651"/>
            <a:ext cx="129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zh-TW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點擊code</a:t>
            </a:r>
            <a:endParaRPr b="0" i="0" sz="12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9" title="tablet08_schoolgir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9" title="shimekiri_report_woma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8667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01" y="1128853"/>
            <a:ext cx="6141026" cy="364582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3" name="Google Shape;253;p1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專案下載</a:t>
            </a:r>
            <a:endParaRPr b="1" sz="3000">
              <a:solidFill>
                <a:srgbClr val="674EA7"/>
              </a:solidFill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166039" y="3568000"/>
            <a:ext cx="1048800" cy="239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5214838" y="3472000"/>
            <a:ext cx="132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zh-TW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下載壓縮檔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0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0" title="shimekiri_report_woma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667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6605dac4b0_0_97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建立虛擬環境</a:t>
            </a:r>
            <a:endParaRPr/>
          </a:p>
        </p:txBody>
      </p:sp>
      <p:sp>
        <p:nvSpPr>
          <p:cNvPr id="263" name="Google Shape;263;g26605dac4b0_0_97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264" name="Google Shape;264;g26605dac4b0_0_97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265" name="Google Shape;265;g26605dac4b0_0_9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66" name="Google Shape;266;g26605dac4b0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350" y="3027775"/>
            <a:ext cx="1619350" cy="16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68d12f926d_0_36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2" name="Google Shape;272;g268d12f926d_0_362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000"/>
              <a:t>建立虛擬環境</a:t>
            </a:r>
            <a:endParaRPr sz="3000"/>
          </a:p>
        </p:txBody>
      </p:sp>
      <p:sp>
        <p:nvSpPr>
          <p:cNvPr id="273" name="Google Shape;273;g268d12f926d_0_362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Char char="●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 Anaconda：</a:t>
            </a:r>
            <a:r>
              <a:rPr lang="zh-TW" sz="1800" u="sng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https://www.anaconda.com/download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點擊 Get Started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74" name="Google Shape;274;g268d12f926d_0_362"/>
          <p:cNvPicPr preferRelativeResize="0"/>
          <p:nvPr/>
        </p:nvPicPr>
        <p:blipFill rotWithShape="1">
          <a:blip r:embed="rId4">
            <a:alphaModFix/>
          </a:blip>
          <a:srcRect b="9910" l="0" r="0" t="0"/>
          <a:stretch/>
        </p:blipFill>
        <p:spPr>
          <a:xfrm>
            <a:off x="1768700" y="1855725"/>
            <a:ext cx="6072868" cy="275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268d12f926d_0_362"/>
          <p:cNvSpPr/>
          <p:nvPr/>
        </p:nvSpPr>
        <p:spPr>
          <a:xfrm>
            <a:off x="5262027" y="3016911"/>
            <a:ext cx="1219200" cy="317700"/>
          </a:xfrm>
          <a:prstGeom prst="rect">
            <a:avLst/>
          </a:prstGeom>
          <a:noFill/>
          <a:ln cap="flat" cmpd="sng" w="31725">
            <a:solidFill>
              <a:srgbClr val="7B6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475" lIns="101475" spcFirstLastPara="1" rIns="101475" wrap="square" tIns="10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4"/>
              <a:buFont typeface="Arial"/>
              <a:buNone/>
            </a:pPr>
            <a:r>
              <a:t/>
            </a:r>
            <a:endParaRPr b="0" i="0" sz="1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268d12f926d_0_362"/>
          <p:cNvSpPr/>
          <p:nvPr/>
        </p:nvSpPr>
        <p:spPr>
          <a:xfrm>
            <a:off x="4655362" y="3016911"/>
            <a:ext cx="450300" cy="31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B67E6"/>
          </a:solidFill>
          <a:ln cap="flat" cmpd="sng" w="10575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475" lIns="101475" spcFirstLastPara="1" rIns="101475" wrap="square" tIns="10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4"/>
          </a:p>
        </p:txBody>
      </p:sp>
      <p:sp>
        <p:nvSpPr>
          <p:cNvPr id="277" name="Google Shape;277;g268d12f926d_0_36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ca45f19b0_1_7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/>
              <a:t>建立虛擬環境</a:t>
            </a:r>
            <a:endParaRPr/>
          </a:p>
        </p:txBody>
      </p:sp>
      <p:sp>
        <p:nvSpPr>
          <p:cNvPr id="283" name="Google Shape;283;g3bca45f19b0_1_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bca45f19b0_1_7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需註冊 Anaconda 帳號才可以下載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85" name="Google Shape;285;g3bca45f19b0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6587" y="1615175"/>
            <a:ext cx="3687726" cy="29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bca45f19b0_1_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ca45f19b0_1_1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g3bca45f19b0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00" y="1627875"/>
            <a:ext cx="3811000" cy="2919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bca45f19b0_1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617" y="1627875"/>
            <a:ext cx="3811006" cy="294662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bca45f19b0_1_14"/>
          <p:cNvSpPr txBox="1"/>
          <p:nvPr/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000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建立虛擬環境</a:t>
            </a:r>
            <a:endParaRPr b="1" sz="3200">
              <a:solidFill>
                <a:srgbClr val="432FA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5" name="Google Shape;295;g3bca45f19b0_1_14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在下載找到執行檔，點兩下執行→Next→I Agree</a:t>
            </a:r>
            <a:endParaRPr sz="18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6" name="Google Shape;296;g3bca45f19b0_1_14"/>
          <p:cNvSpPr/>
          <p:nvPr/>
        </p:nvSpPr>
        <p:spPr>
          <a:xfrm>
            <a:off x="3466649" y="4309799"/>
            <a:ext cx="571500" cy="1761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bca45f19b0_1_14"/>
          <p:cNvSpPr txBox="1"/>
          <p:nvPr/>
        </p:nvSpPr>
        <p:spPr>
          <a:xfrm>
            <a:off x="3549595" y="3993000"/>
            <a:ext cx="405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bca45f19b0_1_14"/>
          <p:cNvSpPr/>
          <p:nvPr/>
        </p:nvSpPr>
        <p:spPr>
          <a:xfrm>
            <a:off x="7477500" y="4320875"/>
            <a:ext cx="571500" cy="1761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bca45f19b0_1_14"/>
          <p:cNvSpPr txBox="1"/>
          <p:nvPr/>
        </p:nvSpPr>
        <p:spPr>
          <a:xfrm>
            <a:off x="7526700" y="4019850"/>
            <a:ext cx="473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zh-TW" sz="1800">
                <a:solidFill>
                  <a:srgbClr val="FF9900"/>
                </a:solidFill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g3bca45f19b0_1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2525" y="289001"/>
            <a:ext cx="3413499" cy="5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bca45f19b0_1_14"/>
          <p:cNvSpPr/>
          <p:nvPr/>
        </p:nvSpPr>
        <p:spPr>
          <a:xfrm>
            <a:off x="5741750" y="908250"/>
            <a:ext cx="405600" cy="305700"/>
          </a:xfrm>
          <a:prstGeom prst="upArrow">
            <a:avLst>
              <a:gd fmla="val 50000" name="adj1"/>
              <a:gd fmla="val 49137" name="adj2"/>
            </a:avLst>
          </a:prstGeom>
          <a:solidFill>
            <a:srgbClr val="FF9900"/>
          </a:solidFill>
          <a:ln cap="flat" cmpd="sng" w="9525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bca45f19b0_1_14"/>
          <p:cNvSpPr txBox="1"/>
          <p:nvPr/>
        </p:nvSpPr>
        <p:spPr>
          <a:xfrm>
            <a:off x="6147354" y="908250"/>
            <a:ext cx="22974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zh-TW" sz="1800">
                <a:solidFill>
                  <a:srgbClr val="FF9900"/>
                </a:solidFill>
              </a:rPr>
              <a:t>1. 在下載中找到.exe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bca45f19b0_1_1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68d12f926d_0_37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9" name="Google Shape;309;g268d12f926d_0_371"/>
          <p:cNvSpPr txBox="1"/>
          <p:nvPr/>
        </p:nvSpPr>
        <p:spPr>
          <a:xfrm>
            <a:off x="795000" y="1139875"/>
            <a:ext cx="75540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搜尋 Anaconda &gt; 打開 Anaconda Prompt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g268d12f926d_0_3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8662" y="1605325"/>
            <a:ext cx="3812586" cy="32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268d12f926d_0_3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799" y="2993100"/>
            <a:ext cx="1778250" cy="152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268d12f926d_0_371"/>
          <p:cNvSpPr/>
          <p:nvPr/>
        </p:nvSpPr>
        <p:spPr>
          <a:xfrm>
            <a:off x="1742369" y="4640968"/>
            <a:ext cx="965400" cy="188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268d12f926d_0_371"/>
          <p:cNvSpPr/>
          <p:nvPr/>
        </p:nvSpPr>
        <p:spPr>
          <a:xfrm>
            <a:off x="3382444" y="3070443"/>
            <a:ext cx="965400" cy="1884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268d12f926d_0_371"/>
          <p:cNvSpPr txBox="1"/>
          <p:nvPr/>
        </p:nvSpPr>
        <p:spPr>
          <a:xfrm>
            <a:off x="1462454" y="4307825"/>
            <a:ext cx="50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zh-TW" sz="15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15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268d12f926d_0_371"/>
          <p:cNvSpPr txBox="1"/>
          <p:nvPr/>
        </p:nvSpPr>
        <p:spPr>
          <a:xfrm>
            <a:off x="3064479" y="2843350"/>
            <a:ext cx="50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zh-TW" sz="15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15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268d12f926d_0_371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000"/>
              <a:t>建立虛擬環境</a:t>
            </a:r>
            <a:endParaRPr sz="3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68d12f926d_0_38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2" name="Google Shape;322;g268d12f926d_0_383"/>
          <p:cNvSpPr txBox="1"/>
          <p:nvPr/>
        </p:nvSpPr>
        <p:spPr>
          <a:xfrm>
            <a:off x="691250" y="1168850"/>
            <a:ext cx="75540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建立虛擬環境 : </a:t>
            </a:r>
            <a:r>
              <a:rPr b="0" i="0" lang="zh-TW" sz="1800" u="none" cap="none" strike="noStrike">
                <a:solidFill>
                  <a:srgbClr val="FF99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conda create --name fontenv python=3.8</a:t>
            </a:r>
            <a:endParaRPr b="0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g268d12f926d_0_383"/>
          <p:cNvPicPr preferRelativeResize="0"/>
          <p:nvPr/>
        </p:nvPicPr>
        <p:blipFill rotWithShape="1">
          <a:blip r:embed="rId3">
            <a:alphaModFix/>
          </a:blip>
          <a:srcRect b="72481" l="536" r="45264" t="0"/>
          <a:stretch/>
        </p:blipFill>
        <p:spPr>
          <a:xfrm>
            <a:off x="740375" y="1741575"/>
            <a:ext cx="4955825" cy="129607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268d12f926d_0_383"/>
          <p:cNvSpPr/>
          <p:nvPr/>
        </p:nvSpPr>
        <p:spPr>
          <a:xfrm>
            <a:off x="2348125" y="1166325"/>
            <a:ext cx="4927500" cy="4311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conda create --name </a:t>
            </a:r>
            <a:r>
              <a:rPr lang="zh-TW" sz="1700" u="none" cap="none" strike="noStrik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fontenv</a:t>
            </a:r>
            <a:r>
              <a:rPr lang="zh-TW" sz="17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python=3.8</a:t>
            </a:r>
            <a:endParaRPr sz="17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" name="Google Shape;325;g268d12f926d_0_383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000"/>
              <a:t>建立虛擬環境</a:t>
            </a:r>
            <a:endParaRPr sz="3000"/>
          </a:p>
        </p:txBody>
      </p:sp>
      <p:sp>
        <p:nvSpPr>
          <p:cNvPr id="326" name="Google Shape;326;g268d12f926d_0_38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g268d12f926d_0_3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325" y="1538823"/>
            <a:ext cx="6665625" cy="34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268d12f926d_0_39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3" name="Google Shape;333;g268d12f926d_0_391"/>
          <p:cNvSpPr txBox="1"/>
          <p:nvPr/>
        </p:nvSpPr>
        <p:spPr>
          <a:xfrm>
            <a:off x="691250" y="1168850"/>
            <a:ext cx="75540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建立虛擬環境 : </a:t>
            </a:r>
            <a:r>
              <a:rPr b="0" i="0" lang="zh-TW" sz="1800" u="none" cap="none" strike="noStrike">
                <a:solidFill>
                  <a:srgbClr val="FF99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conda create --name fontenv python=3.8</a:t>
            </a:r>
            <a:endParaRPr b="0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268d12f926d_0_391"/>
          <p:cNvSpPr/>
          <p:nvPr/>
        </p:nvSpPr>
        <p:spPr>
          <a:xfrm>
            <a:off x="524451" y="1878427"/>
            <a:ext cx="1106100" cy="232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268d12f926d_0_391"/>
          <p:cNvSpPr txBox="1"/>
          <p:nvPr/>
        </p:nvSpPr>
        <p:spPr>
          <a:xfrm>
            <a:off x="1630550" y="17791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zh-TW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輸入 y  (y即yes)</a:t>
            </a:r>
            <a:endParaRPr b="0" i="0" sz="1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68d12f926d_0_391"/>
          <p:cNvSpPr/>
          <p:nvPr/>
        </p:nvSpPr>
        <p:spPr>
          <a:xfrm>
            <a:off x="2314476" y="4302725"/>
            <a:ext cx="423600" cy="232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268d12f926d_0_391"/>
          <p:cNvSpPr txBox="1"/>
          <p:nvPr/>
        </p:nvSpPr>
        <p:spPr>
          <a:xfrm>
            <a:off x="2809325" y="4203425"/>
            <a:ext cx="68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zh-TW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成功</a:t>
            </a:r>
            <a:endParaRPr b="0" i="0" sz="1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268d12f926d_0_391"/>
          <p:cNvSpPr/>
          <p:nvPr/>
        </p:nvSpPr>
        <p:spPr>
          <a:xfrm>
            <a:off x="2348125" y="1166325"/>
            <a:ext cx="5160900" cy="3726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conda create --name </a:t>
            </a:r>
            <a:r>
              <a:rPr lang="zh-TW" sz="1800" u="none" cap="none" strike="noStrik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fontenv</a:t>
            </a:r>
            <a:r>
              <a:rPr lang="zh-TW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python=3.8</a:t>
            </a:r>
            <a:endParaRPr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9" name="Google Shape;339;g268d12f926d_0_391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000"/>
              <a:t>建立虛擬環境</a:t>
            </a:r>
            <a:endParaRPr sz="3000"/>
          </a:p>
        </p:txBody>
      </p:sp>
      <p:sp>
        <p:nvSpPr>
          <p:cNvPr id="340" name="Google Shape;340;g268d12f926d_0_39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d1fcfb232_0_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6" name="Google Shape;346;g3bd1fcfb232_0_0"/>
          <p:cNvSpPr txBox="1"/>
          <p:nvPr/>
        </p:nvSpPr>
        <p:spPr>
          <a:xfrm>
            <a:off x="716400" y="1168850"/>
            <a:ext cx="75540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啟用虛擬環境： </a:t>
            </a:r>
            <a:endParaRPr b="0" i="0" sz="1800" u="none" cap="none" strike="noStrike">
              <a:solidFill>
                <a:srgbClr val="FF99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g3bd1fcfb23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650" y="2012601"/>
            <a:ext cx="6583875" cy="87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bd1fcfb232_0_0"/>
          <p:cNvSpPr/>
          <p:nvPr/>
        </p:nvSpPr>
        <p:spPr>
          <a:xfrm>
            <a:off x="1083650" y="2480225"/>
            <a:ext cx="1184400" cy="431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bd1fcfb232_0_0"/>
          <p:cNvSpPr txBox="1"/>
          <p:nvPr/>
        </p:nvSpPr>
        <p:spPr>
          <a:xfrm>
            <a:off x="716388" y="29079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zh-TW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啟用 fontenv 環境 </a:t>
            </a:r>
            <a:endParaRPr b="0" i="0" sz="14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bd1fcfb232_0_0"/>
          <p:cNvSpPr/>
          <p:nvPr/>
        </p:nvSpPr>
        <p:spPr>
          <a:xfrm>
            <a:off x="2401825" y="1168850"/>
            <a:ext cx="3208200" cy="4311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800">
                <a:latin typeface="Consolas"/>
                <a:ea typeface="Consolas"/>
                <a:cs typeface="Consolas"/>
                <a:sym typeface="Consolas"/>
              </a:rPr>
              <a:t>conda </a:t>
            </a:r>
            <a:r>
              <a:rPr lang="zh-TW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activate </a:t>
            </a:r>
            <a:r>
              <a:rPr lang="zh-TW" sz="1800" u="none" cap="none" strike="noStrik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fontenv</a:t>
            </a:r>
            <a:endParaRPr sz="18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1" name="Google Shape;351;g3bd1fcfb232_0_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000"/>
              <a:t>建立虛擬環境</a:t>
            </a:r>
            <a:endParaRPr sz="3000"/>
          </a:p>
        </p:txBody>
      </p:sp>
      <p:sp>
        <p:nvSpPr>
          <p:cNvPr id="352" name="Google Shape;352;g3bd1fcfb232_0_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d1fcfb232_0_1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58" name="Google Shape;358;g3bd1fcfb232_0_13"/>
          <p:cNvSpPr txBox="1"/>
          <p:nvPr/>
        </p:nvSpPr>
        <p:spPr>
          <a:xfrm>
            <a:off x="716400" y="1168850"/>
            <a:ext cx="75540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TW" sz="1800">
                <a:solidFill>
                  <a:schemeClr val="dk1"/>
                </a:solidFill>
              </a:rPr>
              <a:t>移動至下載的專案資料夾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FF99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bd1fcfb232_0_13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000"/>
              <a:t>建立虛擬環境</a:t>
            </a:r>
            <a:endParaRPr sz="3000"/>
          </a:p>
        </p:txBody>
      </p:sp>
      <p:sp>
        <p:nvSpPr>
          <p:cNvPr id="360" name="Google Shape;360;g3bd1fcfb232_0_1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1" name="Google Shape;361;g3bd1fcfb232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88" y="2200024"/>
            <a:ext cx="8388023" cy="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bd1fcfb232_0_13"/>
          <p:cNvSpPr/>
          <p:nvPr/>
        </p:nvSpPr>
        <p:spPr>
          <a:xfrm>
            <a:off x="3476100" y="1168850"/>
            <a:ext cx="3306000" cy="4311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800">
                <a:latin typeface="Consolas"/>
                <a:ea typeface="Consolas"/>
                <a:cs typeface="Consolas"/>
                <a:sym typeface="Consolas"/>
              </a:rPr>
              <a:t>cd 02-1_crop_paper的路徑</a:t>
            </a:r>
            <a:endParaRPr sz="18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ca45f19b0_1_6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68" name="Google Shape;368;g3bca45f19b0_1_6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69" name="Google Shape;369;g3bca45f19b0_1_63"/>
          <p:cNvSpPr txBox="1"/>
          <p:nvPr/>
        </p:nvSpPr>
        <p:spPr>
          <a:xfrm>
            <a:off x="959900" y="1239425"/>
            <a:ext cx="63129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	</a:t>
            </a:r>
            <a:r>
              <a:rPr lang="zh-TW" sz="1800"/>
              <a:t>使用下列指令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安裝所需套件: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FF99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FF99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FF99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>
                <a:solidFill>
                  <a:srgbClr val="FF9900"/>
                </a:solidFill>
              </a:rPr>
              <a:t>若使用電子檔書寫，請由下列指令額外手動下載套件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bca45f19b0_1_63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3000"/>
              <a:t>建立虛擬環境</a:t>
            </a:r>
            <a:endParaRPr sz="3000"/>
          </a:p>
        </p:txBody>
      </p:sp>
      <p:sp>
        <p:nvSpPr>
          <p:cNvPr id="371" name="Google Shape;371;g3bca45f19b0_1_63"/>
          <p:cNvSpPr/>
          <p:nvPr/>
        </p:nvSpPr>
        <p:spPr>
          <a:xfrm>
            <a:off x="959900" y="1712700"/>
            <a:ext cx="3760500" cy="4800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pip install -r requirements.txt</a:t>
            </a:r>
            <a:endParaRPr sz="16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g3bca45f19b0_1_63"/>
          <p:cNvSpPr/>
          <p:nvPr/>
        </p:nvSpPr>
        <p:spPr>
          <a:xfrm>
            <a:off x="959900" y="3058725"/>
            <a:ext cx="4487100" cy="9333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1600">
                <a:latin typeface="Consolas"/>
                <a:ea typeface="Consolas"/>
                <a:cs typeface="Consolas"/>
                <a:sym typeface="Consolas"/>
              </a:rPr>
              <a:t>pip install pdf2image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1600">
                <a:latin typeface="Consolas"/>
                <a:ea typeface="Consolas"/>
                <a:cs typeface="Consolas"/>
                <a:sym typeface="Consolas"/>
              </a:rPr>
              <a:t>conda install -c conda-forge poppler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6605dac4b0_0_12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旋轉校正-紙本</a:t>
            </a:r>
            <a:endParaRPr/>
          </a:p>
        </p:txBody>
      </p:sp>
      <p:sp>
        <p:nvSpPr>
          <p:cNvPr id="378" name="Google Shape;378;g26605dac4b0_0_12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04.a</a:t>
            </a:r>
            <a:endParaRPr/>
          </a:p>
        </p:txBody>
      </p:sp>
      <p:sp>
        <p:nvSpPr>
          <p:cNvPr id="379" name="Google Shape;379;g26605dac4b0_0_12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80" name="Google Shape;380;g26605dac4b0_0_12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81" name="Google Shape;381;g26605dac4b0_0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7494013" y="3510250"/>
            <a:ext cx="1130575" cy="11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"/>
          <p:cNvSpPr txBox="1"/>
          <p:nvPr/>
        </p:nvSpPr>
        <p:spPr>
          <a:xfrm>
            <a:off x="1007700" y="1133200"/>
            <a:ext cx="7128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	資料準備: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進入01-2_crop_paper資料夾。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將寫完字的掃描檔案放在以學號命名文件夾底下：</a:t>
            </a:r>
            <a:endParaRPr sz="18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9900"/>
                </a:solidFill>
              </a:rPr>
              <a:t>{</a:t>
            </a:r>
            <a:r>
              <a:rPr b="0" i="0" lang="zh-TW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學號</a:t>
            </a:r>
            <a:r>
              <a:rPr lang="zh-TW" sz="1800">
                <a:solidFill>
                  <a:srgbClr val="FF9900"/>
                </a:solidFill>
              </a:rPr>
              <a:t>}_{稿紙標題}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\ 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每一張掃描檔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檔名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.jpg  (以11</a:t>
            </a:r>
            <a:r>
              <a:rPr lang="zh-TW" sz="1800">
                <a:solidFill>
                  <a:schemeClr val="dk1"/>
                </a:solidFill>
              </a:rPr>
              <a:t>4598033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為例)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388" name="Google Shape;388;p2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9" name="Google Shape;389;p2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旋轉校正稿紙</a:t>
            </a:r>
            <a:endParaRPr b="1" sz="3000"/>
          </a:p>
        </p:txBody>
      </p:sp>
      <p:sp>
        <p:nvSpPr>
          <p:cNvPr id="390" name="Google Shape;390;p20"/>
          <p:cNvSpPr txBox="1"/>
          <p:nvPr/>
        </p:nvSpPr>
        <p:spPr>
          <a:xfrm>
            <a:off x="610675" y="3631425"/>
            <a:ext cx="287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zh-TW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以</a:t>
            </a:r>
            <a:r>
              <a:rPr b="1" lang="zh-TW">
                <a:solidFill>
                  <a:srgbClr val="FF9900"/>
                </a:solidFill>
              </a:rPr>
              <a:t>{學號}_{稿紙標題}</a:t>
            </a:r>
            <a:r>
              <a:rPr b="1" i="0" lang="zh-TW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命名的文件夾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700" y="3230575"/>
            <a:ext cx="7272041" cy="31390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0"/>
          <p:cNvSpPr/>
          <p:nvPr/>
        </p:nvSpPr>
        <p:spPr>
          <a:xfrm flipH="1" rot="10800000">
            <a:off x="988225" y="3203175"/>
            <a:ext cx="2119200" cy="3687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20" title="shimekiri_report_woma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2025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775" y="1114625"/>
            <a:ext cx="8483425" cy="328968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00" name="Google Shape;400;p2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1" name="Google Shape;401;p21"/>
          <p:cNvSpPr/>
          <p:nvPr/>
        </p:nvSpPr>
        <p:spPr>
          <a:xfrm>
            <a:off x="5192025" y="3380078"/>
            <a:ext cx="1011600" cy="276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1"/>
          <p:cNvSpPr txBox="1"/>
          <p:nvPr/>
        </p:nvSpPr>
        <p:spPr>
          <a:xfrm>
            <a:off x="6203625" y="3230100"/>
            <a:ext cx="204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副檔名為 .jpg !</a:t>
            </a:r>
            <a:endParaRPr b="0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644300" y="1283825"/>
            <a:ext cx="6221700" cy="3048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1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旋轉校正稿紙</a:t>
            </a:r>
            <a:endParaRPr b="1" sz="3000"/>
          </a:p>
        </p:txBody>
      </p:sp>
      <p:pic>
        <p:nvPicPr>
          <p:cNvPr id="405" name="Google Shape;405;p21" title="shimekiri_report_woma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2025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68d12f926d_0_4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11" name="Google Shape;411;g268d12f926d_0_4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2" name="Google Shape;412;g268d12f926d_0_44"/>
          <p:cNvSpPr txBox="1"/>
          <p:nvPr/>
        </p:nvSpPr>
        <p:spPr>
          <a:xfrm>
            <a:off x="558750" y="1159650"/>
            <a:ext cx="80265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利用在命令提示字元裡利用               移動至s1_rotate_page.py 所在路徑，並</a:t>
            </a:r>
            <a:r>
              <a:rPr lang="zh-TW" sz="1800"/>
              <a:t>選擇任一指令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執行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268d12f926d_0_44"/>
          <p:cNvSpPr/>
          <p:nvPr/>
        </p:nvSpPr>
        <p:spPr>
          <a:xfrm>
            <a:off x="715025" y="2465400"/>
            <a:ext cx="3273000" cy="4311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s1_rotate_page.py</a:t>
            </a:r>
            <a:endParaRPr sz="18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14" name="Google Shape;414;g268d12f926d_0_44"/>
          <p:cNvGrpSpPr/>
          <p:nvPr/>
        </p:nvGrpSpPr>
        <p:grpSpPr>
          <a:xfrm>
            <a:off x="807225" y="3140897"/>
            <a:ext cx="8026451" cy="1465415"/>
            <a:chOff x="807225" y="2310372"/>
            <a:chExt cx="8026451" cy="1465415"/>
          </a:xfrm>
        </p:grpSpPr>
        <p:pic>
          <p:nvPicPr>
            <p:cNvPr id="415" name="Google Shape;415;g268d12f926d_0_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7225" y="2310372"/>
              <a:ext cx="8026451" cy="14654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g268d12f926d_0_44"/>
            <p:cNvPicPr preferRelativeResize="0"/>
            <p:nvPr/>
          </p:nvPicPr>
          <p:blipFill rotWithShape="1">
            <a:blip r:embed="rId4">
              <a:alphaModFix/>
            </a:blip>
            <a:srcRect b="64960" l="911" r="87008" t="4681"/>
            <a:stretch/>
          </p:blipFill>
          <p:spPr>
            <a:xfrm>
              <a:off x="807225" y="2310375"/>
              <a:ext cx="542174" cy="17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" name="Google Shape;417;g268d12f926d_0_44"/>
          <p:cNvSpPr/>
          <p:nvPr/>
        </p:nvSpPr>
        <p:spPr>
          <a:xfrm>
            <a:off x="1339425" y="3140900"/>
            <a:ext cx="5343300" cy="2403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268d12f926d_0_44"/>
          <p:cNvSpPr/>
          <p:nvPr/>
        </p:nvSpPr>
        <p:spPr>
          <a:xfrm>
            <a:off x="3910425" y="1163425"/>
            <a:ext cx="819600" cy="4617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cd …</a:t>
            </a:r>
            <a:endParaRPr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9" name="Google Shape;419;g268d12f926d_0_44"/>
          <p:cNvSpPr txBox="1"/>
          <p:nvPr/>
        </p:nvSpPr>
        <p:spPr>
          <a:xfrm>
            <a:off x="6251575" y="2646675"/>
            <a:ext cx="25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確認目前環境以及路徑!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268d12f926d_0_44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旋轉校正稿紙</a:t>
            </a:r>
            <a:endParaRPr b="1" sz="3000"/>
          </a:p>
        </p:txBody>
      </p:sp>
      <p:sp>
        <p:nvSpPr>
          <p:cNvPr id="421" name="Google Shape;421;g268d12f926d_0_44"/>
          <p:cNvSpPr/>
          <p:nvPr/>
        </p:nvSpPr>
        <p:spPr>
          <a:xfrm>
            <a:off x="715025" y="1920350"/>
            <a:ext cx="5570700" cy="4311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</a:t>
            </a:r>
            <a:r>
              <a:rPr lang="zh-TW" sz="1800">
                <a:latin typeface="Consolas"/>
                <a:ea typeface="Consolas"/>
                <a:cs typeface="Consolas"/>
                <a:sym typeface="Consolas"/>
              </a:rPr>
              <a:t>–name {資料夾名稱} s1</a:t>
            </a:r>
            <a:r>
              <a:rPr lang="zh-TW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_rotate_page.py</a:t>
            </a:r>
            <a:endParaRPr sz="18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2" name="Google Shape;422;g268d12f926d_0_44" title="shimekiri_report_woma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2025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28" name="Google Shape;428;p2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9" name="Google Shape;429;p23"/>
          <p:cNvSpPr txBox="1"/>
          <p:nvPr/>
        </p:nvSpPr>
        <p:spPr>
          <a:xfrm>
            <a:off x="1007700" y="1168525"/>
            <a:ext cx="69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成功執行後</a:t>
            </a:r>
            <a:r>
              <a:rPr lang="zh-TW" sz="1800">
                <a:solidFill>
                  <a:schemeClr val="dk1"/>
                </a:solidFill>
              </a:rPr>
              <a:t>，檔案存於 rotated_{原始檔名} 的資料夾中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3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旋轉校正稿紙</a:t>
            </a:r>
            <a:endParaRPr b="1" sz="3000"/>
          </a:p>
        </p:txBody>
      </p:sp>
      <p:pic>
        <p:nvPicPr>
          <p:cNvPr id="431" name="Google Shape;431;p23"/>
          <p:cNvPicPr preferRelativeResize="0"/>
          <p:nvPr/>
        </p:nvPicPr>
        <p:blipFill rotWithShape="1">
          <a:blip r:embed="rId3">
            <a:alphaModFix/>
          </a:blip>
          <a:srcRect b="0" l="7063" r="0" t="0"/>
          <a:stretch/>
        </p:blipFill>
        <p:spPr>
          <a:xfrm>
            <a:off x="2277025" y="2121051"/>
            <a:ext cx="4589951" cy="249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8800" y="1697275"/>
            <a:ext cx="6963301" cy="3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3" title="shimekiri_report_woma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2025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c133089727_0_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39" name="Google Shape;439;g2c133089727_0_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0" name="Google Shape;440;g2c133089727_0_1"/>
          <p:cNvSpPr/>
          <p:nvPr/>
        </p:nvSpPr>
        <p:spPr>
          <a:xfrm>
            <a:off x="1155550" y="2437975"/>
            <a:ext cx="3771000" cy="17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2c133089727_0_1"/>
          <p:cNvSpPr/>
          <p:nvPr/>
        </p:nvSpPr>
        <p:spPr>
          <a:xfrm>
            <a:off x="1155550" y="2039275"/>
            <a:ext cx="3771000" cy="17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2c133089727_0_1"/>
          <p:cNvSpPr txBox="1"/>
          <p:nvPr/>
        </p:nvSpPr>
        <p:spPr>
          <a:xfrm>
            <a:off x="715025" y="1180450"/>
            <a:ext cx="69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檢查旋轉後檔案數量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g2c133089727_0_1"/>
          <p:cNvPicPr preferRelativeResize="0"/>
          <p:nvPr/>
        </p:nvPicPr>
        <p:blipFill rotWithShape="1">
          <a:blip r:embed="rId3">
            <a:alphaModFix/>
          </a:blip>
          <a:srcRect b="26600" l="0" r="0" t="0"/>
          <a:stretch/>
        </p:blipFill>
        <p:spPr>
          <a:xfrm>
            <a:off x="3023200" y="1212775"/>
            <a:ext cx="4110349" cy="37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2c133089727_0_1"/>
          <p:cNvSpPr/>
          <p:nvPr/>
        </p:nvSpPr>
        <p:spPr>
          <a:xfrm>
            <a:off x="4024000" y="3597875"/>
            <a:ext cx="1367400" cy="218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2c133089727_0_1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旋轉校正稿紙</a:t>
            </a:r>
            <a:endParaRPr b="1" sz="3000"/>
          </a:p>
        </p:txBody>
      </p:sp>
      <p:pic>
        <p:nvPicPr>
          <p:cNvPr id="446" name="Google Shape;446;g2c133089727_0_1" title="shimekiri_report_woma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2025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39336db4dd_0_379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轉檔</a:t>
            </a:r>
            <a:r>
              <a:rPr lang="zh-TW"/>
              <a:t>校正-電子檔(pdf)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 sz="2400"/>
              <a:t>使用pdf2image轉檔</a:t>
            </a:r>
            <a:endParaRPr sz="2400"/>
          </a:p>
        </p:txBody>
      </p:sp>
      <p:sp>
        <p:nvSpPr>
          <p:cNvPr id="452" name="Google Shape;452;g339336db4dd_0_379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04.b-1</a:t>
            </a:r>
            <a:endParaRPr/>
          </a:p>
        </p:txBody>
      </p:sp>
      <p:sp>
        <p:nvSpPr>
          <p:cNvPr id="453" name="Google Shape;453;g339336db4dd_0_379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54" name="Google Shape;454;g339336db4dd_0_37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55" name="Google Shape;455;g339336db4dd_0_3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7494013" y="3510250"/>
            <a:ext cx="1130575" cy="11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39336db4dd_0_387"/>
          <p:cNvSpPr txBox="1"/>
          <p:nvPr/>
        </p:nvSpPr>
        <p:spPr>
          <a:xfrm>
            <a:off x="1007700" y="1184388"/>
            <a:ext cx="7128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rgbClr val="000000"/>
                </a:solidFill>
              </a:rPr>
              <a:t>資料準備</a:t>
            </a:r>
            <a:endParaRPr b="1" i="0" sz="1800" u="none" cap="none" strike="noStrike"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打開</a:t>
            </a:r>
            <a:r>
              <a:rPr lang="zh-TW" sz="1800"/>
              <a:t> 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zh-TW" sz="1800"/>
              <a:t>2-1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_crop_paper</a:t>
            </a:r>
            <a:r>
              <a:rPr lang="zh-TW" sz="1800"/>
              <a:t> 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的資料夾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將寫完字的pdf檔案放入資料夾內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39336db4dd_0_38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62" name="Google Shape;462;g339336db4dd_0_38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63" name="Google Shape;463;g339336db4dd_0_387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稿紙pdf轉換png檔</a:t>
            </a:r>
            <a:endParaRPr b="1" sz="3000"/>
          </a:p>
        </p:txBody>
      </p:sp>
      <p:sp>
        <p:nvSpPr>
          <p:cNvPr id="464" name="Google Shape;464;g339336db4dd_0_387"/>
          <p:cNvSpPr txBox="1"/>
          <p:nvPr/>
        </p:nvSpPr>
        <p:spPr>
          <a:xfrm>
            <a:off x="752600" y="3573975"/>
            <a:ext cx="38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zh-TW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以</a:t>
            </a:r>
            <a:r>
              <a:rPr b="1" lang="zh-TW" sz="1600">
                <a:solidFill>
                  <a:srgbClr val="FF9900"/>
                </a:solidFill>
              </a:rPr>
              <a:t> {</a:t>
            </a:r>
            <a:r>
              <a:rPr b="1" i="0" lang="zh-TW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學號</a:t>
            </a:r>
            <a:r>
              <a:rPr b="1" lang="zh-TW" sz="1600">
                <a:solidFill>
                  <a:srgbClr val="FF9900"/>
                </a:solidFill>
              </a:rPr>
              <a:t>}_{姓名}_{稿紙名稱} </a:t>
            </a:r>
            <a:r>
              <a:rPr b="1" i="0" lang="zh-TW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命名的pdf</a:t>
            </a:r>
            <a:endParaRPr b="1" i="0" sz="12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g339336db4dd_0_3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00" y="2401402"/>
            <a:ext cx="7638799" cy="10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g339336db4dd_0_387"/>
          <p:cNvSpPr/>
          <p:nvPr/>
        </p:nvSpPr>
        <p:spPr>
          <a:xfrm>
            <a:off x="866624" y="3123150"/>
            <a:ext cx="2714400" cy="304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g339336db4dd_0_387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g339336db4dd_0_4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213" y="2806350"/>
            <a:ext cx="6749625" cy="8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339336db4dd_0_463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74" name="Google Shape;474;g339336db4dd_0_463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5" name="Google Shape;475;g339336db4dd_0_463"/>
          <p:cNvSpPr txBox="1"/>
          <p:nvPr/>
        </p:nvSpPr>
        <p:spPr>
          <a:xfrm>
            <a:off x="931725" y="1386075"/>
            <a:ext cx="7128600" cy="1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	前面環境建置時</a:t>
            </a:r>
            <a:r>
              <a:rPr lang="zh-TW" sz="1800"/>
              <a:t>，有安裝</a:t>
            </a:r>
            <a:r>
              <a:rPr b="0" i="0" lang="zh-TW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poppler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，</a:t>
            </a:r>
            <a:r>
              <a:rPr lang="zh-TW" sz="1800">
                <a:solidFill>
                  <a:schemeClr val="dk1"/>
                </a:solidFill>
              </a:rPr>
              <a:t>請至檔案總管找出 poppler 的安裝位置，將路徑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寫入</a:t>
            </a:r>
            <a:r>
              <a:rPr lang="zh-TW" sz="1800">
                <a:solidFill>
                  <a:schemeClr val="dk1"/>
                </a:solidFill>
              </a:rPr>
              <a:t> </a:t>
            </a:r>
            <a:r>
              <a:rPr lang="zh-TW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s1_pdf2png.py</a:t>
            </a:r>
            <a:r>
              <a:rPr lang="zh-TW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程式碼中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>
                <a:solidFill>
                  <a:schemeClr val="dk1"/>
                </a:solidFill>
              </a:rPr>
              <a:t>(註：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因為該套件的位置不會被自動抓取，需要手動設定位置</a:t>
            </a:r>
            <a:r>
              <a:rPr lang="zh-TW" sz="1800">
                <a:solidFill>
                  <a:schemeClr val="dk1"/>
                </a:solidFill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39336db4dd_0_463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稿紙pdf轉換png檔</a:t>
            </a:r>
            <a:endParaRPr b="1" sz="3000"/>
          </a:p>
        </p:txBody>
      </p:sp>
      <p:sp>
        <p:nvSpPr>
          <p:cNvPr id="477" name="Google Shape;477;g339336db4dd_0_463"/>
          <p:cNvSpPr/>
          <p:nvPr/>
        </p:nvSpPr>
        <p:spPr>
          <a:xfrm>
            <a:off x="3013763" y="3222375"/>
            <a:ext cx="4741500" cy="304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39336db4dd_0_463"/>
          <p:cNvSpPr txBox="1"/>
          <p:nvPr/>
        </p:nvSpPr>
        <p:spPr>
          <a:xfrm>
            <a:off x="5693450" y="3627250"/>
            <a:ext cx="2177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基本上應該會在這個地方</a:t>
            </a:r>
            <a:endParaRPr/>
          </a:p>
        </p:txBody>
      </p:sp>
      <p:pic>
        <p:nvPicPr>
          <p:cNvPr id="479" name="Google Shape;479;g339336db4dd_0_463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39336db4dd_0_40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485" name="Google Shape;485;g339336db4dd_0_40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6" name="Google Shape;486;g339336db4dd_0_409"/>
          <p:cNvSpPr txBox="1"/>
          <p:nvPr/>
        </p:nvSpPr>
        <p:spPr>
          <a:xfrm>
            <a:off x="931700" y="1108600"/>
            <a:ext cx="787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執行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39336db4dd_0_409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稿紙pdf轉換png檔</a:t>
            </a:r>
            <a:endParaRPr sz="3000">
              <a:solidFill>
                <a:srgbClr val="FF0000"/>
              </a:solidFill>
            </a:endParaRPr>
          </a:p>
        </p:txBody>
      </p:sp>
      <p:sp>
        <p:nvSpPr>
          <p:cNvPr id="488" name="Google Shape;488;g339336db4dd_0_409"/>
          <p:cNvSpPr/>
          <p:nvPr/>
        </p:nvSpPr>
        <p:spPr>
          <a:xfrm>
            <a:off x="1675875" y="1123900"/>
            <a:ext cx="3025200" cy="4311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s1_pdf2png.py</a:t>
            </a:r>
            <a:endParaRPr sz="18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g339336db4dd_0_409"/>
          <p:cNvSpPr txBox="1"/>
          <p:nvPr/>
        </p:nvSpPr>
        <p:spPr>
          <a:xfrm>
            <a:off x="931725" y="1625950"/>
            <a:ext cx="75180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根據需求輸入：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pdf</a:t>
            </a:r>
            <a:r>
              <a:rPr lang="zh-TW" sz="1800">
                <a:solidFill>
                  <a:schemeClr val="dk1"/>
                </a:solidFill>
              </a:rPr>
              <a:t> 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檔的位置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圖片要存的資料夾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需要的起始跟結束頁碼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339336db4dd_0_4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25" y="3099099"/>
            <a:ext cx="8221148" cy="109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g339336db4dd_0_409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bd7012ed66_0_9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000"/>
              <a:t>稿紙pdf轉換png檔</a:t>
            </a:r>
            <a:endParaRPr/>
          </a:p>
        </p:txBody>
      </p:sp>
      <p:sp>
        <p:nvSpPr>
          <p:cNvPr id="497" name="Google Shape;497;g3bd7012ed66_0_9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bd7012ed66_0_9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99" name="Google Shape;499;g3bd7012ed66_0_9" title="螢幕擷取畫面 2026-02-09 144344.png"/>
          <p:cNvPicPr preferRelativeResize="0"/>
          <p:nvPr/>
        </p:nvPicPr>
        <p:blipFill rotWithShape="1">
          <a:blip r:embed="rId3">
            <a:alphaModFix/>
          </a:blip>
          <a:srcRect b="0" l="0" r="42270" t="0"/>
          <a:stretch/>
        </p:blipFill>
        <p:spPr>
          <a:xfrm>
            <a:off x="4115725" y="1470150"/>
            <a:ext cx="2883348" cy="25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bd7012ed66_0_9"/>
          <p:cNvSpPr txBox="1"/>
          <p:nvPr/>
        </p:nvSpPr>
        <p:spPr>
          <a:xfrm>
            <a:off x="661075" y="1125138"/>
            <a:ext cx="7518000" cy="1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如何取得路徑？</a:t>
            </a:r>
            <a:endParaRPr sz="18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[右鍵] -&gt; [複製路徑]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如果沒看到複製路徑</a:t>
            </a:r>
            <a:endParaRPr sz="18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點選 [顯示其他選項]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或者點選 [內容] -&gt; [位置]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01" name="Google Shape;501;g3bd7012ed66_0_9"/>
          <p:cNvPicPr preferRelativeResize="0"/>
          <p:nvPr/>
        </p:nvPicPr>
        <p:blipFill rotWithShape="1">
          <a:blip r:embed="rId4">
            <a:alphaModFix/>
          </a:blip>
          <a:srcRect b="48141" l="0" r="0" t="0"/>
          <a:stretch/>
        </p:blipFill>
        <p:spPr>
          <a:xfrm>
            <a:off x="931725" y="2937201"/>
            <a:ext cx="2811105" cy="188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bd7012ed66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1372" y="789925"/>
            <a:ext cx="2403378" cy="356365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g3bd7012ed66_0_9"/>
          <p:cNvSpPr/>
          <p:nvPr/>
        </p:nvSpPr>
        <p:spPr>
          <a:xfrm>
            <a:off x="6381325" y="2408975"/>
            <a:ext cx="2403300" cy="2823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bd7012ed66_0_9"/>
          <p:cNvSpPr/>
          <p:nvPr/>
        </p:nvSpPr>
        <p:spPr>
          <a:xfrm>
            <a:off x="6381413" y="3617238"/>
            <a:ext cx="2403300" cy="2823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bd7012ed66_0_9"/>
          <p:cNvSpPr/>
          <p:nvPr/>
        </p:nvSpPr>
        <p:spPr>
          <a:xfrm>
            <a:off x="957295" y="3982375"/>
            <a:ext cx="2703600" cy="2295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6" name="Google Shape;506;g3bd7012ed66_0_9" title="tablet08_schoolgir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39336db4dd_0_482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pic>
        <p:nvPicPr>
          <p:cNvPr id="512" name="Google Shape;512;g339336db4dd_0_482"/>
          <p:cNvPicPr preferRelativeResize="0"/>
          <p:nvPr/>
        </p:nvPicPr>
        <p:blipFill rotWithShape="1">
          <a:blip r:embed="rId3">
            <a:alphaModFix/>
          </a:blip>
          <a:srcRect b="0" l="1550" r="2166" t="1390"/>
          <a:stretch/>
        </p:blipFill>
        <p:spPr>
          <a:xfrm>
            <a:off x="4384275" y="618700"/>
            <a:ext cx="2929150" cy="384737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39336db4dd_0_482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14" name="Google Shape;514;g339336db4dd_0_482"/>
          <p:cNvSpPr txBox="1"/>
          <p:nvPr/>
        </p:nvSpPr>
        <p:spPr>
          <a:xfrm>
            <a:off x="715025" y="1172300"/>
            <a:ext cx="69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成功後會有稿紙轉換成png的檔案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39336db4dd_0_482"/>
          <p:cNvSpPr/>
          <p:nvPr/>
        </p:nvSpPr>
        <p:spPr>
          <a:xfrm>
            <a:off x="5124825" y="2406100"/>
            <a:ext cx="1367400" cy="218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39336db4dd_0_482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旋轉校正稿紙</a:t>
            </a:r>
            <a:endParaRPr b="1" sz="3000"/>
          </a:p>
        </p:txBody>
      </p:sp>
      <p:pic>
        <p:nvPicPr>
          <p:cNvPr id="517" name="Google Shape;517;g339336db4dd_0_482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bd7012ed66_0_55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轉檔</a:t>
            </a:r>
            <a:r>
              <a:rPr lang="zh-TW"/>
              <a:t>校正-電子檔(pdf)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 sz="2400"/>
              <a:t>使用batch file轉檔</a:t>
            </a:r>
            <a:endParaRPr sz="2400"/>
          </a:p>
        </p:txBody>
      </p:sp>
      <p:sp>
        <p:nvSpPr>
          <p:cNvPr id="523" name="Google Shape;523;g3bd7012ed66_0_55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04.b-2</a:t>
            </a:r>
            <a:endParaRPr/>
          </a:p>
        </p:txBody>
      </p:sp>
      <p:sp>
        <p:nvSpPr>
          <p:cNvPr id="524" name="Google Shape;524;g3bd7012ed66_0_55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25" name="Google Shape;525;g3bd7012ed66_0_5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26" name="Google Shape;526;g3bd7012ed66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7494013" y="3510250"/>
            <a:ext cx="1130575" cy="11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bd7012ed66_0_24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pdf2png.bat</a:t>
            </a:r>
            <a:endParaRPr/>
          </a:p>
        </p:txBody>
      </p:sp>
      <p:sp>
        <p:nvSpPr>
          <p:cNvPr id="532" name="Google Shape;532;g3bd7012ed66_0_2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bd7012ed66_0_2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34" name="Google Shape;534;g3bd7012ed66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338" y="2571750"/>
            <a:ext cx="6824649" cy="2394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bd7012ed66_0_24"/>
          <p:cNvSpPr txBox="1"/>
          <p:nvPr/>
        </p:nvSpPr>
        <p:spPr>
          <a:xfrm>
            <a:off x="369100" y="1163975"/>
            <a:ext cx="439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AutoNum type="arabicPeriod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位置 </a:t>
            </a: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/02-1</a:t>
            </a: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_crop_paper/rotation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AutoNum type="arabicPeriod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將要轉檔的所有稿紙放入 rotation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AutoNum type="arabicPeriod"/>
            </a:pPr>
            <a:r>
              <a:rPr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按兩下 pdf2png.bat</a:t>
            </a:r>
            <a:endParaRPr sz="1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36" name="Google Shape;536;g3bd7012ed66_0_24"/>
          <p:cNvPicPr preferRelativeResize="0"/>
          <p:nvPr/>
        </p:nvPicPr>
        <p:blipFill rotWithShape="1">
          <a:blip r:embed="rId4">
            <a:alphaModFix/>
          </a:blip>
          <a:srcRect b="13599" l="0" r="0" t="0"/>
          <a:stretch/>
        </p:blipFill>
        <p:spPr>
          <a:xfrm>
            <a:off x="4768650" y="1172038"/>
            <a:ext cx="4190600" cy="1276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3bd7012ed66_0_24"/>
          <p:cNvSpPr/>
          <p:nvPr/>
        </p:nvSpPr>
        <p:spPr>
          <a:xfrm>
            <a:off x="1171244" y="4550675"/>
            <a:ext cx="1092300" cy="369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bd7012ed66_0_24"/>
          <p:cNvSpPr txBox="1"/>
          <p:nvPr/>
        </p:nvSpPr>
        <p:spPr>
          <a:xfrm>
            <a:off x="7441425" y="803050"/>
            <a:ext cx="13572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9900"/>
                </a:solidFill>
              </a:rPr>
              <a:t>轉檔中......</a:t>
            </a:r>
            <a:endParaRPr>
              <a:solidFill>
                <a:srgbClr val="FF9900"/>
              </a:solidFill>
            </a:endParaRPr>
          </a:p>
        </p:txBody>
      </p:sp>
      <p:pic>
        <p:nvPicPr>
          <p:cNvPr id="539" name="Google Shape;539;g3bd7012ed66_0_24" title="tablet08_schoolgir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d7012ed66_0_36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pdf2png.bat</a:t>
            </a:r>
            <a:endParaRPr/>
          </a:p>
        </p:txBody>
      </p:sp>
      <p:sp>
        <p:nvSpPr>
          <p:cNvPr id="545" name="Google Shape;545;g3bd7012ed66_0_36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bd7012ed66_0_3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47" name="Google Shape;547;g3bd7012ed66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225" y="1886325"/>
            <a:ext cx="5388451" cy="24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g3bd7012ed66_0_36"/>
          <p:cNvSpPr txBox="1"/>
          <p:nvPr/>
        </p:nvSpPr>
        <p:spPr>
          <a:xfrm>
            <a:off x="715025" y="1312963"/>
            <a:ext cx="1714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4.</a:t>
            </a:r>
            <a:r>
              <a:rPr lang="zh-TW" sz="2000"/>
              <a:t> 轉檔成功</a:t>
            </a:r>
            <a:endParaRPr sz="2000"/>
          </a:p>
        </p:txBody>
      </p:sp>
      <p:sp>
        <p:nvSpPr>
          <p:cNvPr id="549" name="Google Shape;549;g3bd7012ed66_0_36"/>
          <p:cNvSpPr/>
          <p:nvPr/>
        </p:nvSpPr>
        <p:spPr>
          <a:xfrm>
            <a:off x="1905000" y="1774025"/>
            <a:ext cx="5869800" cy="1166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bd7012ed66_0_36"/>
          <p:cNvSpPr txBox="1"/>
          <p:nvPr/>
        </p:nvSpPr>
        <p:spPr>
          <a:xfrm>
            <a:off x="5667375" y="1358025"/>
            <a:ext cx="2047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FF9900"/>
                </a:solidFill>
              </a:rPr>
              <a:t>可以一次轉多份稿紙</a:t>
            </a:r>
            <a:endParaRPr sz="1600">
              <a:solidFill>
                <a:srgbClr val="FF9900"/>
              </a:solidFill>
            </a:endParaRPr>
          </a:p>
        </p:txBody>
      </p:sp>
      <p:pic>
        <p:nvPicPr>
          <p:cNvPr id="551" name="Google Shape;551;g3bd7012ed66_0_36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bd7012ed66_0_47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pdf2png.bat 執行失敗解決方法</a:t>
            </a:r>
            <a:endParaRPr/>
          </a:p>
        </p:txBody>
      </p:sp>
      <p:sp>
        <p:nvSpPr>
          <p:cNvPr id="557" name="Google Shape;557;g3bd7012ed66_0_4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bd7012ed66_0_4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9" name="Google Shape;559;g3bd7012ed66_0_47"/>
          <p:cNvSpPr txBox="1"/>
          <p:nvPr/>
        </p:nvSpPr>
        <p:spPr>
          <a:xfrm>
            <a:off x="425700" y="1368750"/>
            <a:ext cx="82926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操作步驟：</a:t>
            </a:r>
            <a:endParaRPr b="1"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 </a:t>
            </a:r>
            <a:r>
              <a:rPr lang="zh-TW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pdftoppm.exe 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所在位置，是否在以下路徑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 "POPPLER_BIN=C:\Users\LAB1223\anaconda3\envs\fontenv\Library\bin\pdftoppm.exe"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Microsoft JhengHei"/>
              <a:buAutoNum type="arabicPeriod"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在電腦教室用 </a:t>
            </a: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記事本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開啟你的 </a:t>
            </a:r>
            <a:r>
              <a:rPr lang="zh-TW" sz="1800">
                <a:solidFill>
                  <a:srgbClr val="FF99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.bat 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檔案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AutoNum type="arabicPeriod"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點選 </a:t>
            </a: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檔案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-&gt; </a:t>
            </a: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另存新檔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AutoNum type="arabicPeriod"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在下方的 </a:t>
            </a:r>
            <a:r>
              <a:rPr b="1"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編碼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下拉選單中，選擇 </a:t>
            </a:r>
            <a:r>
              <a:rPr b="1" lang="zh-TW" sz="1800">
                <a:solidFill>
                  <a:srgbClr val="FF99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ANSI</a:t>
            </a:r>
            <a:endParaRPr sz="1800">
              <a:solidFill>
                <a:srgbClr val="FF99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AutoNum type="arabicPeriod"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存檔並覆蓋原檔，再次執行</a:t>
            </a:r>
            <a:endParaRPr sz="23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60" name="Google Shape;560;g3bd7012ed66_0_47" title="tablet08_schoolgir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68d12f926d_0_101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切割稿紙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t/>
            </a:r>
            <a:endParaRPr/>
          </a:p>
        </p:txBody>
      </p:sp>
      <p:sp>
        <p:nvSpPr>
          <p:cNvPr id="566" name="Google Shape;566;g268d12f926d_0_101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05</a:t>
            </a:r>
            <a:endParaRPr/>
          </a:p>
        </p:txBody>
      </p:sp>
      <p:sp>
        <p:nvSpPr>
          <p:cNvPr id="567" name="Google Shape;567;g268d12f926d_0_101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68" name="Google Shape;568;g268d12f926d_0_10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69" name="Google Shape;569;g268d12f926d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8902" y="2779950"/>
            <a:ext cx="1703798" cy="18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c133089727_0_1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75" name="Google Shape;575;g2c133089727_0_1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76" name="Google Shape;576;g2c133089727_0_17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000"/>
              <a:t>取得CP950</a:t>
            </a:r>
            <a:endParaRPr b="1" sz="3000"/>
          </a:p>
        </p:txBody>
      </p:sp>
      <p:sp>
        <p:nvSpPr>
          <p:cNvPr id="577" name="Google Shape;577;g2c133089727_0_17"/>
          <p:cNvSpPr txBox="1"/>
          <p:nvPr/>
        </p:nvSpPr>
        <p:spPr>
          <a:xfrm>
            <a:off x="751400" y="1132013"/>
            <a:ext cx="8138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複製 hw01 中的 </a:t>
            </a:r>
            <a:r>
              <a:rPr lang="zh-TW" sz="1800">
                <a:solidFill>
                  <a:schemeClr val="dk1"/>
                </a:solidFill>
                <a:highlight>
                  <a:schemeClr val="lt2"/>
                </a:highlight>
              </a:rPr>
              <a:t>\01-1_generate_paper\2_generate_manuscript\CP950</a:t>
            </a:r>
            <a:endParaRPr sz="18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將 CP950 貼到 </a:t>
            </a:r>
            <a:r>
              <a:rPr lang="zh-TW" sz="1800">
                <a:solidFill>
                  <a:schemeClr val="dk1"/>
                </a:solidFill>
                <a:highlight>
                  <a:schemeClr val="lt2"/>
                </a:highlight>
              </a:rPr>
              <a:t>\</a:t>
            </a:r>
            <a:r>
              <a:rPr lang="zh-TW" sz="1800">
                <a:solidFill>
                  <a:schemeClr val="dk1"/>
                </a:solidFill>
                <a:highlight>
                  <a:schemeClr val="lt2"/>
                </a:highlight>
              </a:rPr>
              <a:t>0</a:t>
            </a:r>
            <a:r>
              <a:rPr lang="zh-TW" sz="1800">
                <a:solidFill>
                  <a:schemeClr val="dk1"/>
                </a:solidFill>
                <a:highlight>
                  <a:schemeClr val="lt2"/>
                </a:highlight>
              </a:rPr>
              <a:t>2-1_crop_paper</a:t>
            </a:r>
            <a:r>
              <a:rPr lang="zh-TW" sz="1800">
                <a:solidFill>
                  <a:schemeClr val="dk1"/>
                </a:solidFill>
              </a:rPr>
              <a:t> 底下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8" name="Google Shape;578;g2c133089727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204" y="2092038"/>
            <a:ext cx="6077515" cy="234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g2c133089727_0_17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g2c133089727_0_17" title="shimekiri_report_woma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667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g3c4cf1de80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58" y="2840536"/>
            <a:ext cx="8138102" cy="1712659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c4cf1de805_0_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587" name="Google Shape;587;g3c4cf1de805_0_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8" name="Google Shape;588;g3c4cf1de805_0_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000"/>
              <a:t>切割校正稿紙</a:t>
            </a:r>
            <a:endParaRPr b="1" sz="3000"/>
          </a:p>
        </p:txBody>
      </p:sp>
      <p:sp>
        <p:nvSpPr>
          <p:cNvPr id="589" name="Google Shape;589;g3c4cf1de805_0_0"/>
          <p:cNvSpPr txBox="1"/>
          <p:nvPr/>
        </p:nvSpPr>
        <p:spPr>
          <a:xfrm>
            <a:off x="751400" y="1132013"/>
            <a:ext cx="81381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 sz="1800">
                <a:solidFill>
                  <a:schemeClr val="dk1"/>
                </a:solidFill>
              </a:rPr>
              <a:t>資料夾中打開 s2_crop_page.py ，更改 input_folder 的位置，找到校正過的資料夾位置，如：rotated_{學號}_{姓名}_{稿紙標題}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 sz="1800">
                <a:solidFill>
                  <a:schemeClr val="dk1"/>
                </a:solidFill>
              </a:rPr>
              <a:t>更改輸出資料夾名稱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 sz="1800">
                <a:solidFill>
                  <a:schemeClr val="dk1"/>
                </a:solidFill>
              </a:rPr>
              <a:t>更改 json_path 的位置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 sz="1800">
                <a:solidFill>
                  <a:schemeClr val="dk1"/>
                </a:solidFill>
              </a:rPr>
              <a:t>更改此稿紙字數 (請參閱下一張投影片)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90" name="Google Shape;590;g3c4cf1de805_0_0"/>
          <p:cNvSpPr/>
          <p:nvPr/>
        </p:nvSpPr>
        <p:spPr>
          <a:xfrm>
            <a:off x="4915633" y="3014170"/>
            <a:ext cx="1942500" cy="2280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c4cf1de805_0_0"/>
          <p:cNvSpPr/>
          <p:nvPr/>
        </p:nvSpPr>
        <p:spPr>
          <a:xfrm>
            <a:off x="1702025" y="4130275"/>
            <a:ext cx="2039400" cy="2280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2" name="Google Shape;592;g3c4cf1de805_0_0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3c4cf1de805_0_0" title="shimekiri_report_woma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667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g3c4cf1de805_0_0"/>
          <p:cNvSpPr/>
          <p:nvPr/>
        </p:nvSpPr>
        <p:spPr>
          <a:xfrm>
            <a:off x="1986758" y="3188770"/>
            <a:ext cx="1388100" cy="2280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c4cf1de805_0_0"/>
          <p:cNvSpPr/>
          <p:nvPr/>
        </p:nvSpPr>
        <p:spPr>
          <a:xfrm>
            <a:off x="1702031" y="4358275"/>
            <a:ext cx="465900" cy="2280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00951c6be_0_1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000"/>
              <a:t>切割校正稿紙-稿紙字數統計</a:t>
            </a:r>
            <a:endParaRPr/>
          </a:p>
        </p:txBody>
      </p:sp>
      <p:sp>
        <p:nvSpPr>
          <p:cNvPr id="601" name="Google Shape;601;g3d00951c6be_0_1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d00951c6be_0_1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603" name="Google Shape;603;g3d00951c6be_0_1"/>
          <p:cNvGraphicFramePr/>
          <p:nvPr/>
        </p:nvGraphicFramePr>
        <p:xfrm>
          <a:off x="5636400" y="10492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{80CB88AB-8826-4CAC-8EEF-B1679AB3F2DD}</a:tableStyleId>
              </a:tblPr>
              <a:tblGrid>
                <a:gridCol w="1984300"/>
                <a:gridCol w="1187750"/>
              </a:tblGrid>
              <a:tr h="36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稿紙內容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字數統計</a:t>
                      </a:r>
                      <a:endParaRPr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7E6E6"/>
                    </a:solidFill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1. 千字文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1000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2. 長恨歌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840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3. 洛神賦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912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4. 詩經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435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5. 部首、注音、日文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528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6. 英文、數字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346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7. 標點符號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356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  <a:tr h="39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8. 姓氏名字號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78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04" name="Google Shape;604;g3d00951c6be_0_1"/>
          <p:cNvSpPr txBox="1"/>
          <p:nvPr/>
        </p:nvSpPr>
        <p:spPr>
          <a:xfrm>
            <a:off x="320700" y="1211975"/>
            <a:ext cx="531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請按照右表填入 </a:t>
            </a:r>
            <a:r>
              <a:rPr lang="zh-TW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unicode_num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zh-TW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若出現 </a:t>
            </a:r>
            <a:r>
              <a:rPr lang="zh-TW" sz="1800">
                <a:solidFill>
                  <a:schemeClr val="dk1"/>
                </a:solidFill>
              </a:rPr>
              <a:t>IndexError: list index out of range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請檢查 CP950 中的字數是否與此表相同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025" y="2818600"/>
            <a:ext cx="7161550" cy="719693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11" name="Google Shape;611;p2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12" name="Google Shape;612;p24"/>
          <p:cNvSpPr txBox="1"/>
          <p:nvPr/>
        </p:nvSpPr>
        <p:spPr>
          <a:xfrm>
            <a:off x="715025" y="1278675"/>
            <a:ext cx="57912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TW" sz="1800" u="none" cap="none" strike="noStrike">
                <a:solidFill>
                  <a:schemeClr val="dk1"/>
                </a:solidFill>
              </a:rPr>
              <a:t>執行裁切程式</a:t>
            </a:r>
            <a:endParaRPr b="1" i="0" sz="1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TW" sz="1800">
                <a:solidFill>
                  <a:schemeClr val="dk1"/>
                </a:solidFill>
              </a:rPr>
              <a:t>需輸入</a:t>
            </a:r>
            <a:r>
              <a:rPr lang="zh-TW" sz="1800">
                <a:solidFill>
                  <a:srgbClr val="FF9900"/>
                </a:solidFill>
              </a:rPr>
              <a:t>開始切割頁面</a:t>
            </a:r>
            <a:r>
              <a:rPr lang="zh-TW" sz="1800">
                <a:solidFill>
                  <a:schemeClr val="dk1"/>
                </a:solidFill>
              </a:rPr>
              <a:t>以及</a:t>
            </a:r>
            <a:r>
              <a:rPr lang="zh-TW" sz="1800">
                <a:solidFill>
                  <a:srgbClr val="FF9900"/>
                </a:solidFill>
              </a:rPr>
              <a:t>結束頁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786875" y="1750904"/>
            <a:ext cx="3228300" cy="431100"/>
          </a:xfrm>
          <a:prstGeom prst="roundRect">
            <a:avLst>
              <a:gd fmla="val 16667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TW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python s2_crop_page.py</a:t>
            </a:r>
            <a:endParaRPr sz="1800" u="none" cap="none" strike="noStrike"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715025" y="3101900"/>
            <a:ext cx="2225100" cy="431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4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000"/>
              <a:t>切割校正稿紙</a:t>
            </a:r>
            <a:endParaRPr b="1" sz="3000"/>
          </a:p>
        </p:txBody>
      </p:sp>
      <p:pic>
        <p:nvPicPr>
          <p:cNvPr id="616" name="Google Shape;616;p24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0873" y="3140266"/>
            <a:ext cx="811500" cy="151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4" title="shimekiri_report_woma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8792" y="3189427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bd7012ed66_0_65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切割校正稿紙</a:t>
            </a:r>
            <a:endParaRPr/>
          </a:p>
        </p:txBody>
      </p:sp>
      <p:sp>
        <p:nvSpPr>
          <p:cNvPr id="623" name="Google Shape;623;g3bd7012ed66_0_65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bd7012ed66_0_65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25" name="Google Shape;625;g3bd7012ed66_0_65"/>
          <p:cNvSpPr txBox="1"/>
          <p:nvPr/>
        </p:nvSpPr>
        <p:spPr>
          <a:xfrm>
            <a:off x="642950" y="1226350"/>
            <a:ext cx="6560700" cy="25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參數調整</a:t>
            </a:r>
            <a:endParaRPr b="1"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切完字太大或太小，請調整 crop_length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若使用 pdf2png.bat 轉檔，請將 min_box_size 設為 180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若使用 pdf2image 轉檔，請將 min_box_size 設為 200</a:t>
            </a:r>
            <a:endParaRPr sz="1800"/>
          </a:p>
        </p:txBody>
      </p:sp>
      <p:pic>
        <p:nvPicPr>
          <p:cNvPr id="626" name="Google Shape;626;g3bd7012ed66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025" y="2111126"/>
            <a:ext cx="4150874" cy="6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g3bd7012ed66_0_65"/>
          <p:cNvPicPr preferRelativeResize="0"/>
          <p:nvPr/>
        </p:nvPicPr>
        <p:blipFill rotWithShape="1">
          <a:blip r:embed="rId4">
            <a:alphaModFix/>
          </a:blip>
          <a:srcRect b="0" l="0" r="0" t="14756"/>
          <a:stretch/>
        </p:blipFill>
        <p:spPr>
          <a:xfrm>
            <a:off x="715024" y="3755951"/>
            <a:ext cx="2701325" cy="35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g3bd7012ed66_0_65" title="tablet08_schoolgir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g3bd7012ed66_0_65" title="shimekiri_report_woma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8667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g335bc3dae1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625" y="2284243"/>
            <a:ext cx="6501100" cy="1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g335bc3dae11_0_0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36" name="Google Shape;636;g335bc3dae11_0_0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7" name="Google Shape;637;g335bc3dae11_0_0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000"/>
              <a:t>切割校正稿紙-紙本</a:t>
            </a:r>
            <a:endParaRPr b="1" sz="3000"/>
          </a:p>
        </p:txBody>
      </p:sp>
      <p:sp>
        <p:nvSpPr>
          <p:cNvPr id="638" name="Google Shape;638;g335bc3dae11_0_0"/>
          <p:cNvSpPr txBox="1"/>
          <p:nvPr/>
        </p:nvSpPr>
        <p:spPr>
          <a:xfrm>
            <a:off x="751400" y="1185338"/>
            <a:ext cx="8138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紙本寫字若在切割的時候有缺字，可以將0.12調低至0.1或者0.09之類去做嘗試，因右下角的qrcode位置會因你掃描的機器有所變動，0.12有可能太大會擋住最右下角兩格的偵測。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35bc3dae11_0_0"/>
          <p:cNvSpPr/>
          <p:nvPr/>
        </p:nvSpPr>
        <p:spPr>
          <a:xfrm flipH="1">
            <a:off x="1904400" y="2775238"/>
            <a:ext cx="2178300" cy="2184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0" name="Google Shape;640;g335bc3dae11_0_0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g335bc3dae11_0_0" title="shimekiri_report_woma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667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7"/>
          <p:cNvSpPr txBox="1"/>
          <p:nvPr/>
        </p:nvSpPr>
        <p:spPr>
          <a:xfrm>
            <a:off x="931725" y="1155738"/>
            <a:ext cx="62478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切割成功後會產生兩個資料夾: </a:t>
            </a:r>
            <a:r>
              <a:rPr b="0" i="0" lang="zh-TW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crop</a:t>
            </a:r>
            <a:r>
              <a:rPr b="0" i="0" lang="zh-TW" sz="1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以及</a:t>
            </a:r>
            <a:r>
              <a:rPr b="0" i="0" lang="zh-TW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 rec_bound</a:t>
            </a:r>
            <a:endParaRPr b="0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7" name="Google Shape;6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01" y="1737125"/>
            <a:ext cx="6837976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27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1276550" y="1798775"/>
            <a:ext cx="879600" cy="2367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7"/>
          <p:cNvSpPr/>
          <p:nvPr/>
        </p:nvSpPr>
        <p:spPr>
          <a:xfrm>
            <a:off x="1267813" y="2100575"/>
            <a:ext cx="1179300" cy="2367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7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000"/>
              <a:t>切割校正稿紙</a:t>
            </a:r>
            <a:endParaRPr b="1" sz="3000"/>
          </a:p>
        </p:txBody>
      </p:sp>
      <p:sp>
        <p:nvSpPr>
          <p:cNvPr id="652" name="Google Shape;652;p27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3" name="Google Shape;653;p27" title="tablet08_schoolgir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27" title="shimekiri_report_woma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667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8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60" name="Google Shape;660;p28"/>
          <p:cNvSpPr txBox="1"/>
          <p:nvPr/>
        </p:nvSpPr>
        <p:spPr>
          <a:xfrm>
            <a:off x="557650" y="1061500"/>
            <a:ext cx="3036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crop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切割後的圖片檔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8"/>
          <p:cNvSpPr txBox="1"/>
          <p:nvPr/>
        </p:nvSpPr>
        <p:spPr>
          <a:xfrm>
            <a:off x="4113750" y="1049200"/>
            <a:ext cx="49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rec_bound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程式執行時內縮並裁取的範圍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8"/>
          <p:cNvSpPr txBox="1"/>
          <p:nvPr/>
        </p:nvSpPr>
        <p:spPr>
          <a:xfrm>
            <a:off x="8306850" y="1307125"/>
            <a:ext cx="77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(參考用)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3" name="Google Shape;6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575" y="1732538"/>
            <a:ext cx="3733050" cy="28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28"/>
          <p:cNvPicPr preferRelativeResize="0"/>
          <p:nvPr/>
        </p:nvPicPr>
        <p:blipFill rotWithShape="1">
          <a:blip r:embed="rId4">
            <a:alphaModFix/>
          </a:blip>
          <a:srcRect b="0" l="14353" r="0" t="0"/>
          <a:stretch/>
        </p:blipFill>
        <p:spPr>
          <a:xfrm>
            <a:off x="4571998" y="1509638"/>
            <a:ext cx="3783050" cy="3248251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8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000"/>
              <a:t>切割校正稿紙</a:t>
            </a:r>
            <a:endParaRPr b="1" sz="3000"/>
          </a:p>
        </p:txBody>
      </p:sp>
      <p:sp>
        <p:nvSpPr>
          <p:cNvPr id="666" name="Google Shape;666;p28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7" name="Google Shape;667;p28" title="tablet08_schoolgir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8" title="shimekiri_report_woma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8667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d7012ed66_0_74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74" name="Google Shape;674;g3bd7012ed66_0_74"/>
          <p:cNvSpPr txBox="1"/>
          <p:nvPr/>
        </p:nvSpPr>
        <p:spPr>
          <a:xfrm>
            <a:off x="557650" y="1061500"/>
            <a:ext cx="3036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crop</a:t>
            </a: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切割後的圖片檔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bd7012ed66_0_74"/>
          <p:cNvSpPr txBox="1"/>
          <p:nvPr/>
        </p:nvSpPr>
        <p:spPr>
          <a:xfrm>
            <a:off x="4113750" y="1049200"/>
            <a:ext cx="49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rec_bound</a:t>
            </a:r>
            <a:r>
              <a:rPr b="0" i="0" lang="zh-TW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程式執行時內縮並裁取的範圍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bd7012ed66_0_74"/>
          <p:cNvSpPr txBox="1"/>
          <p:nvPr/>
        </p:nvSpPr>
        <p:spPr>
          <a:xfrm>
            <a:off x="8306850" y="1307125"/>
            <a:ext cx="77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(參考用)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7" name="Google Shape;677;g3bd7012ed66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575" y="1732538"/>
            <a:ext cx="3733050" cy="28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g3bd7012ed66_0_74"/>
          <p:cNvPicPr preferRelativeResize="0"/>
          <p:nvPr/>
        </p:nvPicPr>
        <p:blipFill rotWithShape="1">
          <a:blip r:embed="rId4">
            <a:alphaModFix/>
          </a:blip>
          <a:srcRect b="0" l="14354" r="0" t="0"/>
          <a:stretch/>
        </p:blipFill>
        <p:spPr>
          <a:xfrm>
            <a:off x="4571998" y="1509638"/>
            <a:ext cx="3783050" cy="3248251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g3bd7012ed66_0_74"/>
          <p:cNvSpPr txBox="1"/>
          <p:nvPr>
            <p:ph type="ctrTitle"/>
          </p:nvPr>
        </p:nvSpPr>
        <p:spPr>
          <a:xfrm>
            <a:off x="715019" y="618701"/>
            <a:ext cx="6560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000"/>
              <a:t>切割校正稿紙</a:t>
            </a:r>
            <a:endParaRPr b="1" sz="3000"/>
          </a:p>
        </p:txBody>
      </p:sp>
      <p:sp>
        <p:nvSpPr>
          <p:cNvPr id="680" name="Google Shape;680;g3bd7012ed66_0_74"/>
          <p:cNvSpPr txBox="1"/>
          <p:nvPr>
            <p:ph idx="1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bd7012ed66_0_74"/>
          <p:cNvSpPr/>
          <p:nvPr/>
        </p:nvSpPr>
        <p:spPr>
          <a:xfrm>
            <a:off x="225575" y="1094813"/>
            <a:ext cx="3982500" cy="3506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2" name="Google Shape;682;g3bd7012ed66_0_74" title="tablet08_schoolgir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0748" y="3574991"/>
            <a:ext cx="811500" cy="151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g3bd7012ed66_0_74" title="shimekiri_report_woma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8667" y="3624152"/>
            <a:ext cx="1321300" cy="14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6605dac4b0_0_276"/>
          <p:cNvSpPr txBox="1"/>
          <p:nvPr>
            <p:ph type="ctrTitle"/>
          </p:nvPr>
        </p:nvSpPr>
        <p:spPr>
          <a:xfrm>
            <a:off x="725091" y="1681064"/>
            <a:ext cx="47673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/>
              <a:t>聯絡資訊</a:t>
            </a:r>
            <a:endParaRPr/>
          </a:p>
        </p:txBody>
      </p:sp>
      <p:sp>
        <p:nvSpPr>
          <p:cNvPr id="689" name="Google Shape;689;g26605dac4b0_0_276"/>
          <p:cNvSpPr txBox="1"/>
          <p:nvPr>
            <p:ph idx="1" type="body"/>
          </p:nvPr>
        </p:nvSpPr>
        <p:spPr>
          <a:xfrm>
            <a:off x="725091" y="606026"/>
            <a:ext cx="28113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zh-TW"/>
              <a:t>06</a:t>
            </a:r>
            <a:endParaRPr/>
          </a:p>
        </p:txBody>
      </p:sp>
      <p:sp>
        <p:nvSpPr>
          <p:cNvPr id="690" name="Google Shape;690;g26605dac4b0_0_276"/>
          <p:cNvSpPr txBox="1"/>
          <p:nvPr>
            <p:ph idx="2" type="body"/>
          </p:nvPr>
        </p:nvSpPr>
        <p:spPr>
          <a:xfrm>
            <a:off x="931711" y="4655528"/>
            <a:ext cx="777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  <p:sp>
        <p:nvSpPr>
          <p:cNvPr id="691" name="Google Shape;691;g26605dac4b0_0_276"/>
          <p:cNvSpPr txBox="1"/>
          <p:nvPr>
            <p:ph idx="12" type="sldNum"/>
          </p:nvPr>
        </p:nvSpPr>
        <p:spPr>
          <a:xfrm>
            <a:off x="508129" y="4647128"/>
            <a:ext cx="423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b0caf921ef_1_17"/>
          <p:cNvSpPr txBox="1"/>
          <p:nvPr>
            <p:ph type="ctrTitle"/>
          </p:nvPr>
        </p:nvSpPr>
        <p:spPr>
          <a:xfrm>
            <a:off x="536264" y="464026"/>
            <a:ext cx="49206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698" name="Google Shape;698;g2b0caf921ef_1_17"/>
          <p:cNvSpPr txBox="1"/>
          <p:nvPr>
            <p:ph idx="1" type="body"/>
          </p:nvPr>
        </p:nvSpPr>
        <p:spPr>
          <a:xfrm>
            <a:off x="964958" y="4621850"/>
            <a:ext cx="78711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699" name="Google Shape;699;g2b0caf921ef_1_17"/>
          <p:cNvSpPr txBox="1"/>
          <p:nvPr>
            <p:ph idx="12" type="sldNum"/>
          </p:nvPr>
        </p:nvSpPr>
        <p:spPr>
          <a:xfrm>
            <a:off x="536276" y="4615550"/>
            <a:ext cx="4287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00" name="Google Shape;700;g2b0caf921ef_1_17"/>
          <p:cNvSpPr txBox="1"/>
          <p:nvPr/>
        </p:nvSpPr>
        <p:spPr>
          <a:xfrm>
            <a:off x="715566" y="1213947"/>
            <a:ext cx="75771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zh-TW" sz="20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TA Email</a:t>
            </a:r>
            <a:endParaRPr sz="20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icrosoft JhengHei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賴秋彤 </a:t>
            </a:r>
            <a:r>
              <a:rPr lang="zh-TW" sz="1600" u="sng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t114598033@ntut.org.tw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zh-TW" sz="20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Email 標題(主旨)</a:t>
            </a:r>
            <a:endParaRPr sz="20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</a:t>
            </a:r>
            <a:r>
              <a:rPr lang="zh-TW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：</a:t>
            </a:r>
            <a:r>
              <a:rPr lang="zh-TW"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sz="1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[ai2026s-hwX-學號]</a:t>
            </a:r>
            <a:endParaRPr sz="1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