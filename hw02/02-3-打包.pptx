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6" r:id="rId7"/>
    <p:sldMasterId id="2147483670" r:id="rId8"/>
    <p:sldMasterId id="2147483674" r:id="rId9"/>
    <p:sldMasterId id="2147483678" r:id="rId10"/>
    <p:sldMasterId id="2147483690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</p:sldIdLst>
  <p:sldSz cy="5143500" cx="9144000"/>
  <p:notesSz cx="6858000" cy="9144000"/>
  <p:embeddedFontLst>
    <p:embeddedFont>
      <p:font typeface="Mulish ExtraLight"/>
      <p:regular r:id="rId54"/>
      <p:bold r:id="rId55"/>
      <p:italic r:id="rId56"/>
      <p:boldItalic r:id="rId57"/>
    </p:embeddedFont>
    <p:embeddedFont>
      <p:font typeface="Mulish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2" roundtripDataSignature="AMtx7mh2P7R9OfdY3znDaZretLXCZCxW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" Type="http://schemas.openxmlformats.org/officeDocument/2006/relationships/theme" Target="theme/theme9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62" Type="http://customschemas.google.com/relationships/presentationmetadata" Target="metadata"/><Relationship Id="rId61" Type="http://schemas.openxmlformats.org/officeDocument/2006/relationships/font" Target="fonts/Mulish-boldItalic.fntdata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60" Type="http://schemas.openxmlformats.org/officeDocument/2006/relationships/font" Target="fonts/Mulish-italic.fntdata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9" Type="http://schemas.openxmlformats.org/officeDocument/2006/relationships/slide" Target="slides/slide1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11" Type="http://schemas.openxmlformats.org/officeDocument/2006/relationships/slideMaster" Target="slideMasters/slideMaster8.xml"/><Relationship Id="rId55" Type="http://schemas.openxmlformats.org/officeDocument/2006/relationships/font" Target="fonts/MulishExtraLight-bold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MulishExtraLight-regular.fntdata"/><Relationship Id="rId13" Type="http://schemas.openxmlformats.org/officeDocument/2006/relationships/slide" Target="slides/slide1.xml"/><Relationship Id="rId57" Type="http://schemas.openxmlformats.org/officeDocument/2006/relationships/font" Target="fonts/MulishExtraLight-boldItalic.fntdata"/><Relationship Id="rId12" Type="http://schemas.openxmlformats.org/officeDocument/2006/relationships/notesMaster" Target="notesMasters/notesMaster1.xml"/><Relationship Id="rId56" Type="http://schemas.openxmlformats.org/officeDocument/2006/relationships/font" Target="fonts/MulishExtraLight-italic.fntdata"/><Relationship Id="rId15" Type="http://schemas.openxmlformats.org/officeDocument/2006/relationships/slide" Target="slides/slide3.xml"/><Relationship Id="rId59" Type="http://schemas.openxmlformats.org/officeDocument/2006/relationships/font" Target="fonts/Mulish-bold.fntdata"/><Relationship Id="rId14" Type="http://schemas.openxmlformats.org/officeDocument/2006/relationships/slide" Target="slides/slide2.xml"/><Relationship Id="rId58" Type="http://schemas.openxmlformats.org/officeDocument/2006/relationships/font" Target="fonts/Mulish-regular.fntdata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圖形識別</a:t>
            </a:r>
            <a:endParaRPr/>
          </a:p>
        </p:txBody>
      </p:sp>
      <p:sp>
        <p:nvSpPr>
          <p:cNvPr id="196" name="Google Shape;1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4d0c99fcd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c4d0c99fc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https://www.irasutoya.com/2018/11/blog-post_67.html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4d0c99fcd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c4d0c99fcd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4d0c99fcd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c4d0c99fcd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4d0c99fcd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c4d0c99fcd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4d0c99fcd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c4d0c99fcd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cc79bf0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bcc79bf0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f5423ce1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bf5423ce1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f5423ce1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f5423ce1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f5423ce1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f5423ce1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f5423ce18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bf5423ce18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5423ce18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bf5423ce18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490fe80e5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3490fe80e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dae700930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3dae700930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dae700930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3dae700930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d3b1b99e2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bd3b1b99e2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g3bd3b1b99e2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e2ec0ddbb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g3de2ec0ddbb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73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3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3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3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8"/>
          <p:cNvSpPr txBox="1"/>
          <p:nvPr>
            <p:ph type="ctrTitle"/>
          </p:nvPr>
        </p:nvSpPr>
        <p:spPr>
          <a:xfrm>
            <a:off x="725332" y="1606129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8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8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9"/>
          <p:cNvSpPr txBox="1"/>
          <p:nvPr>
            <p:ph idx="1" type="body"/>
          </p:nvPr>
        </p:nvSpPr>
        <p:spPr>
          <a:xfrm>
            <a:off x="725332" y="1621650"/>
            <a:ext cx="4767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99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99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1_中英標題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5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5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75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7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1_中文標題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0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100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1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1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0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" name="Google Shape;34;p101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8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9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1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1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2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9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3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3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3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9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4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4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" name="Google Shape;62;p94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5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9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7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9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9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9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5" name="Google Shape;75;p97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2_中英標題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9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79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79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7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2_中文標題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2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0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7" name="Google Shape;87;p10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2_英文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3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1" name="Google Shape;91;p103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4_中英標題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5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85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85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4_中文標題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6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0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3" name="Google Shape;103;p106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4_英文標題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7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0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07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0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1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10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1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4" name="Google Shape;114;p110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7" name="Google Shape;117;p89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89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89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p111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11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4d0c99fcd_0_30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g3c4d0c99fcd_0_30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g3c4d0c99fcd_0_30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g3c4d0c99fcd_0_3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4d0c99fcd_0_308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g3c4d0c99fcd_0_30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g3c4d0c99fcd_0_30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4d0c99fcd_0_312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g3c4d0c99fcd_0_31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g3c4d0c99fcd_0_312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g3c4d0c99fcd_0_31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4d0c99fcd_0_317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g3c4d0c99fcd_0_31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d0c99fcd_0_320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3c4d0c99fcd_0_320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4d0c99fcd_0_320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g3c4d0c99fcd_0_32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4d0c99fcd_0_325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g3c4d0c99fcd_0_325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4d0c99fcd_0_32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2" name="Google Shape;152;g3c4d0c99fcd_0_325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d0c99fcd_0_330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3c4d0c99fcd_0_33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g3c4d0c99fcd_0_33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4d0c99fcd_0_33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c4d0c99fcd_0_33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d0c99fcd_0_337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c4d0c99fcd_0_33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g3c4d0c99fcd_0_33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g3c4d0c99fcd_0_33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5" name="Google Shape;165;g3c4d0c99fcd_0_337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4d0c99fcd_0_34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g3c4d0c99fcd_0_3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g3c4d0c99fcd_0_34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g3c4d0c99fcd_0_3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4d0c99fcd_0_34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g3c4d0c99fcd_0_348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g3c4d0c99fcd_0_348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g3c4d0c99fcd_0_348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4d0c99fcd_0_38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0" name="Google Shape;180;g3c4d0c99fcd_0_38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g3c4d0c99fcd_0_38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g3c4d0c99fcd_0_38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4d0c99fcd_0_39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g3c4d0c99fcd_0_39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g3c4d0c99fcd_0_39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g3c4d0c99fcd_0_39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8" name="Google Shape;188;g3c4d0c99fcd_0_392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4d0c99fcd_0_39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1" name="Google Shape;191;g3c4d0c99fcd_0_398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g3c4d0c99fcd_0_398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g3c4d0c99fcd_0_398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9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theme" Target="../theme/theme8.xml"/><Relationship Id="rId10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4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01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21" name="Google Shape;21;p74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01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8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02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78" name="Google Shape;78;p78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02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4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04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94" name="Google Shape;94;p84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04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4d0c99fcd_0_3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2"/>
    <p:sldLayoutId id="2147483692" r:id="rId3"/>
    <p:sldLayoutId id="214748369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lctung/02-3_font_packager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ntforge.org/en-US/" TargetMode="External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ontforge.org/en-US/" TargetMode="External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ontforge.org/en-US/" TargetMode="External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hyperlink" Target="mailto:t114598033@ntut.org.tw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99" name="Google Shape;199;p1"/>
          <p:cNvSpPr txBox="1"/>
          <p:nvPr>
            <p:ph idx="1" type="body"/>
          </p:nvPr>
        </p:nvSpPr>
        <p:spPr>
          <a:xfrm>
            <a:off x="750260" y="2298091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sh"/>
              <a:buNone/>
            </a:pPr>
            <a:r>
              <a:rPr lang="zh-TW"/>
              <a:t>打包</a:t>
            </a:r>
            <a:endParaRPr/>
          </a:p>
        </p:txBody>
      </p:sp>
      <p:sp>
        <p:nvSpPr>
          <p:cNvPr id="200" name="Google Shape;200;p1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</a:t>
            </a:r>
            <a:r>
              <a:rPr lang="zh-TW"/>
              <a:t>林家弘-蕭裕憲</a:t>
            </a:r>
            <a:endParaRPr/>
          </a:p>
        </p:txBody>
      </p:sp>
      <p:sp>
        <p:nvSpPr>
          <p:cNvPr id="201" name="Google Shape;201;p1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207" name="Google Shape;207;p2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sh"/>
              <a:buNone/>
            </a:pPr>
            <a:r>
              <a:t/>
            </a:r>
            <a:endParaRPr/>
          </a:p>
        </p:txBody>
      </p:sp>
      <p:sp>
        <p:nvSpPr>
          <p:cNvPr id="208" name="Google Shape;208;p2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09" name="Google Shape;209;p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215" name="Google Shape;215;p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zh-TW"/>
              <a:t>流程介紹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作業說明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217" name="Google Shape;217;p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流程介紹</a:t>
            </a:r>
            <a:endParaRPr sz="3600"/>
          </a:p>
        </p:txBody>
      </p:sp>
      <p:sp>
        <p:nvSpPr>
          <p:cNvPr id="223" name="Google Shape;223;p4"/>
          <p:cNvSpPr txBox="1"/>
          <p:nvPr>
            <p:ph idx="1" type="body"/>
          </p:nvPr>
        </p:nvSpPr>
        <p:spPr>
          <a:xfrm>
            <a:off x="750269" y="2244950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4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4d0c99fcd_0_5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>
                <a:solidFill>
                  <a:srgbClr val="674EA7"/>
                </a:solidFill>
              </a:rPr>
              <a:t>流程</a:t>
            </a:r>
            <a:endParaRPr/>
          </a:p>
        </p:txBody>
      </p:sp>
      <p:sp>
        <p:nvSpPr>
          <p:cNvPr id="231" name="Google Shape;231;g3c4d0c99fcd_0_5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232" name="Google Shape;232;g3c4d0c99fcd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75" y="2237350"/>
            <a:ext cx="1173724" cy="6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c4d0c99fcd_0_57"/>
          <p:cNvSpPr/>
          <p:nvPr/>
        </p:nvSpPr>
        <p:spPr>
          <a:xfrm>
            <a:off x="1595100" y="2483700"/>
            <a:ext cx="530100" cy="176100"/>
          </a:xfrm>
          <a:prstGeom prst="rightArrow">
            <a:avLst>
              <a:gd fmla="val 43697" name="adj1"/>
              <a:gd fmla="val 43938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3c4d0c99fcd_0_57"/>
          <p:cNvPicPr preferRelativeResize="0"/>
          <p:nvPr/>
        </p:nvPicPr>
        <p:blipFill rotWithShape="1">
          <a:blip r:embed="rId4">
            <a:alphaModFix/>
          </a:blip>
          <a:srcRect b="14251" l="14251" r="14244" t="14244"/>
          <a:stretch/>
        </p:blipFill>
        <p:spPr>
          <a:xfrm>
            <a:off x="2173462" y="1877113"/>
            <a:ext cx="1410300" cy="14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c4d0c99fcd_0_57"/>
          <p:cNvSpPr txBox="1"/>
          <p:nvPr/>
        </p:nvSpPr>
        <p:spPr>
          <a:xfrm>
            <a:off x="2525063" y="1674088"/>
            <a:ext cx="7071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pico</a:t>
            </a:r>
            <a:endParaRPr sz="1800"/>
          </a:p>
        </p:txBody>
      </p:sp>
      <p:sp>
        <p:nvSpPr>
          <p:cNvPr id="236" name="Google Shape;236;g3c4d0c99fcd_0_57"/>
          <p:cNvSpPr/>
          <p:nvPr/>
        </p:nvSpPr>
        <p:spPr>
          <a:xfrm>
            <a:off x="3453234" y="2483700"/>
            <a:ext cx="530100" cy="176100"/>
          </a:xfrm>
          <a:prstGeom prst="rightArrow">
            <a:avLst>
              <a:gd fmla="val 43697" name="adj1"/>
              <a:gd fmla="val 43938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c4d0c99fcd_0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3776" y="2092525"/>
            <a:ext cx="862591" cy="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c4d0c99fcd_0_57"/>
          <p:cNvSpPr/>
          <p:nvPr/>
        </p:nvSpPr>
        <p:spPr>
          <a:xfrm>
            <a:off x="5214913" y="2494225"/>
            <a:ext cx="530100" cy="176100"/>
          </a:xfrm>
          <a:prstGeom prst="rightArrow">
            <a:avLst>
              <a:gd fmla="val 43697" name="adj1"/>
              <a:gd fmla="val 43938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c4d0c99fcd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5323" y="2113226"/>
            <a:ext cx="938100" cy="9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c4d0c99fcd_0_57"/>
          <p:cNvSpPr/>
          <p:nvPr/>
        </p:nvSpPr>
        <p:spPr>
          <a:xfrm>
            <a:off x="6919618" y="2494225"/>
            <a:ext cx="530100" cy="176100"/>
          </a:xfrm>
          <a:prstGeom prst="rightArrow">
            <a:avLst>
              <a:gd fmla="val 43697" name="adj1"/>
              <a:gd fmla="val 43938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c4d0c99fcd_0_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52375" y="1924494"/>
            <a:ext cx="1173725" cy="13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0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4d0c99fcd_0_378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 - 安裝</a:t>
            </a:r>
            <a:endParaRPr/>
          </a:p>
        </p:txBody>
      </p:sp>
      <p:sp>
        <p:nvSpPr>
          <p:cNvPr id="247" name="Google Shape;247;g3c4d0c99fcd_0_378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248" name="Google Shape;248;g3c4d0c99fcd_0_378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49" name="Google Shape;249;g3c4d0c99fcd_0_37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4d0c99fcd_0_24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</p:txBody>
      </p:sp>
      <p:sp>
        <p:nvSpPr>
          <p:cNvPr id="255" name="Google Shape;255;g3c4d0c99fcd_0_24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g3c4d0c99fcd_0_24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7" name="Google Shape;257;g3c4d0c99fcd_0_242"/>
          <p:cNvSpPr txBox="1"/>
          <p:nvPr>
            <p:ph type="ctrTitle"/>
          </p:nvPr>
        </p:nvSpPr>
        <p:spPr>
          <a:xfrm>
            <a:off x="715019" y="12016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下載專案 </a:t>
            </a:r>
            <a:endParaRPr/>
          </a:p>
        </p:txBody>
      </p:sp>
      <p:pic>
        <p:nvPicPr>
          <p:cNvPr id="258" name="Google Shape;258;g3c4d0c99fcd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799" y="1732001"/>
            <a:ext cx="4890680" cy="23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4d0c99fcd_0_250"/>
          <p:cNvSpPr txBox="1"/>
          <p:nvPr>
            <p:ph type="ctrTitle"/>
          </p:nvPr>
        </p:nvSpPr>
        <p:spPr>
          <a:xfrm>
            <a:off x="738894" y="783876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00B050"/>
              </a:solidFill>
            </a:endParaRPr>
          </a:p>
        </p:txBody>
      </p:sp>
      <p:sp>
        <p:nvSpPr>
          <p:cNvPr id="264" name="Google Shape;264;g3c4d0c99fcd_0_25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5" name="Google Shape;265;g3c4d0c99fcd_0_25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6" name="Google Shape;266;g3c4d0c99fcd_0_250"/>
          <p:cNvSpPr txBox="1"/>
          <p:nvPr/>
        </p:nvSpPr>
        <p:spPr>
          <a:xfrm>
            <a:off x="931725" y="1159650"/>
            <a:ext cx="7561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進入專案GitHub頁面 :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https://github.com/lctung/02-3_font_packager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c4d0c99fcd_0_2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937" y="1995250"/>
            <a:ext cx="7776133" cy="228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c4d0c99fcd_0_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924" y="1573425"/>
            <a:ext cx="6560399" cy="30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c4d0c99fcd_0_25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00B050"/>
              </a:solidFill>
            </a:endParaRPr>
          </a:p>
        </p:txBody>
      </p:sp>
      <p:sp>
        <p:nvSpPr>
          <p:cNvPr id="274" name="Google Shape;274;g3c4d0c99fcd_0_25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5" name="Google Shape;275;g3c4d0c99fcd_0_25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6" name="Google Shape;276;g3c4d0c99fcd_0_259"/>
          <p:cNvSpPr txBox="1"/>
          <p:nvPr/>
        </p:nvSpPr>
        <p:spPr>
          <a:xfrm>
            <a:off x="931729" y="1159650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點擊 “ &lt;&gt;Code ” 按鈕，在點擊Download ZIP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c4d0c99fcd_0_259"/>
          <p:cNvSpPr/>
          <p:nvPr/>
        </p:nvSpPr>
        <p:spPr>
          <a:xfrm>
            <a:off x="7001079" y="2103625"/>
            <a:ext cx="822600" cy="294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c4d0c99fcd_0_259"/>
          <p:cNvSpPr/>
          <p:nvPr/>
        </p:nvSpPr>
        <p:spPr>
          <a:xfrm>
            <a:off x="5022175" y="4190725"/>
            <a:ext cx="1789200" cy="236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c4d0c99fcd_0_259"/>
          <p:cNvSpPr txBox="1"/>
          <p:nvPr/>
        </p:nvSpPr>
        <p:spPr>
          <a:xfrm>
            <a:off x="6673524" y="1784000"/>
            <a:ext cx="3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c4d0c99fcd_0_259"/>
          <p:cNvSpPr txBox="1"/>
          <p:nvPr/>
        </p:nvSpPr>
        <p:spPr>
          <a:xfrm>
            <a:off x="4593650" y="4027215"/>
            <a:ext cx="45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cc79bf076_0_0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</a:t>
            </a:r>
            <a:r>
              <a:rPr lang="zh-TW"/>
              <a:t> - 打包</a:t>
            </a:r>
            <a:endParaRPr/>
          </a:p>
        </p:txBody>
      </p:sp>
      <p:sp>
        <p:nvSpPr>
          <p:cNvPr id="286" name="Google Shape;286;g3bcc79bf076_0_0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7" name="Google Shape;287;g3bcc79bf076_0_0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8" name="Google Shape;288;g3bcc79bf076_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f5423ce18_0_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294" name="Google Shape;294;g3bf5423ce18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5" name="Google Shape;295;g3bf5423ce18_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6" name="Google Shape;296;g3bf5423ce1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700" y="2156473"/>
            <a:ext cx="7070926" cy="15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bf5423ce18_0_0"/>
          <p:cNvSpPr txBox="1"/>
          <p:nvPr/>
        </p:nvSpPr>
        <p:spPr>
          <a:xfrm>
            <a:off x="931729" y="1189349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啟動虛擬環境，進入專案資料夾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03" name="Google Shape;303;p4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5" name="Google Shape;305;p43"/>
          <p:cNvSpPr txBox="1"/>
          <p:nvPr/>
        </p:nvSpPr>
        <p:spPr>
          <a:xfrm>
            <a:off x="931725" y="1150900"/>
            <a:ext cx="7846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將 </a:t>
            </a:r>
            <a:r>
              <a:rPr lang="zh-TW" sz="2000">
                <a:solidFill>
                  <a:schemeClr val="dk1"/>
                </a:solidFill>
              </a:rPr>
              <a:t>02-2_glyph_vector</a:t>
            </a:r>
            <a:r>
              <a:rPr lang="zh-TW" sz="2000"/>
              <a:t> 中的 pico 複製一份至 02-3_font_packager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375" y="2067113"/>
            <a:ext cx="7666150" cy="10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f5423ce18_0_64"/>
          <p:cNvSpPr txBox="1"/>
          <p:nvPr/>
        </p:nvSpPr>
        <p:spPr>
          <a:xfrm>
            <a:off x="931725" y="1150902"/>
            <a:ext cx="73449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調整 merge_svgfont.py 的輸入輸出路徑 </a:t>
            </a:r>
            <a:endParaRPr sz="20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g3bf5423ce18_0_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bf5423ce18_0_6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pic>
        <p:nvPicPr>
          <p:cNvPr id="314" name="Google Shape;314;g3bf5423ce18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197" y="2109100"/>
            <a:ext cx="6059603" cy="9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f5423ce18_0_123"/>
          <p:cNvSpPr txBox="1"/>
          <p:nvPr/>
        </p:nvSpPr>
        <p:spPr>
          <a:xfrm>
            <a:off x="931725" y="1150902"/>
            <a:ext cx="73449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執行 </a:t>
            </a:r>
            <a:r>
              <a:rPr lang="zh-TW" sz="2000">
                <a:highlight>
                  <a:schemeClr val="lt2"/>
                </a:highlight>
              </a:rPr>
              <a:t> </a:t>
            </a:r>
            <a:r>
              <a:rPr lang="zh-TW" sz="20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python merge_svgfont.py</a:t>
            </a:r>
            <a:endParaRPr sz="20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結果</a:t>
            </a:r>
            <a:r>
              <a:rPr lang="zh-TW" sz="2000">
                <a:solidFill>
                  <a:schemeClr val="dk1"/>
                </a:solidFill>
              </a:rPr>
              <a:t>輸出至 final_font/fontpico.svg</a:t>
            </a:r>
            <a:endParaRPr sz="20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g3bf5423ce18_0_12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bf5423ce18_0_12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8" name="Google Shape;328;p4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9" name="Google Shape;329;p44"/>
          <p:cNvSpPr txBox="1"/>
          <p:nvPr/>
        </p:nvSpPr>
        <p:spPr>
          <a:xfrm>
            <a:off x="1002895" y="1105688"/>
            <a:ext cx="71382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下載</a:t>
            </a:r>
            <a:r>
              <a:rPr lang="zh-TW" sz="2000"/>
              <a:t>並安裝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FontForge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44"/>
          <p:cNvPicPr preferRelativeResize="0"/>
          <p:nvPr/>
        </p:nvPicPr>
        <p:blipFill rotWithShape="1">
          <a:blip r:embed="rId4">
            <a:alphaModFix/>
          </a:blip>
          <a:srcRect b="17430" l="14380" r="6736" t="14866"/>
          <a:stretch/>
        </p:blipFill>
        <p:spPr>
          <a:xfrm>
            <a:off x="1835463" y="1681100"/>
            <a:ext cx="5714222" cy="26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 rot="-10798106">
            <a:off x="931688" y="3771228"/>
            <a:ext cx="1089300" cy="300300"/>
          </a:xfrm>
          <a:prstGeom prst="leftArrow">
            <a:avLst>
              <a:gd fmla="val 50000" name="adj1"/>
              <a:gd fmla="val 81346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f5423ce18_0_138"/>
          <p:cNvSpPr txBox="1"/>
          <p:nvPr/>
        </p:nvSpPr>
        <p:spPr>
          <a:xfrm>
            <a:off x="1002895" y="1105688"/>
            <a:ext cx="71382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下載</a:t>
            </a:r>
            <a:r>
              <a:rPr lang="zh-TW" sz="2000"/>
              <a:t>並安裝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FontForge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bf5423ce18_0_13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38" name="Google Shape;338;g3bf5423ce18_0_13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9" name="Google Shape;339;g3bf5423ce18_0_13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40" name="Google Shape;340;g3bf5423ce18_0_138"/>
          <p:cNvPicPr preferRelativeResize="0"/>
          <p:nvPr/>
        </p:nvPicPr>
        <p:blipFill rotWithShape="1">
          <a:blip r:embed="rId4">
            <a:alphaModFix/>
          </a:blip>
          <a:srcRect b="3363" l="0" r="0" t="5012"/>
          <a:stretch/>
        </p:blipFill>
        <p:spPr>
          <a:xfrm>
            <a:off x="1851575" y="1568150"/>
            <a:ext cx="5440850" cy="295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bf5423ce18_0_138"/>
          <p:cNvSpPr/>
          <p:nvPr/>
        </p:nvSpPr>
        <p:spPr>
          <a:xfrm>
            <a:off x="5778250" y="4218173"/>
            <a:ext cx="1089300" cy="300300"/>
          </a:xfrm>
          <a:prstGeom prst="leftArrow">
            <a:avLst>
              <a:gd fmla="val 50000" name="adj1"/>
              <a:gd fmla="val 81346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f5423ce18_0_150"/>
          <p:cNvSpPr txBox="1"/>
          <p:nvPr/>
        </p:nvSpPr>
        <p:spPr>
          <a:xfrm>
            <a:off x="1002895" y="1105688"/>
            <a:ext cx="71382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下載</a:t>
            </a:r>
            <a:r>
              <a:rPr lang="zh-TW" sz="2000"/>
              <a:t>並安裝 </a:t>
            </a:r>
            <a:r>
              <a:rPr lang="zh-TW" sz="2000" u="sng">
                <a:solidFill>
                  <a:schemeClr val="hlink"/>
                </a:solidFill>
                <a:hlinkClick r:id="rId3"/>
              </a:rPr>
              <a:t>FontForge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bf5423ce18_0_15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48" name="Google Shape;348;g3bf5423ce18_0_15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9" name="Google Shape;349;g3bf5423ce18_0_15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50" name="Google Shape;350;g3bf5423ce18_0_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813" y="1543275"/>
            <a:ext cx="5514373" cy="30426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bf5423ce18_0_150"/>
          <p:cNvSpPr/>
          <p:nvPr/>
        </p:nvSpPr>
        <p:spPr>
          <a:xfrm>
            <a:off x="4390675" y="3477348"/>
            <a:ext cx="1089300" cy="300300"/>
          </a:xfrm>
          <a:prstGeom prst="leftArrow">
            <a:avLst>
              <a:gd fmla="val 50000" name="adj1"/>
              <a:gd fmla="val 81346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490fe80e5_0_6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57" name="Google Shape;357;g33490fe80e5_0_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8" name="Google Shape;358;g33490fe80e5_0_6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9" name="Google Shape;359;g33490fe80e5_0_64"/>
          <p:cNvSpPr txBox="1"/>
          <p:nvPr/>
        </p:nvSpPr>
        <p:spPr>
          <a:xfrm>
            <a:off x="843600" y="1080875"/>
            <a:ext cx="74568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開啟FontForge 後，會出現此畫面，</a:t>
            </a:r>
            <a:r>
              <a:rPr lang="zh-TW" sz="1800"/>
              <a:t>請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找到 fontpico.svg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3490fe80e5_0_64"/>
          <p:cNvSpPr txBox="1"/>
          <p:nvPr/>
        </p:nvSpPr>
        <p:spPr>
          <a:xfrm>
            <a:off x="2433450" y="4155185"/>
            <a:ext cx="42771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g33490fe80e5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325" y="1673910"/>
            <a:ext cx="2858000" cy="281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3490fe80e5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9425" y="1726450"/>
            <a:ext cx="2796100" cy="27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68" name="Google Shape;368;p4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9" name="Google Shape;369;p4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0" name="Google Shape;370;p45"/>
          <p:cNvSpPr txBox="1"/>
          <p:nvPr/>
        </p:nvSpPr>
        <p:spPr>
          <a:xfrm>
            <a:off x="715025" y="1174350"/>
            <a:ext cx="7857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進入 FontForge 以後可以看到字不會有黑一塊一塊的，就代表成功了！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45"/>
          <p:cNvPicPr preferRelativeResize="0"/>
          <p:nvPr/>
        </p:nvPicPr>
        <p:blipFill rotWithShape="1">
          <a:blip r:embed="rId3">
            <a:alphaModFix/>
          </a:blip>
          <a:srcRect b="6528" l="0" r="0" t="6537"/>
          <a:stretch/>
        </p:blipFill>
        <p:spPr>
          <a:xfrm>
            <a:off x="1555277" y="1661722"/>
            <a:ext cx="6033445" cy="28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77" name="Google Shape;377;p4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9" name="Google Shape;379;p46"/>
          <p:cNvSpPr txBox="1"/>
          <p:nvPr/>
        </p:nvSpPr>
        <p:spPr>
          <a:xfrm>
            <a:off x="1007694" y="1050438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點選 Element</a:t>
            </a:r>
            <a:r>
              <a:rPr lang="zh-TW" sz="1800"/>
              <a:t> →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Font </a:t>
            </a:r>
            <a:r>
              <a:rPr lang="zh-TW" sz="1800"/>
              <a:t>I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850" y="1499227"/>
            <a:ext cx="3332274" cy="31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4650" y="618707"/>
            <a:ext cx="2045725" cy="402664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6"/>
          <p:cNvSpPr/>
          <p:nvPr/>
        </p:nvSpPr>
        <p:spPr>
          <a:xfrm>
            <a:off x="1558950" y="1700325"/>
            <a:ext cx="3915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5174650" y="618700"/>
            <a:ext cx="21009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dae700930_1_5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89" name="Google Shape;389;g33dae700930_1_5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0" name="Google Shape;390;g33dae700930_1_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1" name="Google Shape;391;g33dae700930_1_51"/>
          <p:cNvSpPr txBox="1"/>
          <p:nvPr/>
        </p:nvSpPr>
        <p:spPr>
          <a:xfrm>
            <a:off x="931700" y="1207937"/>
            <a:ext cx="71286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設定字體包名稱，請按照作業需求命名，</a:t>
            </a:r>
            <a:r>
              <a:rPr b="0" i="0" lang="zh-TW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改完之後不要關閉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33dae700930_1_51"/>
          <p:cNvPicPr preferRelativeResize="0"/>
          <p:nvPr/>
        </p:nvPicPr>
        <p:blipFill rotWithShape="1">
          <a:blip r:embed="rId3">
            <a:alphaModFix/>
          </a:blip>
          <a:srcRect b="61258" l="0" r="0" t="0"/>
          <a:stretch/>
        </p:blipFill>
        <p:spPr>
          <a:xfrm>
            <a:off x="1133575" y="2000963"/>
            <a:ext cx="6876849" cy="199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398" name="Google Shape;398;p4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9" name="Google Shape;399;p4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0" name="Google Shape;400;p47"/>
          <p:cNvSpPr txBox="1"/>
          <p:nvPr>
            <p:ph type="ctrTitle"/>
          </p:nvPr>
        </p:nvSpPr>
        <p:spPr>
          <a:xfrm>
            <a:off x="715019" y="12016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SVG轉換成TTF</a:t>
            </a:r>
            <a:endParaRPr/>
          </a:p>
        </p:txBody>
      </p:sp>
      <p:sp>
        <p:nvSpPr>
          <p:cNvPr id="401" name="Google Shape;401;p4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02" name="Google Shape;40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852950" y="1777500"/>
            <a:ext cx="1935000" cy="21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7"/>
          <p:cNvSpPr txBox="1"/>
          <p:nvPr/>
        </p:nvSpPr>
        <p:spPr>
          <a:xfrm>
            <a:off x="3888025" y="1370450"/>
            <a:ext cx="1784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rgbClr val="7B67E6"/>
                </a:solidFill>
                <a:latin typeface="Calibri"/>
                <a:ea typeface="Calibri"/>
                <a:cs typeface="Calibri"/>
                <a:sym typeface="Calibri"/>
              </a:rPr>
              <a:t>SVG</a:t>
            </a:r>
            <a:endParaRPr b="1" sz="3000">
              <a:solidFill>
                <a:srgbClr val="7B67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3928100" y="3723775"/>
            <a:ext cx="1784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rgbClr val="7B67E6"/>
                </a:solidFill>
                <a:latin typeface="Calibri"/>
                <a:ea typeface="Calibri"/>
                <a:cs typeface="Calibri"/>
                <a:sym typeface="Calibri"/>
              </a:rPr>
              <a:t>TTF</a:t>
            </a:r>
            <a:endParaRPr b="1" sz="3000">
              <a:solidFill>
                <a:srgbClr val="7B67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410" name="Google Shape;410;p4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1" name="Google Shape;411;p4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2" name="Google Shape;412;p48"/>
          <p:cNvSpPr txBox="1"/>
          <p:nvPr/>
        </p:nvSpPr>
        <p:spPr>
          <a:xfrm>
            <a:off x="1007700" y="1187574"/>
            <a:ext cx="7128600" cy="28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會有在 word 無法使用字體的問題，原因是 Microsoft 是使用代碼頁來識別字體的語言，因此要再做設定。（繁體中文代碼為 950）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zh-TW" sz="18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備註:頁碼是字元編碼的別名，也稱代碼頁，是特定語言的字元集的一張表。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418" name="Google Shape;418;p4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9" name="Google Shape;419;p4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1007700" y="1174012"/>
            <a:ext cx="7128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點選左邊那排的 OS/2 </a:t>
            </a:r>
            <a:r>
              <a:rPr lang="zh-TW" sz="1800"/>
              <a:t>→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Charsets </a:t>
            </a:r>
            <a:r>
              <a:rPr lang="zh-TW" sz="1800">
                <a:solidFill>
                  <a:schemeClr val="dk1"/>
                </a:solidFill>
              </a:rPr>
              <a:t>→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 Code Pages </a:t>
            </a:r>
            <a:r>
              <a:rPr lang="zh-TW" sz="1800">
                <a:solidFill>
                  <a:schemeClr val="dk1"/>
                </a:solidFill>
              </a:rPr>
              <a:t>→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取消 Default 的打勾</a:t>
            </a:r>
            <a:r>
              <a:rPr lang="zh-TW" sz="1800"/>
              <a:t> </a:t>
            </a:r>
            <a:r>
              <a:rPr lang="zh-TW" sz="1800">
                <a:solidFill>
                  <a:schemeClr val="dk1"/>
                </a:solidFill>
              </a:rPr>
              <a:t>→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選取 950 </a:t>
            </a:r>
            <a:r>
              <a:rPr lang="zh-TW" sz="1800">
                <a:solidFill>
                  <a:schemeClr val="dk1"/>
                </a:solidFill>
              </a:rPr>
              <a:t>→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ok！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Arial"/>
              <a:buChar char="●"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9"/>
          <p:cNvPicPr preferRelativeResize="0"/>
          <p:nvPr/>
        </p:nvPicPr>
        <p:blipFill rotWithShape="1">
          <a:blip r:embed="rId3">
            <a:alphaModFix/>
          </a:blip>
          <a:srcRect b="61258" l="0" r="0" t="0"/>
          <a:stretch/>
        </p:blipFill>
        <p:spPr>
          <a:xfrm>
            <a:off x="1133575" y="2000963"/>
            <a:ext cx="6876849" cy="199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9"/>
          <p:cNvSpPr/>
          <p:nvPr/>
        </p:nvSpPr>
        <p:spPr>
          <a:xfrm>
            <a:off x="1133575" y="3084500"/>
            <a:ext cx="6045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9"/>
          <p:cNvSpPr/>
          <p:nvPr/>
        </p:nvSpPr>
        <p:spPr>
          <a:xfrm rot="-10798306">
            <a:off x="415570" y="3022400"/>
            <a:ext cx="608700" cy="300300"/>
          </a:xfrm>
          <a:prstGeom prst="leftArrow">
            <a:avLst>
              <a:gd fmla="val 50000" name="adj1"/>
              <a:gd fmla="val 5874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3dae700930_1_66"/>
          <p:cNvSpPr txBox="1"/>
          <p:nvPr/>
        </p:nvSpPr>
        <p:spPr>
          <a:xfrm>
            <a:off x="1007694" y="1102675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點選左邊那排的 OS/2 → Charsets → MS Code Pages → 取消 Default 的打勾 → 選取 950 → ok！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g33dae700930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125" y="2025199"/>
            <a:ext cx="2975474" cy="244142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3dae700930_1_6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431" name="Google Shape;431;g33dae700930_1_6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2" name="Google Shape;432;g33dae700930_1_6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3" name="Google Shape;433;g33dae700930_1_66"/>
          <p:cNvSpPr/>
          <p:nvPr/>
        </p:nvSpPr>
        <p:spPr>
          <a:xfrm>
            <a:off x="2436681" y="2077009"/>
            <a:ext cx="4236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g33dae700930_1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5425" y="1933199"/>
            <a:ext cx="3263300" cy="26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3dae700930_1_66"/>
          <p:cNvSpPr/>
          <p:nvPr/>
        </p:nvSpPr>
        <p:spPr>
          <a:xfrm>
            <a:off x="4845425" y="3586124"/>
            <a:ext cx="9825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3dae700930_1_66"/>
          <p:cNvSpPr/>
          <p:nvPr/>
        </p:nvSpPr>
        <p:spPr>
          <a:xfrm>
            <a:off x="5769325" y="3856849"/>
            <a:ext cx="2111100" cy="81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3dae700930_1_66"/>
          <p:cNvSpPr txBox="1"/>
          <p:nvPr/>
        </p:nvSpPr>
        <p:spPr>
          <a:xfrm>
            <a:off x="6547425" y="1594981"/>
            <a:ext cx="1521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都修改完的結果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4" name="Google Shape;444;p5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5" name="Google Shape;445;p50"/>
          <p:cNvSpPr txBox="1"/>
          <p:nvPr/>
        </p:nvSpPr>
        <p:spPr>
          <a:xfrm>
            <a:off x="419450" y="1307850"/>
            <a:ext cx="406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回到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FontForge，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點選 File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Generate Fonts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路徑選擇final_font (存在底下)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</a:t>
            </a:r>
            <a:r>
              <a:rPr lang="zh-TW" sz="1800">
                <a:solidFill>
                  <a:schemeClr val="dk1"/>
                </a:solidFill>
              </a:rPr>
              <a:t>檢查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輸出檔名</a:t>
            </a:r>
            <a:endParaRPr b="0" i="0" sz="1800" u="none" cap="none" strike="noStrike">
              <a:solidFill>
                <a:srgbClr val="EB25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確認是Truetype， 輸出成 ttf 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（跳出訊息都選 yes / generate）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ttf 字體安裝包完成！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5150" y="1122600"/>
            <a:ext cx="2545350" cy="312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0"/>
          <p:cNvSpPr/>
          <p:nvPr/>
        </p:nvSpPr>
        <p:spPr>
          <a:xfrm>
            <a:off x="5482350" y="2922350"/>
            <a:ext cx="9825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0"/>
          <p:cNvSpPr/>
          <p:nvPr/>
        </p:nvSpPr>
        <p:spPr>
          <a:xfrm>
            <a:off x="5434500" y="4018100"/>
            <a:ext cx="4593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打包</a:t>
            </a:r>
            <a:endParaRPr/>
          </a:p>
        </p:txBody>
      </p:sp>
      <p:sp>
        <p:nvSpPr>
          <p:cNvPr id="454" name="Google Shape;454;p5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5" name="Google Shape;455;p5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6" name="Google Shape;456;p51"/>
          <p:cNvSpPr txBox="1"/>
          <p:nvPr/>
        </p:nvSpPr>
        <p:spPr>
          <a:xfrm>
            <a:off x="419450" y="1307850"/>
            <a:ext cx="406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回到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FontForge，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點選 File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Generate Fonts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路徑選擇final_font (存在底下)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 </a:t>
            </a:r>
            <a:r>
              <a:rPr lang="zh-TW" sz="1800">
                <a:solidFill>
                  <a:schemeClr val="dk1"/>
                </a:solidFill>
              </a:rPr>
              <a:t>檢查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輸出檔名</a:t>
            </a:r>
            <a:endParaRPr b="0" i="0" sz="1800" u="none" cap="none" strike="noStrike">
              <a:solidFill>
                <a:srgbClr val="EB25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—&gt;</a:t>
            </a:r>
            <a:r>
              <a:rPr lang="zh-TW" sz="1800"/>
              <a:t> 確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認是Web Open Font(ttf)，輸出成woff2檔(跳出訊息都選yes/generate)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woff2</a:t>
            </a:r>
            <a:r>
              <a:rPr lang="zh-TW" sz="1800">
                <a:solidFill>
                  <a:schemeClr val="dk1"/>
                </a:solidFill>
              </a:rPr>
              <a:t>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字體安裝包完成！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025" y="1119250"/>
            <a:ext cx="2569675" cy="315092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1"/>
          <p:cNvSpPr/>
          <p:nvPr/>
        </p:nvSpPr>
        <p:spPr>
          <a:xfrm>
            <a:off x="5372250" y="2938075"/>
            <a:ext cx="10689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1"/>
          <p:cNvSpPr/>
          <p:nvPr/>
        </p:nvSpPr>
        <p:spPr>
          <a:xfrm>
            <a:off x="5372250" y="4049950"/>
            <a:ext cx="4587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465" name="Google Shape;465;p5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6" name="Google Shape;466;p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467" name="Google Shape;467;p52"/>
          <p:cNvGrpSpPr/>
          <p:nvPr/>
        </p:nvGrpSpPr>
        <p:grpSpPr>
          <a:xfrm>
            <a:off x="2567238" y="1440137"/>
            <a:ext cx="4506424" cy="3215384"/>
            <a:chOff x="7117538" y="1821312"/>
            <a:chExt cx="1521207" cy="1348735"/>
          </a:xfrm>
        </p:grpSpPr>
        <p:pic>
          <p:nvPicPr>
            <p:cNvPr id="468" name="Google Shape;468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7538" y="1821312"/>
              <a:ext cx="1521207" cy="1348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52"/>
            <p:cNvPicPr preferRelativeResize="0"/>
            <p:nvPr/>
          </p:nvPicPr>
          <p:blipFill rotWithShape="1">
            <a:blip r:embed="rId4">
              <a:alphaModFix/>
            </a:blip>
            <a:srcRect b="728" l="7482" r="34864" t="728"/>
            <a:stretch/>
          </p:blipFill>
          <p:spPr>
            <a:xfrm>
              <a:off x="7328746" y="1959523"/>
              <a:ext cx="1097896" cy="8571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52"/>
          <p:cNvSpPr txBox="1"/>
          <p:nvPr>
            <p:ph type="ctrTitle"/>
          </p:nvPr>
        </p:nvSpPr>
        <p:spPr>
          <a:xfrm>
            <a:off x="715025" y="1099050"/>
            <a:ext cx="65604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字體安裝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476" name="Google Shape;476;p5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8" name="Google Shape;478;p53"/>
          <p:cNvSpPr txBox="1"/>
          <p:nvPr/>
        </p:nvSpPr>
        <p:spPr>
          <a:xfrm>
            <a:off x="1007700" y="1199438"/>
            <a:ext cx="7128600" cy="2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在資料夾內點選剛剛生成的ttf檔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53"/>
          <p:cNvPicPr preferRelativeResize="0"/>
          <p:nvPr/>
        </p:nvPicPr>
        <p:blipFill rotWithShape="1">
          <a:blip r:embed="rId3">
            <a:alphaModFix/>
          </a:blip>
          <a:srcRect b="25768" l="13606" r="0" t="6483"/>
          <a:stretch/>
        </p:blipFill>
        <p:spPr>
          <a:xfrm>
            <a:off x="1948788" y="1732313"/>
            <a:ext cx="5246426" cy="2439676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3"/>
          <p:cNvSpPr/>
          <p:nvPr/>
        </p:nvSpPr>
        <p:spPr>
          <a:xfrm>
            <a:off x="2051200" y="2801226"/>
            <a:ext cx="32736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"/>
          <p:cNvSpPr txBox="1"/>
          <p:nvPr/>
        </p:nvSpPr>
        <p:spPr>
          <a:xfrm>
            <a:off x="1007688" y="1223850"/>
            <a:ext cx="71286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zh-TW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點選安裝， 打開word並選取字體即可使用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924" y="1929450"/>
            <a:ext cx="4292168" cy="248560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488" name="Google Shape;488;p5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9" name="Google Shape;489;p5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0" name="Google Shape;490;p54"/>
          <p:cNvSpPr/>
          <p:nvPr/>
        </p:nvSpPr>
        <p:spPr>
          <a:xfrm>
            <a:off x="2776638" y="2059175"/>
            <a:ext cx="353400" cy="135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496" name="Google Shape;496;p5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5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98" name="Google Shape;49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057" y="1636737"/>
            <a:ext cx="4506425" cy="3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5"/>
          <p:cNvSpPr txBox="1"/>
          <p:nvPr>
            <p:ph type="ctrTitle"/>
          </p:nvPr>
        </p:nvSpPr>
        <p:spPr>
          <a:xfrm>
            <a:off x="715025" y="1099050"/>
            <a:ext cx="65604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WORD實際應用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55"/>
          <p:cNvPicPr preferRelativeResize="0"/>
          <p:nvPr/>
        </p:nvPicPr>
        <p:blipFill rotWithShape="1">
          <a:blip r:embed="rId4">
            <a:alphaModFix/>
          </a:blip>
          <a:srcRect b="3667" l="17541" r="19807" t="26297"/>
          <a:stretch/>
        </p:blipFill>
        <p:spPr>
          <a:xfrm>
            <a:off x="3108075" y="1936400"/>
            <a:ext cx="3308227" cy="199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506" name="Google Shape;506;p5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8" name="Google Shape;508;p56"/>
          <p:cNvSpPr txBox="1"/>
          <p:nvPr/>
        </p:nvSpPr>
        <p:spPr>
          <a:xfrm>
            <a:off x="1007700" y="1099049"/>
            <a:ext cx="71286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 點選上面的字體樣式，輸入</a:t>
            </a:r>
            <a:r>
              <a:rPr lang="zh-TW" sz="1800"/>
              <a:t>字體包名稱，例</a:t>
            </a:r>
            <a:r>
              <a:rPr lang="zh-TW" sz="1800">
                <a:solidFill>
                  <a:schemeClr val="dk1"/>
                </a:solidFill>
              </a:rPr>
              <a:t>：</a:t>
            </a:r>
            <a:r>
              <a:rPr b="0" i="0" lang="zh-TW" sz="1800" u="none" cap="none" strike="noStrike">
                <a:solidFill>
                  <a:srgbClr val="EB2532"/>
                </a:solidFill>
                <a:latin typeface="Arial"/>
                <a:ea typeface="Arial"/>
                <a:cs typeface="Arial"/>
                <a:sym typeface="Arial"/>
              </a:rPr>
              <a:t>學號</a:t>
            </a:r>
            <a:endParaRPr b="0" i="0" sz="1800" u="none" cap="none" strike="noStrike">
              <a:solidFill>
                <a:srgbClr val="EB25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207" y="1656188"/>
            <a:ext cx="5602492" cy="23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6"/>
          <p:cNvSpPr/>
          <p:nvPr/>
        </p:nvSpPr>
        <p:spPr>
          <a:xfrm>
            <a:off x="3268809" y="2706225"/>
            <a:ext cx="1509600" cy="386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"/>
          <p:cNvSpPr txBox="1"/>
          <p:nvPr/>
        </p:nvSpPr>
        <p:spPr>
          <a:xfrm>
            <a:off x="1007700" y="1109500"/>
            <a:ext cx="71286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畫面中所撰打的字體就是應用了安裝的字體樣式呈現結果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625" y="1679300"/>
            <a:ext cx="5866772" cy="23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字體安裝</a:t>
            </a:r>
            <a:endParaRPr/>
          </a:p>
        </p:txBody>
      </p:sp>
      <p:sp>
        <p:nvSpPr>
          <p:cNvPr id="518" name="Google Shape;518;p5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9" name="Google Shape;519;p5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0" name="Google Shape;520;p57"/>
          <p:cNvSpPr/>
          <p:nvPr/>
        </p:nvSpPr>
        <p:spPr>
          <a:xfrm>
            <a:off x="3005250" y="2962620"/>
            <a:ext cx="3133500" cy="6213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526" name="Google Shape;526;p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27" name="Google Shape;527;p64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528" name="Google Shape;528;p6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d3b1b99e2_0_68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535" name="Google Shape;535;g3bd3b1b99e2_0_68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536" name="Google Shape;536;g3bd3b1b99e2_0_68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7" name="Google Shape;537;g3bd3b1b99e2_0_68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16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sz="1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e2ec0ddbb_1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3" name="Google Shape;543;g3de2ec0ddbb_10_0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(補充)使用Fontforge將英數從全形改成半形</a:t>
            </a:r>
            <a:endParaRPr/>
          </a:p>
        </p:txBody>
      </p:sp>
      <p:sp>
        <p:nvSpPr>
          <p:cNvPr id="544" name="Google Shape;544;g3de2ec0ddbb_10_0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07</a:t>
            </a:r>
            <a:endParaRPr/>
          </a:p>
        </p:txBody>
      </p:sp>
      <p:sp>
        <p:nvSpPr>
          <p:cNvPr id="545" name="Google Shape;545;g3de2ec0ddbb_10_0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fontforge 使用</a:t>
            </a:r>
            <a:endParaRPr/>
          </a:p>
        </p:txBody>
      </p:sp>
      <p:sp>
        <p:nvSpPr>
          <p:cNvPr id="552" name="Google Shape;552;p6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553" name="Google Shape;553;p67"/>
          <p:cNvSpPr txBox="1"/>
          <p:nvPr>
            <p:ph idx="2" type="body"/>
          </p:nvPr>
        </p:nvSpPr>
        <p:spPr>
          <a:xfrm>
            <a:off x="715575" y="1213950"/>
            <a:ext cx="28617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選擇要調整的字體</a:t>
            </a:r>
            <a:endParaRPr/>
          </a:p>
        </p:txBody>
      </p:sp>
      <p:sp>
        <p:nvSpPr>
          <p:cNvPr id="554" name="Google Shape;554;p6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55" name="Google Shape;55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944" y="778144"/>
            <a:ext cx="3366168" cy="348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6" name="Google Shape;556;p67"/>
          <p:cNvSpPr/>
          <p:nvPr/>
        </p:nvSpPr>
        <p:spPr>
          <a:xfrm>
            <a:off x="4548887" y="3925548"/>
            <a:ext cx="585600" cy="34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fontforge 使用</a:t>
            </a:r>
            <a:endParaRPr/>
          </a:p>
        </p:txBody>
      </p:sp>
      <p:sp>
        <p:nvSpPr>
          <p:cNvPr id="562" name="Google Shape;562;p6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3" name="Google Shape;563;p6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4" name="Google Shape;564;p68"/>
          <p:cNvSpPr txBox="1"/>
          <p:nvPr>
            <p:ph idx="2" type="body"/>
          </p:nvPr>
        </p:nvSpPr>
        <p:spPr>
          <a:xfrm>
            <a:off x="715575" y="1213950"/>
            <a:ext cx="28359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快速將</a:t>
            </a:r>
            <a:r>
              <a:rPr lang="zh-TW" u="sng">
                <a:solidFill>
                  <a:srgbClr val="FF0000"/>
                </a:solidFill>
              </a:rPr>
              <a:t>全形</a:t>
            </a:r>
            <a:r>
              <a:rPr lang="zh-TW"/>
              <a:t>改</a:t>
            </a:r>
            <a:r>
              <a:rPr lang="zh-TW" u="sng">
                <a:solidFill>
                  <a:srgbClr val="FF0000"/>
                </a:solidFill>
              </a:rPr>
              <a:t>半形</a:t>
            </a:r>
            <a:r>
              <a:rPr lang="zh-TW"/>
              <a:t>字寬</a:t>
            </a:r>
            <a:endParaRPr/>
          </a:p>
        </p:txBody>
      </p:sp>
      <p:sp>
        <p:nvSpPr>
          <p:cNvPr id="565" name="Google Shape;565;p68"/>
          <p:cNvSpPr txBox="1"/>
          <p:nvPr/>
        </p:nvSpPr>
        <p:spPr>
          <a:xfrm>
            <a:off x="868875" y="1749375"/>
            <a:ext cx="46662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sng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半形字元</a:t>
            </a:r>
            <a:r>
              <a:rPr b="1" i="0" lang="zh-TW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ex：</a:t>
            </a:r>
            <a:endParaRPr b="1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	0123456789</a:t>
            </a:r>
            <a:endParaRPr b="1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	abcdefg…xyz</a:t>
            </a:r>
            <a:endParaRPr b="1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	 	ABCDEFG…XYZ</a:t>
            </a:r>
            <a:endParaRPr b="1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	 	!”#$%&amp;’()*+,-./:;&lt;=&gt;?@[\]^_`{|}~</a:t>
            </a:r>
            <a:endParaRPr b="1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8"/>
          <p:cNvSpPr txBox="1"/>
          <p:nvPr/>
        </p:nvSpPr>
        <p:spPr>
          <a:xfrm>
            <a:off x="988856" y="2222175"/>
            <a:ext cx="526200" cy="354000"/>
          </a:xfrm>
          <a:prstGeom prst="rect">
            <a:avLst/>
          </a:prstGeom>
          <a:solidFill>
            <a:srgbClr val="D9D2E9"/>
          </a:solidFill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數字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8"/>
          <p:cNvSpPr txBox="1"/>
          <p:nvPr/>
        </p:nvSpPr>
        <p:spPr>
          <a:xfrm>
            <a:off x="988856" y="2702138"/>
            <a:ext cx="898800" cy="354000"/>
          </a:xfrm>
          <a:prstGeom prst="rect">
            <a:avLst/>
          </a:prstGeom>
          <a:solidFill>
            <a:srgbClr val="D9D2E9"/>
          </a:solidFill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小寫英文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8"/>
          <p:cNvSpPr txBox="1"/>
          <p:nvPr/>
        </p:nvSpPr>
        <p:spPr>
          <a:xfrm>
            <a:off x="988856" y="3182100"/>
            <a:ext cx="898800" cy="354000"/>
          </a:xfrm>
          <a:prstGeom prst="rect">
            <a:avLst/>
          </a:prstGeom>
          <a:solidFill>
            <a:srgbClr val="D9D2E9"/>
          </a:solidFill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大寫英文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8"/>
          <p:cNvSpPr txBox="1"/>
          <p:nvPr/>
        </p:nvSpPr>
        <p:spPr>
          <a:xfrm>
            <a:off x="988856" y="3674634"/>
            <a:ext cx="898800" cy="354000"/>
          </a:xfrm>
          <a:prstGeom prst="rect">
            <a:avLst/>
          </a:prstGeom>
          <a:solidFill>
            <a:srgbClr val="D9D2E9"/>
          </a:solidFill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標點符號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fontforge 使用</a:t>
            </a:r>
            <a:endParaRPr/>
          </a:p>
        </p:txBody>
      </p:sp>
      <p:sp>
        <p:nvSpPr>
          <p:cNvPr id="575" name="Google Shape;575;p6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6" name="Google Shape;576;p6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77" name="Google Shape;57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328" y="1701750"/>
            <a:ext cx="4695640" cy="26285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8" name="Google Shape;578;p69"/>
          <p:cNvSpPr txBox="1"/>
          <p:nvPr/>
        </p:nvSpPr>
        <p:spPr>
          <a:xfrm>
            <a:off x="1941431" y="2048429"/>
            <a:ext cx="389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選取要調整的字元</a:t>
            </a:r>
            <a:endParaRPr b="1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9"/>
          <p:cNvSpPr/>
          <p:nvPr/>
        </p:nvSpPr>
        <p:spPr>
          <a:xfrm>
            <a:off x="4056705" y="1859345"/>
            <a:ext cx="305700" cy="15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9"/>
          <p:cNvSpPr/>
          <p:nvPr/>
        </p:nvSpPr>
        <p:spPr>
          <a:xfrm>
            <a:off x="4056705" y="3153234"/>
            <a:ext cx="593100" cy="15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9"/>
          <p:cNvSpPr txBox="1"/>
          <p:nvPr>
            <p:ph idx="2" type="body"/>
          </p:nvPr>
        </p:nvSpPr>
        <p:spPr>
          <a:xfrm>
            <a:off x="715575" y="1213950"/>
            <a:ext cx="28359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快速將</a:t>
            </a:r>
            <a:r>
              <a:rPr lang="zh-TW" u="sng">
                <a:solidFill>
                  <a:srgbClr val="FF0000"/>
                </a:solidFill>
              </a:rPr>
              <a:t>全形</a:t>
            </a:r>
            <a:r>
              <a:rPr lang="zh-TW"/>
              <a:t>改</a:t>
            </a:r>
            <a:r>
              <a:rPr lang="zh-TW" u="sng">
                <a:solidFill>
                  <a:srgbClr val="FF0000"/>
                </a:solidFill>
              </a:rPr>
              <a:t>半形</a:t>
            </a:r>
            <a:r>
              <a:rPr lang="zh-TW"/>
              <a:t>字寬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fontforge 使用</a:t>
            </a:r>
            <a:endParaRPr/>
          </a:p>
        </p:txBody>
      </p:sp>
      <p:sp>
        <p:nvSpPr>
          <p:cNvPr id="587" name="Google Shape;587;p7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8" name="Google Shape;588;p7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9" name="Google Shape;589;p70"/>
          <p:cNvSpPr txBox="1"/>
          <p:nvPr/>
        </p:nvSpPr>
        <p:spPr>
          <a:xfrm>
            <a:off x="2987288" y="2017679"/>
            <a:ext cx="3894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zh-TW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自動調整</a:t>
            </a:r>
            <a:endParaRPr b="1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70"/>
          <p:cNvSpPr txBox="1"/>
          <p:nvPr>
            <p:ph idx="2" type="body"/>
          </p:nvPr>
        </p:nvSpPr>
        <p:spPr>
          <a:xfrm>
            <a:off x="715575" y="1213950"/>
            <a:ext cx="28359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快速將</a:t>
            </a:r>
            <a:r>
              <a:rPr lang="zh-TW" u="sng">
                <a:solidFill>
                  <a:srgbClr val="FF0000"/>
                </a:solidFill>
              </a:rPr>
              <a:t>全形</a:t>
            </a:r>
            <a:r>
              <a:rPr lang="zh-TW"/>
              <a:t>改</a:t>
            </a:r>
            <a:r>
              <a:rPr lang="zh-TW" u="sng">
                <a:solidFill>
                  <a:srgbClr val="FF0000"/>
                </a:solidFill>
              </a:rPr>
              <a:t>半形</a:t>
            </a:r>
            <a:r>
              <a:rPr lang="zh-TW"/>
              <a:t>字寬</a:t>
            </a:r>
            <a:endParaRPr/>
          </a:p>
        </p:txBody>
      </p:sp>
      <p:pic>
        <p:nvPicPr>
          <p:cNvPr id="591" name="Google Shape;59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9603" y="2012110"/>
            <a:ext cx="2504794" cy="161623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2" name="Google Shape;592;p70"/>
          <p:cNvSpPr/>
          <p:nvPr/>
        </p:nvSpPr>
        <p:spPr>
          <a:xfrm>
            <a:off x="3675356" y="3345675"/>
            <a:ext cx="423600" cy="233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fontforge 使用</a:t>
            </a:r>
            <a:endParaRPr/>
          </a:p>
        </p:txBody>
      </p:sp>
      <p:sp>
        <p:nvSpPr>
          <p:cNvPr id="599" name="Google Shape;599;p7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600" name="Google Shape;600;p71"/>
          <p:cNvSpPr txBox="1"/>
          <p:nvPr>
            <p:ph idx="2" type="body"/>
          </p:nvPr>
        </p:nvSpPr>
        <p:spPr>
          <a:xfrm>
            <a:off x="715575" y="1213950"/>
            <a:ext cx="2190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lang="zh-TW"/>
              <a:t>匯出字型</a:t>
            </a:r>
            <a:endParaRPr/>
          </a:p>
        </p:txBody>
      </p:sp>
      <p:sp>
        <p:nvSpPr>
          <p:cNvPr id="601" name="Google Shape;601;p7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02" name="Google Shape;60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2541" y="1133128"/>
            <a:ext cx="2763163" cy="32283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3" name="Google Shape;603;p71"/>
          <p:cNvSpPr txBox="1"/>
          <p:nvPr/>
        </p:nvSpPr>
        <p:spPr>
          <a:xfrm>
            <a:off x="2480456" y="2574188"/>
            <a:ext cx="8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檔名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71"/>
          <p:cNvSpPr txBox="1"/>
          <p:nvPr/>
        </p:nvSpPr>
        <p:spPr>
          <a:xfrm>
            <a:off x="1742531" y="2825381"/>
            <a:ext cx="156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選擇 TrueType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1"/>
          <p:cNvSpPr txBox="1"/>
          <p:nvPr/>
        </p:nvSpPr>
        <p:spPr>
          <a:xfrm>
            <a:off x="2143406" y="3409069"/>
            <a:ext cx="116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取消勾選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1"/>
          <p:cNvSpPr txBox="1"/>
          <p:nvPr/>
        </p:nvSpPr>
        <p:spPr>
          <a:xfrm>
            <a:off x="2397694" y="4032300"/>
            <a:ext cx="97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匯出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1"/>
          <p:cNvSpPr txBox="1"/>
          <p:nvPr/>
        </p:nvSpPr>
        <p:spPr>
          <a:xfrm>
            <a:off x="4443544" y="3409069"/>
            <a:ext cx="2262000" cy="4155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Validte Befor Saving 會延長輸出時間，有時也會造成輸出錯誤，沒必要勾選。</a:t>
            </a:r>
            <a:endParaRPr b="1" i="0" sz="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1"/>
          <p:cNvSpPr/>
          <p:nvPr/>
        </p:nvSpPr>
        <p:spPr>
          <a:xfrm rot="738807">
            <a:off x="4391554" y="3269984"/>
            <a:ext cx="225078" cy="234612"/>
          </a:xfrm>
          <a:prstGeom prst="star6">
            <a:avLst>
              <a:gd fmla="val 28868" name="adj"/>
              <a:gd fmla="val 115470" name="hf"/>
            </a:avLst>
          </a:prstGeom>
          <a:solidFill>
            <a:srgbClr val="F1C232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71"/>
          <p:cNvSpPr txBox="1"/>
          <p:nvPr/>
        </p:nvSpPr>
        <p:spPr>
          <a:xfrm>
            <a:off x="2237794" y="1764225"/>
            <a:ext cx="97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zh-TW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設定路徑</a:t>
            </a:r>
            <a:endParaRPr b="1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章節頁_章節2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章節頁_章節1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章節頁_章節4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